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1.xml" ContentType="application/vnd.openxmlformats-officedocument.drawingml.chart+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5"/>
  </p:sldMasterIdLst>
  <p:sldIdLst>
    <p:sldId id="256" r:id="rId6"/>
    <p:sldId id="258" r:id="rId7"/>
    <p:sldId id="280" r:id="rId8"/>
    <p:sldId id="259" r:id="rId9"/>
    <p:sldId id="260" r:id="rId10"/>
    <p:sldId id="261" r:id="rId11"/>
    <p:sldId id="281" r:id="rId12"/>
    <p:sldId id="282" r:id="rId13"/>
    <p:sldId id="312" r:id="rId14"/>
    <p:sldId id="283" r:id="rId15"/>
    <p:sldId id="284" r:id="rId16"/>
    <p:sldId id="271" r:id="rId17"/>
    <p:sldId id="262" r:id="rId18"/>
    <p:sldId id="270" r:id="rId19"/>
    <p:sldId id="285" r:id="rId20"/>
    <p:sldId id="286" r:id="rId21"/>
    <p:sldId id="287" r:id="rId22"/>
    <p:sldId id="288" r:id="rId23"/>
    <p:sldId id="289" r:id="rId24"/>
    <p:sldId id="290" r:id="rId25"/>
    <p:sldId id="263" r:id="rId26"/>
    <p:sldId id="291" r:id="rId27"/>
    <p:sldId id="292" r:id="rId28"/>
    <p:sldId id="293" r:id="rId29"/>
    <p:sldId id="294" r:id="rId30"/>
    <p:sldId id="295" r:id="rId31"/>
    <p:sldId id="264" r:id="rId32"/>
    <p:sldId id="296" r:id="rId33"/>
    <p:sldId id="265" r:id="rId34"/>
    <p:sldId id="272" r:id="rId35"/>
    <p:sldId id="266" r:id="rId36"/>
    <p:sldId id="299" r:id="rId37"/>
    <p:sldId id="301" r:id="rId38"/>
    <p:sldId id="302" r:id="rId39"/>
    <p:sldId id="313" r:id="rId40"/>
    <p:sldId id="300" r:id="rId41"/>
    <p:sldId id="303" r:id="rId42"/>
    <p:sldId id="304" r:id="rId43"/>
    <p:sldId id="309" r:id="rId44"/>
    <p:sldId id="274" r:id="rId45"/>
    <p:sldId id="275" r:id="rId46"/>
    <p:sldId id="276" r:id="rId47"/>
    <p:sldId id="305" r:id="rId48"/>
    <p:sldId id="307" r:id="rId49"/>
    <p:sldId id="306" r:id="rId50"/>
    <p:sldId id="308" r:id="rId51"/>
    <p:sldId id="273" r:id="rId52"/>
    <p:sldId id="311" r:id="rId53"/>
    <p:sldId id="310" r:id="rId54"/>
    <p:sldId id="279" r:id="rId55"/>
    <p:sldId id="267" r:id="rId56"/>
    <p:sldId id="268" r:id="rId57"/>
    <p:sldId id="277" r:id="rId58"/>
    <p:sldId id="269" r:id="rId59"/>
    <p:sldId id="278" r:id="rId60"/>
    <p:sldId id="297" r:id="rId61"/>
    <p:sldId id="298"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3D8"/>
    <a:srgbClr val="FF8200"/>
    <a:srgbClr val="FF7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43"/>
    <p:restoredTop sz="94674"/>
  </p:normalViewPr>
  <p:slideViewPr>
    <p:cSldViewPr snapToGrid="0" snapToObjects="1">
      <p:cViewPr varScale="1">
        <p:scale>
          <a:sx n="64" d="100"/>
          <a:sy n="64" d="100"/>
        </p:scale>
        <p:origin x="5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1.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AppData\Roaming\Microsoft\Excel\Book1%20(version%201).xlsb" TargetMode="External"/><Relationship Id="rId2" Type="http://schemas.microsoft.com/office/2011/relationships/chartColorStyle" Target="colors2.xml"/><Relationship Id="rId1" Type="http://schemas.microsoft.com/office/2011/relationships/chartStyle" Target="style2.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Desktop\Eyad%20tableau\analyzeddata.xlsx" TargetMode="External"/><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Desktop\Eyad%20tableau\analyzeddata.xlsx" TargetMode="External"/><Relationship Id="rId2" Type="http://schemas.microsoft.com/office/2011/relationships/chartColorStyle" Target="colors4.xml"/><Relationship Id="rId1" Type="http://schemas.microsoft.com/office/2011/relationships/chartStyle" Target="style4.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dirty="0">
                <a:latin typeface="Times New Roman" panose="02020603050405020304" pitchFamily="18" charset="0"/>
                <a:cs typeface="Times New Roman" panose="02020603050405020304" pitchFamily="18" charset="0"/>
              </a:rPr>
              <a:t>Comparison</a:t>
            </a:r>
            <a:r>
              <a:rPr lang="en-US" sz="1800" b="1" baseline="0" dirty="0">
                <a:latin typeface="Times New Roman" panose="02020603050405020304" pitchFamily="18" charset="0"/>
                <a:cs typeface="Times New Roman" panose="02020603050405020304" pitchFamily="18" charset="0"/>
              </a:rPr>
              <a:t> Graph: </a:t>
            </a:r>
            <a:r>
              <a:rPr lang="en-US" sz="1800" b="1" dirty="0">
                <a:latin typeface="Times New Roman" panose="02020603050405020304" pitchFamily="18" charset="0"/>
                <a:cs typeface="Times New Roman" panose="02020603050405020304" pitchFamily="18" charset="0"/>
              </a:rPr>
              <a:t>Evaluation</a:t>
            </a:r>
            <a:r>
              <a:rPr lang="en-US" sz="1800" b="1" baseline="0" dirty="0">
                <a:latin typeface="Times New Roman" panose="02020603050405020304" pitchFamily="18" charset="0"/>
                <a:cs typeface="Times New Roman" panose="02020603050405020304" pitchFamily="18" charset="0"/>
              </a:rPr>
              <a:t> Metrics </a:t>
            </a:r>
            <a:endParaRPr lang="en-US" sz="1800" b="1" dirty="0">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Sheet1!$B$3</c:f>
              <c:strCache>
                <c:ptCount val="1"/>
                <c:pt idx="0">
                  <c:v>BERT transformer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Sheet1!$C$2:$F$2</c:f>
              <c:strCache>
                <c:ptCount val="4"/>
                <c:pt idx="0">
                  <c:v>ACCURACY </c:v>
                </c:pt>
                <c:pt idx="1">
                  <c:v>PRECISION </c:v>
                </c:pt>
                <c:pt idx="2">
                  <c:v>RECALL</c:v>
                </c:pt>
                <c:pt idx="3">
                  <c:v>F1-SCORE</c:v>
                </c:pt>
              </c:strCache>
            </c:strRef>
          </c:cat>
          <c:val>
            <c:numRef>
              <c:f>Sheet1!$C$3:$F$3</c:f>
              <c:numCache>
                <c:formatCode>General</c:formatCode>
                <c:ptCount val="4"/>
                <c:pt idx="0">
                  <c:v>0.9758</c:v>
                </c:pt>
                <c:pt idx="1">
                  <c:v>0.97599999999999998</c:v>
                </c:pt>
                <c:pt idx="2">
                  <c:v>0.97570000000000001</c:v>
                </c:pt>
                <c:pt idx="3">
                  <c:v>0.9758</c:v>
                </c:pt>
              </c:numCache>
            </c:numRef>
          </c:val>
          <c:extLst>
            <c:ext xmlns:c16="http://schemas.microsoft.com/office/drawing/2014/chart" uri="{C3380CC4-5D6E-409C-BE32-E72D297353CC}">
              <c16:uniqueId val="{00000000-4FF9-4EC2-BAD9-036FBE5F18D6}"/>
            </c:ext>
          </c:extLst>
        </c:ser>
        <c:ser>
          <c:idx val="1"/>
          <c:order val="1"/>
          <c:tx>
            <c:strRef>
              <c:f>Sheet1!$B$4</c:f>
              <c:strCache>
                <c:ptCount val="1"/>
                <c:pt idx="0">
                  <c:v>DistillBERT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Sheet1!$C$2:$F$2</c:f>
              <c:strCache>
                <c:ptCount val="4"/>
                <c:pt idx="0">
                  <c:v>ACCURACY </c:v>
                </c:pt>
                <c:pt idx="1">
                  <c:v>PRECISION </c:v>
                </c:pt>
                <c:pt idx="2">
                  <c:v>RECALL</c:v>
                </c:pt>
                <c:pt idx="3">
                  <c:v>F1-SCORE</c:v>
                </c:pt>
              </c:strCache>
            </c:strRef>
          </c:cat>
          <c:val>
            <c:numRef>
              <c:f>Sheet1!$C$4:$F$4</c:f>
              <c:numCache>
                <c:formatCode>General</c:formatCode>
                <c:ptCount val="4"/>
                <c:pt idx="0">
                  <c:v>0.97289999999999999</c:v>
                </c:pt>
                <c:pt idx="1">
                  <c:v>0.9728</c:v>
                </c:pt>
                <c:pt idx="2">
                  <c:v>0.97289999999999999</c:v>
                </c:pt>
                <c:pt idx="3">
                  <c:v>0.9728</c:v>
                </c:pt>
              </c:numCache>
            </c:numRef>
          </c:val>
          <c:extLst>
            <c:ext xmlns:c16="http://schemas.microsoft.com/office/drawing/2014/chart" uri="{C3380CC4-5D6E-409C-BE32-E72D297353CC}">
              <c16:uniqueId val="{00000001-4FF9-4EC2-BAD9-036FBE5F18D6}"/>
            </c:ext>
          </c:extLst>
        </c:ser>
        <c:dLbls>
          <c:showLegendKey val="0"/>
          <c:showVal val="0"/>
          <c:showCatName val="0"/>
          <c:showSerName val="0"/>
          <c:showPercent val="0"/>
          <c:showBubbleSize val="0"/>
        </c:dLbls>
        <c:gapWidth val="219"/>
        <c:overlap val="-27"/>
        <c:axId val="2114072640"/>
        <c:axId val="2097760736"/>
      </c:barChart>
      <c:catAx>
        <c:axId val="2114072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097760736"/>
        <c:crosses val="autoZero"/>
        <c:auto val="1"/>
        <c:lblAlgn val="ctr"/>
        <c:lblOffset val="100"/>
        <c:noMultiLvlLbl val="0"/>
      </c:catAx>
      <c:valAx>
        <c:axId val="20977607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1140726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[analyzeddata.xlsx]Sheet2!PivotTable1</c:name>
    <c:fmtId val="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Sheet2!$B$3:$B$4</c:f>
              <c:strCache>
                <c:ptCount val="1"/>
                <c:pt idx="0">
                  <c:v>negative</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Sheet2!$A$5:$A$13</c:f>
              <c:strCache>
                <c:ptCount val="8"/>
                <c:pt idx="0">
                  <c:v>Accommodation &amp; Facilities</c:v>
                </c:pt>
                <c:pt idx="1">
                  <c:v>Event &amp; Program Organization</c:v>
                </c:pt>
                <c:pt idx="2">
                  <c:v>Food Quality &amp; Dining</c:v>
                </c:pt>
                <c:pt idx="3">
                  <c:v>General Services</c:v>
                </c:pt>
                <c:pt idx="4">
                  <c:v>Hotel Room Conditions &amp; Cleanliness</c:v>
                </c:pt>
                <c:pt idx="5">
                  <c:v>Service Efficiency &amp; Time Management</c:v>
                </c:pt>
                <c:pt idx="6">
                  <c:v>Staff Attitude &amp; Support</c:v>
                </c:pt>
                <c:pt idx="7">
                  <c:v>Transport &amp; Travel</c:v>
                </c:pt>
              </c:strCache>
            </c:strRef>
          </c:cat>
          <c:val>
            <c:numRef>
              <c:f>Sheet2!$B$5:$B$13</c:f>
              <c:numCache>
                <c:formatCode>General</c:formatCode>
                <c:ptCount val="8"/>
                <c:pt idx="0">
                  <c:v>180</c:v>
                </c:pt>
                <c:pt idx="1">
                  <c:v>4</c:v>
                </c:pt>
                <c:pt idx="2">
                  <c:v>160</c:v>
                </c:pt>
                <c:pt idx="3">
                  <c:v>186</c:v>
                </c:pt>
                <c:pt idx="4">
                  <c:v>28</c:v>
                </c:pt>
                <c:pt idx="5">
                  <c:v>70</c:v>
                </c:pt>
                <c:pt idx="6">
                  <c:v>19</c:v>
                </c:pt>
                <c:pt idx="7">
                  <c:v>534</c:v>
                </c:pt>
              </c:numCache>
            </c:numRef>
          </c:val>
          <c:extLst>
            <c:ext xmlns:c16="http://schemas.microsoft.com/office/drawing/2014/chart" uri="{C3380CC4-5D6E-409C-BE32-E72D297353CC}">
              <c16:uniqueId val="{00000000-F71E-4828-AF2C-DB968746181B}"/>
            </c:ext>
          </c:extLst>
        </c:ser>
        <c:ser>
          <c:idx val="1"/>
          <c:order val="1"/>
          <c:tx>
            <c:strRef>
              <c:f>Sheet2!$C$3:$C$4</c:f>
              <c:strCache>
                <c:ptCount val="1"/>
                <c:pt idx="0">
                  <c:v>neutral</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Sheet2!$A$5:$A$13</c:f>
              <c:strCache>
                <c:ptCount val="8"/>
                <c:pt idx="0">
                  <c:v>Accommodation &amp; Facilities</c:v>
                </c:pt>
                <c:pt idx="1">
                  <c:v>Event &amp; Program Organization</c:v>
                </c:pt>
                <c:pt idx="2">
                  <c:v>Food Quality &amp; Dining</c:v>
                </c:pt>
                <c:pt idx="3">
                  <c:v>General Services</c:v>
                </c:pt>
                <c:pt idx="4">
                  <c:v>Hotel Room Conditions &amp; Cleanliness</c:v>
                </c:pt>
                <c:pt idx="5">
                  <c:v>Service Efficiency &amp; Time Management</c:v>
                </c:pt>
                <c:pt idx="6">
                  <c:v>Staff Attitude &amp; Support</c:v>
                </c:pt>
                <c:pt idx="7">
                  <c:v>Transport &amp; Travel</c:v>
                </c:pt>
              </c:strCache>
            </c:strRef>
          </c:cat>
          <c:val>
            <c:numRef>
              <c:f>Sheet2!$C$5:$C$13</c:f>
              <c:numCache>
                <c:formatCode>General</c:formatCode>
                <c:ptCount val="8"/>
                <c:pt idx="0">
                  <c:v>371</c:v>
                </c:pt>
                <c:pt idx="1">
                  <c:v>52</c:v>
                </c:pt>
                <c:pt idx="2">
                  <c:v>450</c:v>
                </c:pt>
                <c:pt idx="3">
                  <c:v>416</c:v>
                </c:pt>
                <c:pt idx="4">
                  <c:v>87</c:v>
                </c:pt>
                <c:pt idx="5">
                  <c:v>264</c:v>
                </c:pt>
                <c:pt idx="6">
                  <c:v>359</c:v>
                </c:pt>
                <c:pt idx="7">
                  <c:v>1077</c:v>
                </c:pt>
              </c:numCache>
            </c:numRef>
          </c:val>
          <c:extLst>
            <c:ext xmlns:c16="http://schemas.microsoft.com/office/drawing/2014/chart" uri="{C3380CC4-5D6E-409C-BE32-E72D297353CC}">
              <c16:uniqueId val="{00000001-F71E-4828-AF2C-DB968746181B}"/>
            </c:ext>
          </c:extLst>
        </c:ser>
        <c:ser>
          <c:idx val="2"/>
          <c:order val="2"/>
          <c:tx>
            <c:strRef>
              <c:f>Sheet2!$D$3:$D$4</c:f>
              <c:strCache>
                <c:ptCount val="1"/>
                <c:pt idx="0">
                  <c:v>positive</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Sheet2!$A$5:$A$13</c:f>
              <c:strCache>
                <c:ptCount val="8"/>
                <c:pt idx="0">
                  <c:v>Accommodation &amp; Facilities</c:v>
                </c:pt>
                <c:pt idx="1">
                  <c:v>Event &amp; Program Organization</c:v>
                </c:pt>
                <c:pt idx="2">
                  <c:v>Food Quality &amp; Dining</c:v>
                </c:pt>
                <c:pt idx="3">
                  <c:v>General Services</c:v>
                </c:pt>
                <c:pt idx="4">
                  <c:v>Hotel Room Conditions &amp; Cleanliness</c:v>
                </c:pt>
                <c:pt idx="5">
                  <c:v>Service Efficiency &amp; Time Management</c:v>
                </c:pt>
                <c:pt idx="6">
                  <c:v>Staff Attitude &amp; Support</c:v>
                </c:pt>
                <c:pt idx="7">
                  <c:v>Transport &amp; Travel</c:v>
                </c:pt>
              </c:strCache>
            </c:strRef>
          </c:cat>
          <c:val>
            <c:numRef>
              <c:f>Sheet2!$D$5:$D$13</c:f>
              <c:numCache>
                <c:formatCode>General</c:formatCode>
                <c:ptCount val="8"/>
                <c:pt idx="0">
                  <c:v>615</c:v>
                </c:pt>
                <c:pt idx="1">
                  <c:v>165</c:v>
                </c:pt>
                <c:pt idx="2">
                  <c:v>278</c:v>
                </c:pt>
                <c:pt idx="3">
                  <c:v>1007</c:v>
                </c:pt>
                <c:pt idx="4">
                  <c:v>192</c:v>
                </c:pt>
                <c:pt idx="5">
                  <c:v>612</c:v>
                </c:pt>
                <c:pt idx="6">
                  <c:v>1872</c:v>
                </c:pt>
                <c:pt idx="7">
                  <c:v>1502</c:v>
                </c:pt>
              </c:numCache>
            </c:numRef>
          </c:val>
          <c:extLst>
            <c:ext xmlns:c16="http://schemas.microsoft.com/office/drawing/2014/chart" uri="{C3380CC4-5D6E-409C-BE32-E72D297353CC}">
              <c16:uniqueId val="{00000002-F71E-4828-AF2C-DB968746181B}"/>
            </c:ext>
          </c:extLst>
        </c:ser>
        <c:dLbls>
          <c:dLblPos val="ctr"/>
          <c:showLegendKey val="0"/>
          <c:showVal val="1"/>
          <c:showCatName val="0"/>
          <c:showSerName val="0"/>
          <c:showPercent val="0"/>
          <c:showBubbleSize val="0"/>
        </c:dLbls>
        <c:gapWidth val="150"/>
        <c:overlap val="100"/>
        <c:axId val="1563063200"/>
        <c:axId val="1312472448"/>
      </c:barChart>
      <c:catAx>
        <c:axId val="15630632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1312472448"/>
        <c:crosses val="autoZero"/>
        <c:auto val="1"/>
        <c:lblAlgn val="ctr"/>
        <c:lblOffset val="100"/>
        <c:noMultiLvlLbl val="0"/>
      </c:catAx>
      <c:valAx>
        <c:axId val="1312472448"/>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5630632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0775073875550668E-2"/>
          <c:y val="5.0925925925925923E-2"/>
          <c:w val="0.94677672965476389"/>
          <c:h val="0.56110928842228058"/>
        </c:manualLayout>
      </c:layout>
      <c:barChart>
        <c:barDir val="bar"/>
        <c:grouping val="stacked"/>
        <c:varyColors val="0"/>
        <c:ser>
          <c:idx val="0"/>
          <c:order val="0"/>
          <c:tx>
            <c:strRef>
              <c:f>'Negative '!$G$3</c:f>
              <c:strCache>
                <c:ptCount val="1"/>
                <c:pt idx="0">
                  <c:v>Accommodation &amp; Facilities</c:v>
                </c:pt>
              </c:strCache>
            </c:strRef>
          </c:tx>
          <c:spPr>
            <a:solidFill>
              <a:schemeClr val="accent3">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'Negative '!$H$2</c:f>
              <c:strCache>
                <c:ptCount val="1"/>
                <c:pt idx="0">
                  <c:v>Negative Sentiments</c:v>
                </c:pt>
              </c:strCache>
            </c:strRef>
          </c:cat>
          <c:val>
            <c:numRef>
              <c:f>'Negative '!$H$3</c:f>
              <c:numCache>
                <c:formatCode>General</c:formatCode>
                <c:ptCount val="1"/>
                <c:pt idx="0">
                  <c:v>180</c:v>
                </c:pt>
              </c:numCache>
            </c:numRef>
          </c:val>
          <c:extLst>
            <c:ext xmlns:c16="http://schemas.microsoft.com/office/drawing/2014/chart" uri="{C3380CC4-5D6E-409C-BE32-E72D297353CC}">
              <c16:uniqueId val="{00000000-FE9A-4F56-91F1-7F928C24DC18}"/>
            </c:ext>
          </c:extLst>
        </c:ser>
        <c:ser>
          <c:idx val="1"/>
          <c:order val="1"/>
          <c:tx>
            <c:strRef>
              <c:f>'Negative '!$G$4</c:f>
              <c:strCache>
                <c:ptCount val="1"/>
                <c:pt idx="0">
                  <c:v>Event &amp; Program Organization</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'Negative '!$H$2</c:f>
              <c:strCache>
                <c:ptCount val="1"/>
                <c:pt idx="0">
                  <c:v>Negative Sentiments</c:v>
                </c:pt>
              </c:strCache>
            </c:strRef>
          </c:cat>
          <c:val>
            <c:numRef>
              <c:f>'Negative '!$H$4</c:f>
              <c:numCache>
                <c:formatCode>General</c:formatCode>
                <c:ptCount val="1"/>
                <c:pt idx="0">
                  <c:v>9</c:v>
                </c:pt>
              </c:numCache>
            </c:numRef>
          </c:val>
          <c:extLst>
            <c:ext xmlns:c16="http://schemas.microsoft.com/office/drawing/2014/chart" uri="{C3380CC4-5D6E-409C-BE32-E72D297353CC}">
              <c16:uniqueId val="{00000001-FE9A-4F56-91F1-7F928C24DC18}"/>
            </c:ext>
          </c:extLst>
        </c:ser>
        <c:ser>
          <c:idx val="2"/>
          <c:order val="2"/>
          <c:tx>
            <c:strRef>
              <c:f>'Negative '!$G$5</c:f>
              <c:strCache>
                <c:ptCount val="1"/>
                <c:pt idx="0">
                  <c:v>Food Quality &amp; Dining</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'Negative '!$H$2</c:f>
              <c:strCache>
                <c:ptCount val="1"/>
                <c:pt idx="0">
                  <c:v>Negative Sentiments</c:v>
                </c:pt>
              </c:strCache>
            </c:strRef>
          </c:cat>
          <c:val>
            <c:numRef>
              <c:f>'Negative '!$H$5</c:f>
              <c:numCache>
                <c:formatCode>General</c:formatCode>
                <c:ptCount val="1"/>
                <c:pt idx="0">
                  <c:v>160</c:v>
                </c:pt>
              </c:numCache>
            </c:numRef>
          </c:val>
          <c:extLst>
            <c:ext xmlns:c16="http://schemas.microsoft.com/office/drawing/2014/chart" uri="{C3380CC4-5D6E-409C-BE32-E72D297353CC}">
              <c16:uniqueId val="{00000002-FE9A-4F56-91F1-7F928C24DC18}"/>
            </c:ext>
          </c:extLst>
        </c:ser>
        <c:ser>
          <c:idx val="3"/>
          <c:order val="3"/>
          <c:tx>
            <c:strRef>
              <c:f>'Negative '!$G$6</c:f>
              <c:strCache>
                <c:ptCount val="1"/>
                <c:pt idx="0">
                  <c:v>General Services</c:v>
                </c:pt>
              </c:strCache>
            </c:strRef>
          </c:tx>
          <c:spPr>
            <a:solidFill>
              <a:schemeClr val="accent5">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'Negative '!$H$2</c:f>
              <c:strCache>
                <c:ptCount val="1"/>
                <c:pt idx="0">
                  <c:v>Negative Sentiments</c:v>
                </c:pt>
              </c:strCache>
            </c:strRef>
          </c:cat>
          <c:val>
            <c:numRef>
              <c:f>'Negative '!$H$6</c:f>
              <c:numCache>
                <c:formatCode>General</c:formatCode>
                <c:ptCount val="1"/>
                <c:pt idx="0">
                  <c:v>186</c:v>
                </c:pt>
              </c:numCache>
            </c:numRef>
          </c:val>
          <c:extLst>
            <c:ext xmlns:c16="http://schemas.microsoft.com/office/drawing/2014/chart" uri="{C3380CC4-5D6E-409C-BE32-E72D297353CC}">
              <c16:uniqueId val="{00000003-FE9A-4F56-91F1-7F928C24DC18}"/>
            </c:ext>
          </c:extLst>
        </c:ser>
        <c:ser>
          <c:idx val="4"/>
          <c:order val="4"/>
          <c:tx>
            <c:strRef>
              <c:f>'Negative '!$G$7</c:f>
              <c:strCache>
                <c:ptCount val="1"/>
                <c:pt idx="0">
                  <c:v>Hotel Room Conditions &amp; Cleanliness</c:v>
                </c:pt>
              </c:strCache>
            </c:strRef>
          </c:tx>
          <c:spPr>
            <a:solidFill>
              <a:schemeClr val="bg2">
                <a:lumMod val="90000"/>
              </a:schemeClr>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'Negative '!$H$2</c:f>
              <c:strCache>
                <c:ptCount val="1"/>
                <c:pt idx="0">
                  <c:v>Negative Sentiments</c:v>
                </c:pt>
              </c:strCache>
            </c:strRef>
          </c:cat>
          <c:val>
            <c:numRef>
              <c:f>'Negative '!$H$7</c:f>
              <c:numCache>
                <c:formatCode>General</c:formatCode>
                <c:ptCount val="1"/>
                <c:pt idx="0">
                  <c:v>28</c:v>
                </c:pt>
              </c:numCache>
            </c:numRef>
          </c:val>
          <c:extLst>
            <c:ext xmlns:c16="http://schemas.microsoft.com/office/drawing/2014/chart" uri="{C3380CC4-5D6E-409C-BE32-E72D297353CC}">
              <c16:uniqueId val="{00000004-FE9A-4F56-91F1-7F928C24DC18}"/>
            </c:ext>
          </c:extLst>
        </c:ser>
        <c:ser>
          <c:idx val="5"/>
          <c:order val="5"/>
          <c:tx>
            <c:strRef>
              <c:f>'Negative '!$G$8</c:f>
              <c:strCache>
                <c:ptCount val="1"/>
                <c:pt idx="0">
                  <c:v>Service Efficiency &amp; Time Management</c:v>
                </c:pt>
              </c:strCache>
            </c:strRef>
          </c:tx>
          <c:spPr>
            <a:solidFill>
              <a:schemeClr val="accent3">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'Negative '!$H$2</c:f>
              <c:strCache>
                <c:ptCount val="1"/>
                <c:pt idx="0">
                  <c:v>Negative Sentiments</c:v>
                </c:pt>
              </c:strCache>
            </c:strRef>
          </c:cat>
          <c:val>
            <c:numRef>
              <c:f>'Negative '!$H$8</c:f>
              <c:numCache>
                <c:formatCode>General</c:formatCode>
                <c:ptCount val="1"/>
                <c:pt idx="0">
                  <c:v>70</c:v>
                </c:pt>
              </c:numCache>
            </c:numRef>
          </c:val>
          <c:extLst>
            <c:ext xmlns:c16="http://schemas.microsoft.com/office/drawing/2014/chart" uri="{C3380CC4-5D6E-409C-BE32-E72D297353CC}">
              <c16:uniqueId val="{00000005-FE9A-4F56-91F1-7F928C24DC18}"/>
            </c:ext>
          </c:extLst>
        </c:ser>
        <c:ser>
          <c:idx val="6"/>
          <c:order val="6"/>
          <c:tx>
            <c:strRef>
              <c:f>'Negative '!$G$9</c:f>
              <c:strCache>
                <c:ptCount val="1"/>
                <c:pt idx="0">
                  <c:v>Staff Attitude &amp; Support</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'Negative '!$H$2</c:f>
              <c:strCache>
                <c:ptCount val="1"/>
                <c:pt idx="0">
                  <c:v>Negative Sentiments</c:v>
                </c:pt>
              </c:strCache>
            </c:strRef>
          </c:cat>
          <c:val>
            <c:numRef>
              <c:f>'Negative '!$H$9</c:f>
              <c:numCache>
                <c:formatCode>General</c:formatCode>
                <c:ptCount val="1"/>
                <c:pt idx="0">
                  <c:v>19</c:v>
                </c:pt>
              </c:numCache>
            </c:numRef>
          </c:val>
          <c:extLst>
            <c:ext xmlns:c16="http://schemas.microsoft.com/office/drawing/2014/chart" uri="{C3380CC4-5D6E-409C-BE32-E72D297353CC}">
              <c16:uniqueId val="{00000006-FE9A-4F56-91F1-7F928C24DC18}"/>
            </c:ext>
          </c:extLst>
        </c:ser>
        <c:ser>
          <c:idx val="7"/>
          <c:order val="7"/>
          <c:tx>
            <c:strRef>
              <c:f>'Negative '!$G$10</c:f>
              <c:strCache>
                <c:ptCount val="1"/>
                <c:pt idx="0">
                  <c:v>Transport &amp; Travel</c:v>
                </c:pt>
              </c:strCache>
            </c:strRef>
          </c:tx>
          <c:spPr>
            <a:solidFill>
              <a:schemeClr val="bg1">
                <a:lumMod val="85000"/>
              </a:schemeClr>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'Negative '!$H$2</c:f>
              <c:strCache>
                <c:ptCount val="1"/>
                <c:pt idx="0">
                  <c:v>Negative Sentiments</c:v>
                </c:pt>
              </c:strCache>
            </c:strRef>
          </c:cat>
          <c:val>
            <c:numRef>
              <c:f>'Negative '!$H$10</c:f>
              <c:numCache>
                <c:formatCode>General</c:formatCode>
                <c:ptCount val="1"/>
                <c:pt idx="0">
                  <c:v>534</c:v>
                </c:pt>
              </c:numCache>
            </c:numRef>
          </c:val>
          <c:extLst>
            <c:ext xmlns:c16="http://schemas.microsoft.com/office/drawing/2014/chart" uri="{C3380CC4-5D6E-409C-BE32-E72D297353CC}">
              <c16:uniqueId val="{00000007-FE9A-4F56-91F1-7F928C24DC18}"/>
            </c:ext>
          </c:extLst>
        </c:ser>
        <c:dLbls>
          <c:dLblPos val="ctr"/>
          <c:showLegendKey val="0"/>
          <c:showVal val="1"/>
          <c:showCatName val="0"/>
          <c:showSerName val="0"/>
          <c:showPercent val="0"/>
          <c:showBubbleSize val="0"/>
        </c:dLbls>
        <c:gapWidth val="150"/>
        <c:overlap val="100"/>
        <c:axId val="1640313520"/>
        <c:axId val="1352918736"/>
      </c:barChart>
      <c:catAx>
        <c:axId val="1640313520"/>
        <c:scaling>
          <c:orientation val="minMax"/>
        </c:scaling>
        <c:delete val="1"/>
        <c:axPos val="l"/>
        <c:numFmt formatCode="General" sourceLinked="1"/>
        <c:majorTickMark val="none"/>
        <c:minorTickMark val="none"/>
        <c:tickLblPos val="nextTo"/>
        <c:crossAx val="1352918736"/>
        <c:crosses val="autoZero"/>
        <c:auto val="1"/>
        <c:lblAlgn val="ctr"/>
        <c:lblOffset val="100"/>
        <c:noMultiLvlLbl val="0"/>
      </c:catAx>
      <c:valAx>
        <c:axId val="1352918736"/>
        <c:scaling>
          <c:orientation val="minMax"/>
          <c:max val="1200"/>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1640313520"/>
        <c:crosses val="autoZero"/>
        <c:crossBetween val="between"/>
      </c:valAx>
      <c:spPr>
        <a:noFill/>
        <a:ln>
          <a:noFill/>
        </a:ln>
        <a:effectLst/>
      </c:spPr>
    </c:plotArea>
    <c:legend>
      <c:legendPos val="b"/>
      <c:layout>
        <c:manualLayout>
          <c:xMode val="edge"/>
          <c:yMode val="edge"/>
          <c:x val="0.15151629829820162"/>
          <c:y val="0.69494095835723402"/>
          <c:w val="0.77541281322846678"/>
          <c:h val="0.28660052609854625"/>
        </c:manualLayout>
      </c:layout>
      <c:overlay val="0"/>
      <c:spPr>
        <a:noFill/>
        <a:ln>
          <a:noFill/>
        </a:ln>
        <a:effectLst/>
      </c:spPr>
      <c:txPr>
        <a:bodyPr rot="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sz="1600" b="1">
          <a:solidFill>
            <a:sysClr val="windowText" lastClr="000000"/>
          </a:solidFill>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Sheet1!$B$4:$B$11</cx:f>
        <cx:lvl ptCount="8">
          <cx:pt idx="0">Transport &amp; Travel                      </cx:pt>
          <cx:pt idx="1">Staff Attitude &amp; Support              </cx:pt>
          <cx:pt idx="2">General Services                        </cx:pt>
          <cx:pt idx="3">Accommodation &amp; Facilities     </cx:pt>
          <cx:pt idx="4">Food Quality &amp; Dining                               </cx:pt>
          <cx:pt idx="5">Service Efficiency &amp; Time Management     </cx:pt>
          <cx:pt idx="6">Hotel Room Conditions &amp; Cleanliness        </cx:pt>
          <cx:pt idx="7">Event &amp; Program Organization                    </cx:pt>
        </cx:lvl>
      </cx:strDim>
      <cx:numDim type="val">
        <cx:f>Sheet1!$C$4:$C$11</cx:f>
        <cx:lvl ptCount="8" formatCode="General">
          <cx:pt idx="0">3079</cx:pt>
          <cx:pt idx="1">2209</cx:pt>
          <cx:pt idx="2">1739</cx:pt>
          <cx:pt idx="3">979</cx:pt>
          <cx:pt idx="4">885</cx:pt>
          <cx:pt idx="5">850</cx:pt>
          <cx:pt idx="6">476</cx:pt>
          <cx:pt idx="7">283</cx:pt>
        </cx:lvl>
      </cx:numDim>
    </cx:data>
  </cx:chartData>
  <cx:chart>
    <cx:plotArea>
      <cx:plotAreaRegion>
        <cx:series layoutId="funnel" uniqueId="{C01FABF1-3042-4728-9F54-8D2FF927FFFA}">
          <cx:tx>
            <cx:txData>
              <cx:f>Sheet1!$C$3</cx:f>
              <cx:v>  Frequency Counts</cx:v>
            </cx:txData>
          </cx:tx>
          <cx:spPr>
            <a:solidFill>
              <a:schemeClr val="bg2"/>
            </a:solidFill>
          </cx:spPr>
          <cx:dataLabels>
            <cx:txPr>
              <a:bodyPr spcFirstLastPara="1" vertOverflow="ellipsis" horzOverflow="overflow" wrap="square" lIns="0" tIns="0" rIns="0" bIns="0" anchor="ctr" anchorCtr="1"/>
              <a:lstStyle/>
              <a:p>
                <a:pPr algn="ctr" rtl="0">
                  <a:defRPr sz="1200" b="1">
                    <a:solidFill>
                      <a:sysClr val="windowText" lastClr="000000"/>
                    </a:solidFill>
                  </a:defRPr>
                </a:pPr>
                <a:endParaRPr lang="en-US" sz="1200" b="1" i="0" u="none" strike="noStrike" baseline="0">
                  <a:solidFill>
                    <a:sysClr val="windowText" lastClr="000000"/>
                  </a:solidFill>
                  <a:latin typeface="Calibri" panose="020F0502020204030204"/>
                </a:endParaRPr>
              </a:p>
            </cx:txPr>
            <cx:visibility seriesName="0" categoryName="0" value="1"/>
          </cx:dataLabels>
          <cx:dataId val="0"/>
        </cx:series>
      </cx:plotAreaRegion>
      <cx:axis id="0">
        <cx:catScaling gapWidth="0.0599999987"/>
        <cx:tickLabels/>
        <cx:txPr>
          <a:bodyPr spcFirstLastPara="1" vertOverflow="ellipsis" horzOverflow="overflow" wrap="square" lIns="0" tIns="0" rIns="0" bIns="0" anchor="ctr" anchorCtr="1"/>
          <a:lstStyle/>
          <a:p>
            <a:pPr algn="ctr" rtl="0">
              <a:defRPr sz="1200" b="1">
                <a:solidFill>
                  <a:sysClr val="windowText" lastClr="000000"/>
                </a:solidFill>
              </a:defRPr>
            </a:pPr>
            <a:endParaRPr lang="en-US" sz="1200" b="1" i="0" u="none" strike="noStrike" baseline="0">
              <a:solidFill>
                <a:sysClr val="windowText" lastClr="000000"/>
              </a:solidFill>
              <a:latin typeface="Calibri" panose="020F0502020204030204"/>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6399C4-83FD-8846-B8FF-C8A5E1CCA776}"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802787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399C4-83FD-8846-B8FF-C8A5E1CCA776}"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957645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6399C4-83FD-8846-B8FF-C8A5E1CCA776}"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549517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6399C4-83FD-8846-B8FF-C8A5E1CCA776}"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55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6399C4-83FD-8846-B8FF-C8A5E1CCA776}" type="datetimeFigureOut">
              <a:rPr lang="en-US" smtClean="0"/>
              <a:t>10/26/2025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69457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6399C4-83FD-8846-B8FF-C8A5E1CCA776}" type="datetimeFigureOut">
              <a:rPr lang="en-US" smtClean="0"/>
              <a:t>10/26/2025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838453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6399C4-83FD-8846-B8FF-C8A5E1CCA776}" type="datetimeFigureOut">
              <a:rPr lang="en-US" smtClean="0"/>
              <a:t>10/26/2025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06047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399C4-83FD-8846-B8FF-C8A5E1CCA776}"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2079532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399C4-83FD-8846-B8FF-C8A5E1CCA776}" type="datetimeFigureOut">
              <a:rPr lang="en-US" smtClean="0"/>
              <a:t>10/26/2025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39874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399C4-83FD-8846-B8FF-C8A5E1CCA776}"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511126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399C4-83FD-8846-B8FF-C8A5E1CCA776}" type="datetimeFigureOut">
              <a:rPr lang="en-US" smtClean="0"/>
              <a:t>10/26/2025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a:p>
        </p:txBody>
      </p:sp>
    </p:spTree>
    <p:extLst>
      <p:ext uri="{BB962C8B-B14F-4D97-AF65-F5344CB8AC3E}">
        <p14:creationId xmlns:p14="http://schemas.microsoft.com/office/powerpoint/2010/main" val="1358770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6399C4-83FD-8846-B8FF-C8A5E1CCA776}" type="datetimeFigureOut">
              <a:rPr lang="en-US" smtClean="0"/>
              <a:t>10/26/2025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D23E2-BA1B-8049-8B7E-58F2712DF32D}" type="slidenum">
              <a:rPr lang="en-US" smtClean="0"/>
              <a:t>‹#›</a:t>
            </a:fld>
            <a:endParaRPr lang="en-US"/>
          </a:p>
        </p:txBody>
      </p:sp>
    </p:spTree>
    <p:extLst>
      <p:ext uri="{BB962C8B-B14F-4D97-AF65-F5344CB8AC3E}">
        <p14:creationId xmlns:p14="http://schemas.microsoft.com/office/powerpoint/2010/main" val="60198716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00.png"/><Relationship Id="rId2" Type="http://schemas.microsoft.com/office/2014/relationships/chartEx" Target="../charts/chartEx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1072661" y="0"/>
            <a:ext cx="10322169" cy="5838092"/>
          </a:xfrm>
        </p:spPr>
        <p:txBody>
          <a:bodyPr>
            <a:normAutofit/>
          </a:bodyPr>
          <a:lstStyle/>
          <a:p>
            <a:r>
              <a:rPr lang="en-US" dirty="0"/>
              <a:t>AI-Driven Analysis of Pilgrim Experiences: Enhancing Hajj and Umrah Services Through Smart Data Insights</a:t>
            </a:r>
            <a:br>
              <a:rPr lang="en-US" sz="6000" dirty="0">
                <a:solidFill>
                  <a:srgbClr val="000000"/>
                </a:solidFill>
                <a:effectLst/>
                <a:latin typeface="Calibri Light" panose="020F0302020204030204" pitchFamily="34" charset="0"/>
              </a:rPr>
            </a:br>
            <a:endParaRPr lang="en-US" dirty="0"/>
          </a:p>
        </p:txBody>
      </p:sp>
    </p:spTree>
    <p:extLst>
      <p:ext uri="{BB962C8B-B14F-4D97-AF65-F5344CB8AC3E}">
        <p14:creationId xmlns:p14="http://schemas.microsoft.com/office/powerpoint/2010/main" val="1595336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505" y="98681"/>
            <a:ext cx="10515600" cy="1150455"/>
          </a:xfrm>
        </p:spPr>
        <p:txBody>
          <a:bodyPr/>
          <a:lstStyle/>
          <a:p>
            <a:r>
              <a:rPr lang="en-US" b="1" dirty="0"/>
              <a:t>Abstract</a:t>
            </a:r>
            <a:endParaRPr lang="en-US" dirty="0"/>
          </a:p>
        </p:txBody>
      </p:sp>
      <p:sp>
        <p:nvSpPr>
          <p:cNvPr id="3" name="Content Placeholder 2"/>
          <p:cNvSpPr>
            <a:spLocks noGrp="1"/>
          </p:cNvSpPr>
          <p:nvPr>
            <p:ph idx="1"/>
          </p:nvPr>
        </p:nvSpPr>
        <p:spPr>
          <a:xfrm>
            <a:off x="838200" y="1453243"/>
            <a:ext cx="10515600" cy="4723720"/>
          </a:xfrm>
        </p:spPr>
        <p:txBody>
          <a:bodyPr>
            <a:normAutofit/>
          </a:bodyPr>
          <a:lstStyle/>
          <a:p>
            <a:r>
              <a:rPr lang="en-US" sz="2000" dirty="0"/>
              <a:t>The Hajj and Umrah pilgrimage sectors struggle to process and extract valuable insights from the vast amount of feedback they receive—around 30 million comments each year in more than 27 languages. The high volume and linguistic diversity of these reviews make it challenging for authorities to sort and address recurring concerns systematically. </a:t>
            </a:r>
          </a:p>
          <a:p>
            <a:r>
              <a:rPr lang="en-US" sz="2000" dirty="0"/>
              <a:t>This project aims to introduce an AI-powered solution using pre-trained transformer models, such as GPT, to analyze pilgrim feedback efficiently. The system will categorize comments into key service areas, including immigration, accommodation, transportation, and public services, while also assessing sentiment to determine overall satisfaction levels. </a:t>
            </a:r>
          </a:p>
          <a:p>
            <a:r>
              <a:rPr lang="en-US" sz="2000" dirty="0"/>
              <a:t>Furthermore, the AI model’s performance will be measured using accuracy, precision, recall, and F1-score metrics to ensure its reliability. By adopting this approach, authorities can obtain data-driven insights to enhance the pilgrimage experience, improve service quality, and make more informed decisions.</a:t>
            </a:r>
            <a:endParaRPr lang="en-US" sz="2000" dirty="0">
              <a:cs typeface="+mj-cs"/>
            </a:endParaRPr>
          </a:p>
          <a:p>
            <a:pPr marL="0" indent="0">
              <a:buNone/>
            </a:pPr>
            <a:endParaRPr lang="en-US" sz="2000" dirty="0">
              <a:cs typeface="+mj-cs"/>
            </a:endParaRPr>
          </a:p>
        </p:txBody>
      </p:sp>
    </p:spTree>
    <p:extLst>
      <p:ext uri="{BB962C8B-B14F-4D97-AF65-F5344CB8AC3E}">
        <p14:creationId xmlns:p14="http://schemas.microsoft.com/office/powerpoint/2010/main" val="37615879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60DF-D7C3-43DF-B9E9-A9FB582262C0}"/>
              </a:ext>
            </a:extLst>
          </p:cNvPr>
          <p:cNvSpPr>
            <a:spLocks noGrp="1"/>
          </p:cNvSpPr>
          <p:nvPr>
            <p:ph type="title"/>
          </p:nvPr>
        </p:nvSpPr>
        <p:spPr>
          <a:xfrm>
            <a:off x="907774" y="743967"/>
            <a:ext cx="9786730" cy="1019037"/>
          </a:xfrm>
        </p:spPr>
        <p:txBody>
          <a:bodyPr/>
          <a:lstStyle/>
          <a:p>
            <a:r>
              <a:rPr lang="en-US" b="1" dirty="0"/>
              <a:t>Introduction</a:t>
            </a:r>
          </a:p>
        </p:txBody>
      </p:sp>
      <p:sp>
        <p:nvSpPr>
          <p:cNvPr id="3" name="Rectangle 2">
            <a:extLst>
              <a:ext uri="{FF2B5EF4-FFF2-40B4-BE49-F238E27FC236}">
                <a16:creationId xmlns:a16="http://schemas.microsoft.com/office/drawing/2014/main" id="{6CE96A87-4D22-43E2-8CAC-F21F208BDE33}"/>
              </a:ext>
            </a:extLst>
          </p:cNvPr>
          <p:cNvSpPr/>
          <p:nvPr/>
        </p:nvSpPr>
        <p:spPr>
          <a:xfrm>
            <a:off x="1452769" y="1763004"/>
            <a:ext cx="9286461" cy="3170099"/>
          </a:xfrm>
          <a:prstGeom prst="rect">
            <a:avLst/>
          </a:prstGeom>
        </p:spPr>
        <p:txBody>
          <a:bodyPr wrap="square">
            <a:spAutoFit/>
          </a:bodyPr>
          <a:lstStyle/>
          <a:p>
            <a:r>
              <a:rPr lang="en-US" sz="2000" b="1" dirty="0"/>
              <a:t>Overview: </a:t>
            </a:r>
            <a:r>
              <a:rPr lang="en-US" sz="2000" dirty="0"/>
              <a:t>Hajj and Umrah relies on millions of data to enhance customer service </a:t>
            </a:r>
          </a:p>
          <a:p>
            <a:r>
              <a:rPr lang="en-US" sz="2000" b="1" dirty="0"/>
              <a:t>Problem Statement: </a:t>
            </a:r>
          </a:p>
          <a:p>
            <a:pPr marL="342900" indent="-342900">
              <a:buFont typeface="Wingdings" panose="05000000000000000000" pitchFamily="2" charset="2"/>
              <a:buChar char="q"/>
            </a:pPr>
            <a:r>
              <a:rPr lang="en-US" sz="2000" dirty="0"/>
              <a:t>The Hajj and Umrah pilgrimage receive—around 2-3 million comments each year</a:t>
            </a:r>
          </a:p>
          <a:p>
            <a:pPr marL="342900" indent="-342900">
              <a:buFont typeface="Wingdings" panose="05000000000000000000" pitchFamily="2" charset="2"/>
              <a:buChar char="q"/>
            </a:pPr>
            <a:r>
              <a:rPr lang="en-US" sz="2000" dirty="0"/>
              <a:t>The comments are projected to reach 30 million comments by 2030, in more than 27 languages. </a:t>
            </a:r>
          </a:p>
          <a:p>
            <a:pPr marL="342900" indent="-342900">
              <a:buFont typeface="Wingdings" panose="05000000000000000000" pitchFamily="2" charset="2"/>
              <a:buChar char="q"/>
            </a:pPr>
            <a:r>
              <a:rPr lang="en-US" sz="2000" dirty="0"/>
              <a:t>Hajj and Umrah are facing challenges using traditional methods to analyze the data</a:t>
            </a:r>
          </a:p>
          <a:p>
            <a:r>
              <a:rPr lang="en-US" sz="2000" b="1" dirty="0"/>
              <a:t>Proposal: </a:t>
            </a:r>
            <a:r>
              <a:rPr lang="en-US" sz="2000" dirty="0"/>
              <a:t>This project proposes an artificial intelligence system to enhance customer service analysis at Hajj and Umrah </a:t>
            </a:r>
          </a:p>
          <a:p>
            <a:r>
              <a:rPr lang="en-US" sz="2000" b="1" dirty="0"/>
              <a:t>Significance</a:t>
            </a:r>
            <a:r>
              <a:rPr lang="en-US" sz="2000" dirty="0"/>
              <a:t> :  The system provide timely, accurate, real-time, complete, relevant, and precise big data analysis</a:t>
            </a:r>
          </a:p>
        </p:txBody>
      </p:sp>
    </p:spTree>
    <p:extLst>
      <p:ext uri="{BB962C8B-B14F-4D97-AF65-F5344CB8AC3E}">
        <p14:creationId xmlns:p14="http://schemas.microsoft.com/office/powerpoint/2010/main" val="4277874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407E0-1C3D-E56F-B1F5-CA7299FE6552}"/>
              </a:ext>
            </a:extLst>
          </p:cNvPr>
          <p:cNvSpPr>
            <a:spLocks noGrp="1"/>
          </p:cNvSpPr>
          <p:nvPr>
            <p:ph type="title"/>
          </p:nvPr>
        </p:nvSpPr>
        <p:spPr/>
        <p:txBody>
          <a:bodyPr/>
          <a:lstStyle/>
          <a:p>
            <a:r>
              <a:rPr lang="en-US" b="1" dirty="0"/>
              <a:t>Project objectives</a:t>
            </a:r>
            <a:endParaRPr lang="en-US" dirty="0"/>
          </a:p>
        </p:txBody>
      </p:sp>
      <p:sp>
        <p:nvSpPr>
          <p:cNvPr id="3" name="Content Placeholder 2">
            <a:extLst>
              <a:ext uri="{FF2B5EF4-FFF2-40B4-BE49-F238E27FC236}">
                <a16:creationId xmlns:a16="http://schemas.microsoft.com/office/drawing/2014/main" id="{BDC3CE6D-BEC5-27E9-ECD7-C685204BF24A}"/>
              </a:ext>
            </a:extLst>
          </p:cNvPr>
          <p:cNvSpPr>
            <a:spLocks noGrp="1"/>
          </p:cNvSpPr>
          <p:nvPr>
            <p:ph idx="1"/>
          </p:nvPr>
        </p:nvSpPr>
        <p:spPr>
          <a:xfrm>
            <a:off x="937591" y="1693063"/>
            <a:ext cx="10515600" cy="4097310"/>
          </a:xfrm>
        </p:spPr>
        <p:txBody>
          <a:bodyPr>
            <a:normAutofit/>
          </a:bodyPr>
          <a:lstStyle/>
          <a:p>
            <a:r>
              <a:rPr lang="en-US" sz="2200" dirty="0"/>
              <a:t>The proposed project aims to develop an AI-powered analytics system capable of processing and categorizing large-scale pilgrim feedback data. The primary objective is to leverage Natural Language Processing (NLP) and pre-trained transformer models to analyze text-based reviews and identify key areas that require service enhancements. </a:t>
            </a:r>
          </a:p>
          <a:p>
            <a:r>
              <a:rPr lang="en-US" sz="2200" dirty="0"/>
              <a:t>Other objectives include:</a:t>
            </a:r>
          </a:p>
          <a:p>
            <a:pPr marL="457200" lvl="0" indent="-109538">
              <a:buFont typeface="Wingdings" panose="05000000000000000000" pitchFamily="2" charset="2"/>
              <a:buChar char="v"/>
            </a:pPr>
            <a:r>
              <a:rPr lang="en-US" sz="2200" dirty="0"/>
              <a:t> To use pre-trained transformer models to analyze pilgrim feedback efficiently</a:t>
            </a:r>
          </a:p>
          <a:p>
            <a:pPr marL="457200" lvl="0" indent="-109538">
              <a:buFont typeface="Wingdings" panose="05000000000000000000" pitchFamily="2" charset="2"/>
              <a:buChar char="v"/>
            </a:pPr>
            <a:r>
              <a:rPr lang="en-US" sz="2200" dirty="0"/>
              <a:t> To generate visual representations to enhance data-driven insights and decision-making.</a:t>
            </a:r>
          </a:p>
          <a:p>
            <a:pPr marL="457200" lvl="0" indent="-109538">
              <a:buFont typeface="Wingdings" panose="05000000000000000000" pitchFamily="2" charset="2"/>
              <a:buChar char="v"/>
            </a:pPr>
            <a:r>
              <a:rPr lang="en-US" sz="2200" dirty="0"/>
              <a:t>To provide a confidence interval against each comment analyzed. The confidence interval builds into the credibility and accuracy of the text classified and sentiment analyzed, helping service agents and analysts make informed choices and decisions.</a:t>
            </a:r>
          </a:p>
          <a:p>
            <a:pPr>
              <a:buFont typeface="Wingdings" panose="05000000000000000000" pitchFamily="2" charset="2"/>
              <a:buChar char="v"/>
            </a:pPr>
            <a:endParaRPr lang="en-US" sz="2000" dirty="0"/>
          </a:p>
        </p:txBody>
      </p:sp>
    </p:spTree>
    <p:extLst>
      <p:ext uri="{BB962C8B-B14F-4D97-AF65-F5344CB8AC3E}">
        <p14:creationId xmlns:p14="http://schemas.microsoft.com/office/powerpoint/2010/main" val="1799742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4ACC-9880-74D8-736E-7DC131D01580}"/>
              </a:ext>
            </a:extLst>
          </p:cNvPr>
          <p:cNvSpPr>
            <a:spLocks noGrp="1"/>
          </p:cNvSpPr>
          <p:nvPr>
            <p:ph type="title"/>
          </p:nvPr>
        </p:nvSpPr>
        <p:spPr>
          <a:xfrm>
            <a:off x="838200" y="534128"/>
            <a:ext cx="10515600" cy="1102612"/>
          </a:xfrm>
        </p:spPr>
        <p:txBody>
          <a:bodyPr/>
          <a:lstStyle/>
          <a:p>
            <a:r>
              <a:rPr lang="en-US" b="1" dirty="0"/>
              <a:t>Beneficiaries</a:t>
            </a:r>
            <a:endParaRPr lang="en-US" dirty="0"/>
          </a:p>
        </p:txBody>
      </p:sp>
      <p:sp>
        <p:nvSpPr>
          <p:cNvPr id="3" name="Content Placeholder 2">
            <a:extLst>
              <a:ext uri="{FF2B5EF4-FFF2-40B4-BE49-F238E27FC236}">
                <a16:creationId xmlns:a16="http://schemas.microsoft.com/office/drawing/2014/main" id="{7369039B-C261-BB42-4DB6-9C95B5537DE4}"/>
              </a:ext>
            </a:extLst>
          </p:cNvPr>
          <p:cNvSpPr>
            <a:spLocks noGrp="1"/>
          </p:cNvSpPr>
          <p:nvPr>
            <p:ph idx="1"/>
          </p:nvPr>
        </p:nvSpPr>
        <p:spPr>
          <a:xfrm>
            <a:off x="917713" y="1636740"/>
            <a:ext cx="10515600" cy="4351338"/>
          </a:xfrm>
        </p:spPr>
        <p:txBody>
          <a:bodyPr>
            <a:normAutofit/>
          </a:bodyPr>
          <a:lstStyle/>
          <a:p>
            <a:r>
              <a:rPr lang="en-US" sz="2000" b="1" dirty="0"/>
              <a:t>Pilgrims</a:t>
            </a:r>
            <a:r>
              <a:rPr lang="en-US" sz="2000" dirty="0"/>
              <a:t> – Improved services based on data-driven enhancements will lead to a more seamless and satisfactory pilgrimage experience.</a:t>
            </a:r>
          </a:p>
          <a:p>
            <a:r>
              <a:rPr lang="en-US" sz="2000" b="1" dirty="0"/>
              <a:t>Ministry of Hajj and Umrah</a:t>
            </a:r>
            <a:r>
              <a:rPr lang="en-US" sz="2000" dirty="0"/>
              <a:t> – Access to AI-generated insights will allow for informed decision-making and targeted service improvements.</a:t>
            </a:r>
          </a:p>
          <a:p>
            <a:r>
              <a:rPr lang="en-US" sz="2000" b="1" dirty="0"/>
              <a:t>Service Providers</a:t>
            </a:r>
            <a:r>
              <a:rPr lang="en-US" sz="2000" dirty="0"/>
              <a:t> – Hotels, transportation companies, and healthcare services can refine their offerings based on real-time feedback analysis.</a:t>
            </a:r>
          </a:p>
          <a:p>
            <a:r>
              <a:rPr lang="en-US" sz="2000" b="1" dirty="0"/>
              <a:t>AI &amp; Data Science Researchers</a:t>
            </a:r>
            <a:r>
              <a:rPr lang="en-US" sz="2000" dirty="0"/>
              <a:t> – The project will provide a case study on applying AI to large-scale multilingual sentiment and topic classification.</a:t>
            </a:r>
          </a:p>
          <a:p>
            <a:pPr marL="0" indent="0">
              <a:buNone/>
            </a:pPr>
            <a:endParaRPr lang="en-US" dirty="0"/>
          </a:p>
        </p:txBody>
      </p:sp>
      <p:sp>
        <p:nvSpPr>
          <p:cNvPr id="4" name="Rectangle 3">
            <a:extLst>
              <a:ext uri="{FF2B5EF4-FFF2-40B4-BE49-F238E27FC236}">
                <a16:creationId xmlns:a16="http://schemas.microsoft.com/office/drawing/2014/main" id="{AB732746-5466-4329-9B5A-7BFFA6528836}"/>
              </a:ext>
            </a:extLst>
          </p:cNvPr>
          <p:cNvSpPr/>
          <p:nvPr/>
        </p:nvSpPr>
        <p:spPr>
          <a:xfrm>
            <a:off x="1586948" y="4513374"/>
            <a:ext cx="9435548" cy="707886"/>
          </a:xfrm>
          <a:prstGeom prst="rect">
            <a:avLst/>
          </a:prstGeom>
        </p:spPr>
        <p:txBody>
          <a:bodyPr wrap="square">
            <a:spAutoFit/>
          </a:bodyPr>
          <a:lstStyle/>
          <a:p>
            <a:pPr marL="285750" indent="-285750">
              <a:buFont typeface="Arial" panose="020B0604020202020204" pitchFamily="34" charset="0"/>
              <a:buChar char="•"/>
            </a:pPr>
            <a:r>
              <a:rPr lang="en-US" sz="2000" dirty="0"/>
              <a:t>By adopting this approach, authorities can obtain data-driven insights to enhance the pilgrimage experience, improve service quality, and make more informed decisions.</a:t>
            </a:r>
          </a:p>
        </p:txBody>
      </p:sp>
    </p:spTree>
    <p:extLst>
      <p:ext uri="{BB962C8B-B14F-4D97-AF65-F5344CB8AC3E}">
        <p14:creationId xmlns:p14="http://schemas.microsoft.com/office/powerpoint/2010/main" val="926054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52CB-260C-2C31-8D0F-FABCD9BADDBE}"/>
              </a:ext>
            </a:extLst>
          </p:cNvPr>
          <p:cNvSpPr>
            <a:spLocks noGrp="1"/>
          </p:cNvSpPr>
          <p:nvPr>
            <p:ph type="title"/>
          </p:nvPr>
        </p:nvSpPr>
        <p:spPr>
          <a:xfrm>
            <a:off x="838200" y="1041255"/>
            <a:ext cx="10515600" cy="1009651"/>
          </a:xfrm>
        </p:spPr>
        <p:txBody>
          <a:bodyPr/>
          <a:lstStyle/>
          <a:p>
            <a:r>
              <a:rPr lang="en-US" b="1" dirty="0"/>
              <a:t>Research Questions</a:t>
            </a:r>
            <a:endParaRPr lang="en-US" dirty="0"/>
          </a:p>
        </p:txBody>
      </p:sp>
      <p:sp>
        <p:nvSpPr>
          <p:cNvPr id="3" name="Content Placeholder 2">
            <a:extLst>
              <a:ext uri="{FF2B5EF4-FFF2-40B4-BE49-F238E27FC236}">
                <a16:creationId xmlns:a16="http://schemas.microsoft.com/office/drawing/2014/main" id="{783DA518-8327-1854-81B9-07092337AD7E}"/>
              </a:ext>
            </a:extLst>
          </p:cNvPr>
          <p:cNvSpPr>
            <a:spLocks noGrp="1"/>
          </p:cNvSpPr>
          <p:nvPr>
            <p:ph idx="1"/>
          </p:nvPr>
        </p:nvSpPr>
        <p:spPr>
          <a:xfrm>
            <a:off x="1305339" y="2183433"/>
            <a:ext cx="9836426" cy="2726497"/>
          </a:xfrm>
        </p:spPr>
        <p:txBody>
          <a:bodyPr>
            <a:normAutofit/>
          </a:bodyPr>
          <a:lstStyle/>
          <a:p>
            <a:pPr marL="342900" marR="0" lvl="0" indent="-342900" algn="l" rtl="0">
              <a:lnSpc>
                <a:spcPct val="100000"/>
              </a:lnSpc>
              <a:spcBef>
                <a:spcPts val="0"/>
              </a:spcBef>
              <a:spcAft>
                <a:spcPts val="800"/>
              </a:spcAft>
              <a:buFont typeface="+mj-lt"/>
              <a:buAutoNum type="arabicPeriod"/>
            </a:pPr>
            <a:r>
              <a:rPr lang="en-US" sz="2000" kern="100" dirty="0">
                <a:effectLst/>
                <a:ea typeface="Times New Roman" panose="02020603050405020304" pitchFamily="18" charset="0"/>
                <a:cs typeface="+mj-cs"/>
              </a:rPr>
              <a:t>How can pre-trained transformer models, like GPT, analyze reviews from pilgrims to identify the main challenges they face?</a:t>
            </a:r>
            <a:endParaRPr lang="en-US" sz="2000" kern="100" dirty="0">
              <a:ea typeface="Times New Roman" panose="02020603050405020304" pitchFamily="18" charset="0"/>
              <a:cs typeface="+mj-cs"/>
            </a:endParaRPr>
          </a:p>
          <a:p>
            <a:pPr marL="342900" marR="0" lvl="0" indent="-342900" algn="l" rtl="0">
              <a:lnSpc>
                <a:spcPct val="100000"/>
              </a:lnSpc>
              <a:spcBef>
                <a:spcPts val="0"/>
              </a:spcBef>
              <a:spcAft>
                <a:spcPts val="800"/>
              </a:spcAft>
              <a:buFont typeface="+mj-lt"/>
              <a:buAutoNum type="arabicPeriod"/>
            </a:pPr>
            <a:r>
              <a:rPr lang="en-US" sz="2000" kern="100" dirty="0">
                <a:effectLst/>
                <a:ea typeface="Times New Roman" panose="02020603050405020304" pitchFamily="18" charset="0"/>
                <a:cs typeface="+mj-cs"/>
              </a:rPr>
              <a:t>How accurately can AI models classify pilgrims' comments as positive or negative?</a:t>
            </a:r>
            <a:endParaRPr lang="en-US" sz="2000" kern="100" dirty="0">
              <a:effectLst/>
              <a:ea typeface="Calibri" panose="020F0502020204030204" pitchFamily="34" charset="0"/>
              <a:cs typeface="+mj-cs"/>
            </a:endParaRPr>
          </a:p>
          <a:p>
            <a:pPr marL="342900" marR="0" lvl="0" indent="-342900" algn="l" rtl="0">
              <a:lnSpc>
                <a:spcPct val="100000"/>
              </a:lnSpc>
              <a:spcBef>
                <a:spcPts val="0"/>
              </a:spcBef>
              <a:spcAft>
                <a:spcPts val="0"/>
              </a:spcAft>
              <a:buFont typeface="+mj-lt"/>
              <a:buAutoNum type="arabicPeriod"/>
            </a:pPr>
            <a:r>
              <a:rPr lang="en-US" sz="2000" kern="100" dirty="0">
                <a:effectLst/>
                <a:ea typeface="Times New Roman" panose="02020603050405020304" pitchFamily="18" charset="0"/>
                <a:cs typeface="+mj-cs"/>
              </a:rPr>
              <a:t>What are the most common challenges pilgrims face based on AI-driven sentiment analysis, and which service areas require improvement? </a:t>
            </a:r>
            <a:endParaRPr lang="en-US" sz="2000" kern="100" dirty="0">
              <a:effectLst/>
              <a:ea typeface="Calibri" panose="020F0502020204030204" pitchFamily="34" charset="0"/>
              <a:cs typeface="+mj-cs"/>
            </a:endParaRPr>
          </a:p>
          <a:p>
            <a:pPr marL="342900" marR="0" lvl="0" indent="-342900" algn="l" rtl="0">
              <a:lnSpc>
                <a:spcPct val="107000"/>
              </a:lnSpc>
              <a:spcBef>
                <a:spcPts val="0"/>
              </a:spcBef>
              <a:spcAft>
                <a:spcPts val="0"/>
              </a:spcAft>
              <a:buFont typeface="+mj-lt"/>
              <a:buAutoNum type="arabicPeriod"/>
            </a:pPr>
            <a:r>
              <a:rPr lang="en-US" sz="2000" kern="100" dirty="0">
                <a:effectLst/>
                <a:ea typeface="Times New Roman" panose="02020603050405020304" pitchFamily="18" charset="0"/>
                <a:cs typeface="+mj-cs"/>
              </a:rPr>
              <a:t>How do the findings from AI-based analyses compare with previous studies regarding model accuracy?</a:t>
            </a:r>
            <a:endParaRPr lang="en-US" sz="2000" kern="100" dirty="0">
              <a:effectLst/>
              <a:ea typeface="Calibri" panose="020F0502020204030204" pitchFamily="34" charset="0"/>
              <a:cs typeface="+mj-cs"/>
            </a:endParaRPr>
          </a:p>
        </p:txBody>
      </p:sp>
    </p:spTree>
    <p:extLst>
      <p:ext uri="{BB962C8B-B14F-4D97-AF65-F5344CB8AC3E}">
        <p14:creationId xmlns:p14="http://schemas.microsoft.com/office/powerpoint/2010/main" val="1259655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75F94-D042-4F9F-9EE1-5993C3D9A2EE}"/>
              </a:ext>
            </a:extLst>
          </p:cNvPr>
          <p:cNvSpPr>
            <a:spLocks noGrp="1"/>
          </p:cNvSpPr>
          <p:nvPr>
            <p:ph type="title"/>
          </p:nvPr>
        </p:nvSpPr>
        <p:spPr>
          <a:xfrm>
            <a:off x="758687" y="375872"/>
            <a:ext cx="10909852" cy="1062162"/>
          </a:xfrm>
        </p:spPr>
        <p:txBody>
          <a:bodyPr>
            <a:normAutofit/>
          </a:bodyPr>
          <a:lstStyle/>
          <a:p>
            <a:pPr algn="ctr"/>
            <a:r>
              <a:rPr lang="en-US" b="1" u="sng" dirty="0"/>
              <a:t>Structural Design and Architecture:</a:t>
            </a:r>
            <a:endParaRPr lang="en-US" dirty="0"/>
          </a:p>
        </p:txBody>
      </p:sp>
      <p:sp>
        <p:nvSpPr>
          <p:cNvPr id="3" name="Rectangle 2">
            <a:extLst>
              <a:ext uri="{FF2B5EF4-FFF2-40B4-BE49-F238E27FC236}">
                <a16:creationId xmlns:a16="http://schemas.microsoft.com/office/drawing/2014/main" id="{3A378D41-9FE6-4AD4-B3B4-88B0C7402E1B}"/>
              </a:ext>
            </a:extLst>
          </p:cNvPr>
          <p:cNvSpPr/>
          <p:nvPr/>
        </p:nvSpPr>
        <p:spPr>
          <a:xfrm flipH="1">
            <a:off x="4341744" y="1354329"/>
            <a:ext cx="3349486" cy="400110"/>
          </a:xfrm>
          <a:prstGeom prst="rect">
            <a:avLst/>
          </a:prstGeom>
        </p:spPr>
        <p:txBody>
          <a:bodyPr wrap="square">
            <a:spAutoFit/>
          </a:bodyPr>
          <a:lstStyle/>
          <a:p>
            <a:pPr algn="ctr"/>
            <a:r>
              <a:rPr lang="en-US" sz="2000" b="1" dirty="0"/>
              <a:t>Home Page </a:t>
            </a:r>
          </a:p>
        </p:txBody>
      </p:sp>
      <p:cxnSp>
        <p:nvCxnSpPr>
          <p:cNvPr id="5" name="Straight Arrow Connector 4">
            <a:extLst>
              <a:ext uri="{FF2B5EF4-FFF2-40B4-BE49-F238E27FC236}">
                <a16:creationId xmlns:a16="http://schemas.microsoft.com/office/drawing/2014/main" id="{964845FE-0F9E-464A-96C0-46C691435B78}"/>
              </a:ext>
            </a:extLst>
          </p:cNvPr>
          <p:cNvCxnSpPr/>
          <p:nvPr/>
        </p:nvCxnSpPr>
        <p:spPr>
          <a:xfrm>
            <a:off x="6016487" y="1635778"/>
            <a:ext cx="0" cy="431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4D86EB2-5118-4D41-B756-EAD75FFBC214}"/>
              </a:ext>
            </a:extLst>
          </p:cNvPr>
          <p:cNvCxnSpPr>
            <a:cxnSpLocks/>
          </p:cNvCxnSpPr>
          <p:nvPr/>
        </p:nvCxnSpPr>
        <p:spPr>
          <a:xfrm>
            <a:off x="3295138" y="2097157"/>
            <a:ext cx="58143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ACB2E54-2D70-48FE-9E2B-4A494967B250}"/>
              </a:ext>
            </a:extLst>
          </p:cNvPr>
          <p:cNvCxnSpPr/>
          <p:nvPr/>
        </p:nvCxnSpPr>
        <p:spPr>
          <a:xfrm>
            <a:off x="3305077" y="2097157"/>
            <a:ext cx="0" cy="596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33692B7-FAA9-4CEA-AFC1-65C414CC3DC4}"/>
              </a:ext>
            </a:extLst>
          </p:cNvPr>
          <p:cNvCxnSpPr>
            <a:cxnSpLocks/>
          </p:cNvCxnSpPr>
          <p:nvPr/>
        </p:nvCxnSpPr>
        <p:spPr>
          <a:xfrm>
            <a:off x="6016487" y="2107096"/>
            <a:ext cx="0" cy="116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BB7B63E-013E-41CB-897D-073C150D7928}"/>
              </a:ext>
            </a:extLst>
          </p:cNvPr>
          <p:cNvCxnSpPr/>
          <p:nvPr/>
        </p:nvCxnSpPr>
        <p:spPr>
          <a:xfrm>
            <a:off x="9109530" y="2107096"/>
            <a:ext cx="0" cy="596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6469455-3942-4E09-9D8B-1C6C4E5130D5}"/>
              </a:ext>
            </a:extLst>
          </p:cNvPr>
          <p:cNvSpPr/>
          <p:nvPr/>
        </p:nvSpPr>
        <p:spPr>
          <a:xfrm>
            <a:off x="1282600" y="2678596"/>
            <a:ext cx="4435830" cy="400110"/>
          </a:xfrm>
          <a:prstGeom prst="rect">
            <a:avLst/>
          </a:prstGeom>
        </p:spPr>
        <p:txBody>
          <a:bodyPr wrap="none">
            <a:spAutoFit/>
          </a:bodyPr>
          <a:lstStyle/>
          <a:p>
            <a:r>
              <a:rPr lang="en-US" sz="2000" b="1" dirty="0"/>
              <a:t>A demographic and cross-demographic  </a:t>
            </a:r>
          </a:p>
        </p:txBody>
      </p:sp>
      <p:sp>
        <p:nvSpPr>
          <p:cNvPr id="19" name="Rectangle 18">
            <a:extLst>
              <a:ext uri="{FF2B5EF4-FFF2-40B4-BE49-F238E27FC236}">
                <a16:creationId xmlns:a16="http://schemas.microsoft.com/office/drawing/2014/main" id="{B4490D7A-F790-4216-9F7A-74775A52BD30}"/>
              </a:ext>
            </a:extLst>
          </p:cNvPr>
          <p:cNvSpPr/>
          <p:nvPr/>
        </p:nvSpPr>
        <p:spPr>
          <a:xfrm>
            <a:off x="3856449" y="3296926"/>
            <a:ext cx="4863383" cy="400110"/>
          </a:xfrm>
          <a:prstGeom prst="rect">
            <a:avLst/>
          </a:prstGeom>
        </p:spPr>
        <p:txBody>
          <a:bodyPr wrap="none">
            <a:spAutoFit/>
          </a:bodyPr>
          <a:lstStyle/>
          <a:p>
            <a:r>
              <a:rPr lang="en-US" sz="2000" b="1" dirty="0"/>
              <a:t>Text and Sentimental Classification Analysis </a:t>
            </a:r>
          </a:p>
        </p:txBody>
      </p:sp>
      <p:sp>
        <p:nvSpPr>
          <p:cNvPr id="20" name="Rectangle 19">
            <a:extLst>
              <a:ext uri="{FF2B5EF4-FFF2-40B4-BE49-F238E27FC236}">
                <a16:creationId xmlns:a16="http://schemas.microsoft.com/office/drawing/2014/main" id="{BDCF15A4-9B8A-43F5-8CB8-E1B3C3B00D56}"/>
              </a:ext>
            </a:extLst>
          </p:cNvPr>
          <p:cNvSpPr/>
          <p:nvPr/>
        </p:nvSpPr>
        <p:spPr>
          <a:xfrm>
            <a:off x="8434943" y="2678596"/>
            <a:ext cx="1892634" cy="400110"/>
          </a:xfrm>
          <a:prstGeom prst="rect">
            <a:avLst/>
          </a:prstGeom>
        </p:spPr>
        <p:txBody>
          <a:bodyPr wrap="none">
            <a:spAutoFit/>
          </a:bodyPr>
          <a:lstStyle/>
          <a:p>
            <a:r>
              <a:rPr lang="en-US" sz="2000" b="1" dirty="0"/>
              <a:t>Documentation</a:t>
            </a:r>
            <a:r>
              <a:rPr lang="en-US" dirty="0"/>
              <a:t> </a:t>
            </a:r>
          </a:p>
        </p:txBody>
      </p:sp>
      <p:cxnSp>
        <p:nvCxnSpPr>
          <p:cNvPr id="24" name="Straight Arrow Connector 23">
            <a:extLst>
              <a:ext uri="{FF2B5EF4-FFF2-40B4-BE49-F238E27FC236}">
                <a16:creationId xmlns:a16="http://schemas.microsoft.com/office/drawing/2014/main" id="{14BE221C-FF82-4146-AA63-1897B341D214}"/>
              </a:ext>
            </a:extLst>
          </p:cNvPr>
          <p:cNvCxnSpPr/>
          <p:nvPr/>
        </p:nvCxnSpPr>
        <p:spPr>
          <a:xfrm>
            <a:off x="1689652" y="3047928"/>
            <a:ext cx="0" cy="689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FF7241E3-AC16-464E-BA31-630CA83354EF}"/>
              </a:ext>
            </a:extLst>
          </p:cNvPr>
          <p:cNvSpPr/>
          <p:nvPr/>
        </p:nvSpPr>
        <p:spPr>
          <a:xfrm>
            <a:off x="320502" y="3720131"/>
            <a:ext cx="4128291" cy="2031325"/>
          </a:xfrm>
          <a:prstGeom prst="rect">
            <a:avLst/>
          </a:prstGeom>
        </p:spPr>
        <p:txBody>
          <a:bodyPr wrap="square">
            <a:spAutoFit/>
          </a:bodyPr>
          <a:lstStyle/>
          <a:p>
            <a:pPr marL="285750" indent="-285750">
              <a:buFont typeface="Wingdings" panose="05000000000000000000" pitchFamily="2" charset="2"/>
              <a:buChar char="Ø"/>
            </a:pPr>
            <a:r>
              <a:rPr lang="en-US" dirty="0"/>
              <a:t>Age Distribution Analysis</a:t>
            </a:r>
          </a:p>
          <a:p>
            <a:pPr marL="285750" indent="-285750">
              <a:buFont typeface="Wingdings" panose="05000000000000000000" pitchFamily="2" charset="2"/>
              <a:buChar char="Ø"/>
            </a:pPr>
            <a:r>
              <a:rPr lang="en-US" dirty="0"/>
              <a:t>Statistical overview </a:t>
            </a:r>
          </a:p>
          <a:p>
            <a:pPr marL="285750" indent="-285750">
              <a:buFont typeface="Wingdings" panose="05000000000000000000" pitchFamily="2" charset="2"/>
              <a:buChar char="Ø"/>
            </a:pPr>
            <a:r>
              <a:rPr lang="en-US" dirty="0"/>
              <a:t>Nationality and Gender Analysis</a:t>
            </a:r>
          </a:p>
          <a:p>
            <a:pPr marL="285750" indent="-285750">
              <a:buFont typeface="Wingdings" panose="05000000000000000000" pitchFamily="2" charset="2"/>
              <a:buChar char="Ø"/>
            </a:pPr>
            <a:r>
              <a:rPr lang="en-US" dirty="0"/>
              <a:t>Cross-Demographic Distribution</a:t>
            </a:r>
          </a:p>
          <a:p>
            <a:pPr marL="285750" indent="-285750">
              <a:buFont typeface="Wingdings" panose="05000000000000000000" pitchFamily="2" charset="2"/>
              <a:buChar char="Ø"/>
            </a:pPr>
            <a:r>
              <a:rPr lang="en-US" dirty="0"/>
              <a:t>Gender and Language Analysis</a:t>
            </a:r>
          </a:p>
          <a:p>
            <a:pPr marL="285750" indent="-285750">
              <a:buFont typeface="Wingdings" panose="05000000000000000000" pitchFamily="2" charset="2"/>
              <a:buChar char="Ø"/>
            </a:pPr>
            <a:r>
              <a:rPr lang="en-US" dirty="0"/>
              <a:t>Statistical Distribution and Descriptions with interpretations</a:t>
            </a:r>
          </a:p>
        </p:txBody>
      </p:sp>
      <p:cxnSp>
        <p:nvCxnSpPr>
          <p:cNvPr id="27" name="Straight Arrow Connector 26">
            <a:extLst>
              <a:ext uri="{FF2B5EF4-FFF2-40B4-BE49-F238E27FC236}">
                <a16:creationId xmlns:a16="http://schemas.microsoft.com/office/drawing/2014/main" id="{17024C9D-E4BA-4BD7-954E-DFF98CDAD99B}"/>
              </a:ext>
            </a:extLst>
          </p:cNvPr>
          <p:cNvCxnSpPr>
            <a:cxnSpLocks/>
          </p:cNvCxnSpPr>
          <p:nvPr/>
        </p:nvCxnSpPr>
        <p:spPr>
          <a:xfrm>
            <a:off x="6202334" y="3666258"/>
            <a:ext cx="11279" cy="1401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D508C835-4953-4443-B099-E0FB2C417102}"/>
              </a:ext>
            </a:extLst>
          </p:cNvPr>
          <p:cNvSpPr/>
          <p:nvPr/>
        </p:nvSpPr>
        <p:spPr>
          <a:xfrm>
            <a:off x="4448792" y="5090406"/>
            <a:ext cx="5491668" cy="923330"/>
          </a:xfrm>
          <a:prstGeom prst="rect">
            <a:avLst/>
          </a:prstGeom>
        </p:spPr>
        <p:txBody>
          <a:bodyPr wrap="square">
            <a:spAutoFit/>
          </a:bodyPr>
          <a:lstStyle/>
          <a:p>
            <a:pPr marL="285750" indent="-285750">
              <a:buFont typeface="Wingdings" panose="05000000000000000000" pitchFamily="2" charset="2"/>
              <a:buChar char="Ø"/>
            </a:pPr>
            <a:r>
              <a:rPr lang="en-US" dirty="0"/>
              <a:t>Input textual, API, URL, or file data for sentimental and textual analysis</a:t>
            </a:r>
          </a:p>
          <a:p>
            <a:pPr marL="285750" indent="-285750">
              <a:buFont typeface="Wingdings" panose="05000000000000000000" pitchFamily="2" charset="2"/>
              <a:buChar char="Ø"/>
            </a:pPr>
            <a:r>
              <a:rPr lang="en-US" dirty="0"/>
              <a:t>Service Categorization</a:t>
            </a:r>
          </a:p>
        </p:txBody>
      </p:sp>
      <p:cxnSp>
        <p:nvCxnSpPr>
          <p:cNvPr id="30" name="Straight Arrow Connector 29">
            <a:extLst>
              <a:ext uri="{FF2B5EF4-FFF2-40B4-BE49-F238E27FC236}">
                <a16:creationId xmlns:a16="http://schemas.microsoft.com/office/drawing/2014/main" id="{94AA5897-B63D-4C30-9AB1-CABBD8830EC6}"/>
              </a:ext>
            </a:extLst>
          </p:cNvPr>
          <p:cNvCxnSpPr/>
          <p:nvPr/>
        </p:nvCxnSpPr>
        <p:spPr>
          <a:xfrm>
            <a:off x="9960338" y="2994055"/>
            <a:ext cx="0" cy="672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4ECCA3BE-2BEB-413D-AA52-A4A81561265D}"/>
              </a:ext>
            </a:extLst>
          </p:cNvPr>
          <p:cNvSpPr/>
          <p:nvPr/>
        </p:nvSpPr>
        <p:spPr>
          <a:xfrm>
            <a:off x="8559498" y="3649885"/>
            <a:ext cx="3379674" cy="923330"/>
          </a:xfrm>
          <a:prstGeom prst="rect">
            <a:avLst/>
          </a:prstGeom>
        </p:spPr>
        <p:txBody>
          <a:bodyPr wrap="square">
            <a:spAutoFit/>
          </a:bodyPr>
          <a:lstStyle/>
          <a:p>
            <a:pPr marL="285750" indent="-285750">
              <a:buFont typeface="Wingdings" panose="05000000000000000000" pitchFamily="2" charset="2"/>
              <a:buChar char="Ø"/>
            </a:pPr>
            <a:r>
              <a:rPr lang="en-US" dirty="0"/>
              <a:t>Users read the manuals to understand how to use and navigate through the system</a:t>
            </a:r>
          </a:p>
        </p:txBody>
      </p:sp>
    </p:spTree>
    <p:extLst>
      <p:ext uri="{BB962C8B-B14F-4D97-AF65-F5344CB8AC3E}">
        <p14:creationId xmlns:p14="http://schemas.microsoft.com/office/powerpoint/2010/main" val="2053783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02F5A-FFF5-41F8-B3A1-11E61A8EA675}"/>
              </a:ext>
            </a:extLst>
          </p:cNvPr>
          <p:cNvSpPr>
            <a:spLocks noGrp="1"/>
          </p:cNvSpPr>
          <p:nvPr>
            <p:ph type="title"/>
          </p:nvPr>
        </p:nvSpPr>
        <p:spPr>
          <a:xfrm>
            <a:off x="569843" y="375064"/>
            <a:ext cx="10515600" cy="728179"/>
          </a:xfrm>
        </p:spPr>
        <p:txBody>
          <a:bodyPr/>
          <a:lstStyle/>
          <a:p>
            <a:r>
              <a:rPr lang="en-US" b="1" dirty="0"/>
              <a:t>Terminologies </a:t>
            </a:r>
          </a:p>
        </p:txBody>
      </p:sp>
      <p:sp>
        <p:nvSpPr>
          <p:cNvPr id="3" name="Rectangle 2">
            <a:extLst>
              <a:ext uri="{FF2B5EF4-FFF2-40B4-BE49-F238E27FC236}">
                <a16:creationId xmlns:a16="http://schemas.microsoft.com/office/drawing/2014/main" id="{23DD6030-BD8F-4FE1-9DBC-35B6A14B0BCD}"/>
              </a:ext>
            </a:extLst>
          </p:cNvPr>
          <p:cNvSpPr/>
          <p:nvPr/>
        </p:nvSpPr>
        <p:spPr>
          <a:xfrm>
            <a:off x="781879" y="1103243"/>
            <a:ext cx="10628242" cy="4985980"/>
          </a:xfrm>
          <a:prstGeom prst="rect">
            <a:avLst/>
          </a:prstGeom>
        </p:spPr>
        <p:txBody>
          <a:bodyPr wrap="square">
            <a:spAutoFit/>
          </a:bodyPr>
          <a:lstStyle/>
          <a:p>
            <a:pPr marL="285750" indent="-285750">
              <a:buFont typeface="Courier New" panose="02070309020205020404" pitchFamily="49" charset="0"/>
              <a:buChar char="o"/>
            </a:pPr>
            <a:r>
              <a:rPr lang="en-US" sz="2000" b="1" dirty="0"/>
              <a:t>Customer service analysis, CSA</a:t>
            </a:r>
            <a:r>
              <a:rPr lang="en-US" sz="2000" dirty="0"/>
              <a:t>:  The use of statistical methods or models to extract valuable insights from statistical data retrieved from customer feedback and sentiments (Kaplan, 2020).</a:t>
            </a:r>
          </a:p>
          <a:p>
            <a:pPr marL="285750" indent="-285750">
              <a:buFont typeface="Courier New" panose="02070309020205020404" pitchFamily="49" charset="0"/>
              <a:buChar char="o"/>
            </a:pPr>
            <a:r>
              <a:rPr lang="en-US" sz="2000" b="1" dirty="0"/>
              <a:t>Statistical methods: </a:t>
            </a:r>
            <a:r>
              <a:rPr lang="en-US" sz="2000" dirty="0"/>
              <a:t>A group of processes and methods for collecting, organizing, analyzing, and interpreting data to make informed decisions or understand a phenomenon (</a:t>
            </a:r>
            <a:r>
              <a:rPr lang="en-US" sz="2000" dirty="0" err="1"/>
              <a:t>Amanah</a:t>
            </a:r>
            <a:r>
              <a:rPr lang="en-US" sz="2000" dirty="0"/>
              <a:t> et al., 2021).</a:t>
            </a:r>
          </a:p>
          <a:p>
            <a:pPr marL="285750" indent="-285750">
              <a:buFont typeface="Courier New" panose="02070309020205020404" pitchFamily="49" charset="0"/>
              <a:buChar char="o"/>
            </a:pPr>
            <a:r>
              <a:rPr lang="en-US" sz="2000" b="1" dirty="0"/>
              <a:t>Data:</a:t>
            </a:r>
            <a:r>
              <a:rPr lang="en-US" sz="2000" dirty="0"/>
              <a:t>  information in the form of facts or numbers (Bohn, 2018).</a:t>
            </a:r>
          </a:p>
          <a:p>
            <a:pPr marL="285750" indent="-285750">
              <a:buFont typeface="Courier New" panose="02070309020205020404" pitchFamily="49" charset="0"/>
              <a:buChar char="o"/>
            </a:pPr>
            <a:r>
              <a:rPr lang="en-US" sz="2000" b="1" dirty="0"/>
              <a:t>Big Data</a:t>
            </a:r>
            <a:r>
              <a:rPr lang="en-US" sz="2000" dirty="0"/>
              <a:t>: A massive data generated at high velocity, and is highly diverse, valuable, and possesses big veracity (Putri &amp; </a:t>
            </a:r>
            <a:r>
              <a:rPr lang="en-US" sz="2000" dirty="0" err="1"/>
              <a:t>Puteri</a:t>
            </a:r>
            <a:r>
              <a:rPr lang="en-US" sz="2000" dirty="0"/>
              <a:t>, 2024).</a:t>
            </a:r>
          </a:p>
          <a:p>
            <a:pPr marL="285750" indent="-285750">
              <a:buFont typeface="Courier New" panose="02070309020205020404" pitchFamily="49" charset="0"/>
              <a:buChar char="o"/>
            </a:pPr>
            <a:r>
              <a:rPr lang="en-US" sz="2000" b="1" dirty="0"/>
              <a:t>GPT</a:t>
            </a:r>
            <a:r>
              <a:rPr lang="en-US" sz="2000" dirty="0"/>
              <a:t> refers to Generative Pre-trained Transformer (</a:t>
            </a:r>
            <a:r>
              <a:rPr lang="en-US" sz="2000" dirty="0" err="1"/>
              <a:t>Almutaibi</a:t>
            </a:r>
            <a:r>
              <a:rPr lang="en-US" sz="2000" dirty="0"/>
              <a:t>, 2024)</a:t>
            </a:r>
          </a:p>
          <a:p>
            <a:pPr marL="285750" indent="-285750">
              <a:buFont typeface="Courier New" panose="02070309020205020404" pitchFamily="49" charset="0"/>
              <a:buChar char="o"/>
            </a:pPr>
            <a:r>
              <a:rPr lang="en-US" sz="2000" b="1" dirty="0" err="1"/>
              <a:t>DistillBERT</a:t>
            </a:r>
            <a:r>
              <a:rPr lang="en-US" sz="2000" b="1" dirty="0"/>
              <a:t> and BERT </a:t>
            </a:r>
            <a:r>
              <a:rPr lang="en-US" sz="2000" dirty="0"/>
              <a:t>refers to Bidirectional Encoder Representations from Transformers (</a:t>
            </a:r>
            <a:r>
              <a:rPr lang="en-US" sz="2000" dirty="0" err="1"/>
              <a:t>Almutaibi</a:t>
            </a:r>
            <a:r>
              <a:rPr lang="en-US" sz="2000" dirty="0"/>
              <a:t>, 2024)</a:t>
            </a:r>
          </a:p>
          <a:p>
            <a:pPr marL="285750" indent="-285750">
              <a:buFont typeface="Courier New" panose="02070309020205020404" pitchFamily="49" charset="0"/>
              <a:buChar char="o"/>
            </a:pPr>
            <a:r>
              <a:rPr lang="en-US" sz="2000" b="1" dirty="0"/>
              <a:t>Accuracy: </a:t>
            </a:r>
            <a:r>
              <a:rPr lang="en-US" sz="2000" dirty="0"/>
              <a:t>Overall correctness (Bohn, 2018).</a:t>
            </a:r>
          </a:p>
          <a:p>
            <a:pPr marL="285750" indent="-285750">
              <a:buFont typeface="Courier New" panose="02070309020205020404" pitchFamily="49" charset="0"/>
              <a:buChar char="o"/>
            </a:pPr>
            <a:r>
              <a:rPr lang="en-US" sz="2000" b="1" dirty="0"/>
              <a:t>Precision: </a:t>
            </a:r>
            <a:r>
              <a:rPr lang="en-US" sz="2000" dirty="0"/>
              <a:t>Proportion of accurate positive predictions (</a:t>
            </a:r>
            <a:r>
              <a:rPr lang="en-US" sz="2000" dirty="0" err="1"/>
              <a:t>Almutaibi</a:t>
            </a:r>
            <a:r>
              <a:rPr lang="en-US" sz="2000" dirty="0"/>
              <a:t>, 2024)</a:t>
            </a:r>
          </a:p>
          <a:p>
            <a:pPr marL="285750" indent="-285750">
              <a:buFont typeface="Courier New" panose="02070309020205020404" pitchFamily="49" charset="0"/>
              <a:buChar char="o"/>
            </a:pPr>
            <a:r>
              <a:rPr lang="en-US" sz="2000" b="1" dirty="0"/>
              <a:t>Recall: </a:t>
            </a:r>
            <a:r>
              <a:rPr lang="en-US" sz="2000" dirty="0"/>
              <a:t>Proportion of accurate predictions (</a:t>
            </a:r>
            <a:r>
              <a:rPr lang="en-US" sz="2000" dirty="0" err="1"/>
              <a:t>Almutaibi</a:t>
            </a:r>
            <a:r>
              <a:rPr lang="en-US" sz="2000" dirty="0"/>
              <a:t>, 2024)</a:t>
            </a:r>
          </a:p>
          <a:p>
            <a:pPr marL="285750" indent="-285750">
              <a:buFont typeface="Courier New" panose="02070309020205020404" pitchFamily="49" charset="0"/>
              <a:buChar char="o"/>
            </a:pPr>
            <a:r>
              <a:rPr lang="en-US" sz="2000" b="1" dirty="0"/>
              <a:t>F1-Score: </a:t>
            </a:r>
            <a:r>
              <a:rPr lang="en-US" sz="2000" dirty="0"/>
              <a:t>precision and recall harmonic mean (Bohn, 2018).</a:t>
            </a:r>
          </a:p>
          <a:p>
            <a:pPr marL="285750" indent="-285750">
              <a:buFont typeface="Courier New" panose="02070309020205020404" pitchFamily="49" charset="0"/>
              <a:buChar char="o"/>
            </a:pPr>
            <a:r>
              <a:rPr lang="en-US" sz="2000" b="1" dirty="0"/>
              <a:t>Confusion Matrix</a:t>
            </a:r>
            <a:r>
              <a:rPr lang="en-US" sz="2000" dirty="0"/>
              <a:t>: Summarized evaluation performance of classification model (</a:t>
            </a:r>
            <a:r>
              <a:rPr lang="en-US" sz="2000" dirty="0" err="1"/>
              <a:t>Almutaibi</a:t>
            </a:r>
            <a:r>
              <a:rPr lang="en-US" sz="2000" dirty="0"/>
              <a:t>, 2024)</a:t>
            </a:r>
          </a:p>
          <a:p>
            <a:pPr marL="285750" indent="-285750">
              <a:buFont typeface="Courier New" panose="02070309020205020404" pitchFamily="49" charset="0"/>
              <a:buChar char="o"/>
            </a:pPr>
            <a:endParaRPr lang="en-US" dirty="0"/>
          </a:p>
        </p:txBody>
      </p:sp>
    </p:spTree>
    <p:extLst>
      <p:ext uri="{BB962C8B-B14F-4D97-AF65-F5344CB8AC3E}">
        <p14:creationId xmlns:p14="http://schemas.microsoft.com/office/powerpoint/2010/main" val="1271939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27867-51BD-46CC-A2A8-8F4CD6EB5ADE}"/>
              </a:ext>
            </a:extLst>
          </p:cNvPr>
          <p:cNvSpPr>
            <a:spLocks noGrp="1"/>
          </p:cNvSpPr>
          <p:nvPr>
            <p:ph type="title"/>
          </p:nvPr>
        </p:nvSpPr>
        <p:spPr>
          <a:xfrm>
            <a:off x="838200" y="911777"/>
            <a:ext cx="10515600" cy="1078715"/>
          </a:xfrm>
        </p:spPr>
        <p:txBody>
          <a:bodyPr/>
          <a:lstStyle/>
          <a:p>
            <a:pPr algn="ctr"/>
            <a:r>
              <a:rPr lang="en-US" b="1" dirty="0"/>
              <a:t>Trained models in this project </a:t>
            </a:r>
          </a:p>
        </p:txBody>
      </p:sp>
      <p:pic>
        <p:nvPicPr>
          <p:cNvPr id="7" name="Picture 6">
            <a:extLst>
              <a:ext uri="{FF2B5EF4-FFF2-40B4-BE49-F238E27FC236}">
                <a16:creationId xmlns:a16="http://schemas.microsoft.com/office/drawing/2014/main" id="{E8D6FB8A-3B44-4DD5-8B85-B77F247ABE76}"/>
              </a:ext>
            </a:extLst>
          </p:cNvPr>
          <p:cNvPicPr>
            <a:picLocks noChangeAspect="1"/>
          </p:cNvPicPr>
          <p:nvPr/>
        </p:nvPicPr>
        <p:blipFill>
          <a:blip r:embed="rId2"/>
          <a:stretch>
            <a:fillRect/>
          </a:stretch>
        </p:blipFill>
        <p:spPr>
          <a:xfrm>
            <a:off x="994844" y="1908313"/>
            <a:ext cx="10202311" cy="3697357"/>
          </a:xfrm>
          <a:prstGeom prst="rect">
            <a:avLst/>
          </a:prstGeom>
        </p:spPr>
      </p:pic>
    </p:spTree>
    <p:extLst>
      <p:ext uri="{BB962C8B-B14F-4D97-AF65-F5344CB8AC3E}">
        <p14:creationId xmlns:p14="http://schemas.microsoft.com/office/powerpoint/2010/main" val="129295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FE533-F071-4229-82F0-263170BB00BB}"/>
              </a:ext>
            </a:extLst>
          </p:cNvPr>
          <p:cNvSpPr>
            <a:spLocks noGrp="1"/>
          </p:cNvSpPr>
          <p:nvPr>
            <p:ph type="title"/>
          </p:nvPr>
        </p:nvSpPr>
        <p:spPr>
          <a:xfrm>
            <a:off x="838200" y="365125"/>
            <a:ext cx="10515600" cy="767099"/>
          </a:xfrm>
        </p:spPr>
        <p:txBody>
          <a:bodyPr/>
          <a:lstStyle/>
          <a:p>
            <a:r>
              <a:rPr lang="en-US" b="1" dirty="0"/>
              <a:t>Literature Review </a:t>
            </a:r>
          </a:p>
        </p:txBody>
      </p:sp>
      <p:sp>
        <p:nvSpPr>
          <p:cNvPr id="3" name="Rectangle 2">
            <a:extLst>
              <a:ext uri="{FF2B5EF4-FFF2-40B4-BE49-F238E27FC236}">
                <a16:creationId xmlns:a16="http://schemas.microsoft.com/office/drawing/2014/main" id="{3A335E1C-BFD0-4E99-A8DC-024123B28957}"/>
              </a:ext>
            </a:extLst>
          </p:cNvPr>
          <p:cNvSpPr/>
          <p:nvPr/>
        </p:nvSpPr>
        <p:spPr>
          <a:xfrm>
            <a:off x="994336" y="1337727"/>
            <a:ext cx="10713960" cy="4401205"/>
          </a:xfrm>
          <a:prstGeom prst="rect">
            <a:avLst/>
          </a:prstGeom>
        </p:spPr>
        <p:txBody>
          <a:bodyPr wrap="square">
            <a:spAutoFit/>
          </a:bodyPr>
          <a:lstStyle/>
          <a:p>
            <a:pPr marL="285750" indent="-285750">
              <a:buFont typeface="Wingdings" panose="05000000000000000000" pitchFamily="2" charset="2"/>
              <a:buChar char="q"/>
            </a:pPr>
            <a:r>
              <a:rPr lang="en-US" sz="2000" b="1" dirty="0"/>
              <a:t>Digital technology and customer service analysis  </a:t>
            </a:r>
          </a:p>
          <a:p>
            <a:pPr marL="285750" indent="-285750">
              <a:buFont typeface="Courier New" panose="02070309020205020404" pitchFamily="49" charset="0"/>
              <a:buChar char="o"/>
            </a:pPr>
            <a:r>
              <a:rPr lang="en-US" sz="2000" dirty="0"/>
              <a:t>Digital technology is effective in improving customer experience </a:t>
            </a:r>
          </a:p>
          <a:p>
            <a:pPr marL="285750" indent="-285750">
              <a:buFont typeface="Courier New" panose="02070309020205020404" pitchFamily="49" charset="0"/>
              <a:buChar char="o"/>
            </a:pPr>
            <a:r>
              <a:rPr lang="en-US" sz="2000" dirty="0"/>
              <a:t>Digital technology can be used in Hajj and Umrah </a:t>
            </a:r>
          </a:p>
          <a:p>
            <a:pPr marL="285750" indent="-285750">
              <a:buFont typeface="Courier New" panose="02070309020205020404" pitchFamily="49" charset="0"/>
              <a:buChar char="o"/>
            </a:pPr>
            <a:r>
              <a:rPr lang="en-US" sz="2000" dirty="0"/>
              <a:t>It improves credibility, promote visitor engagement, leverage on perception, and build on trust</a:t>
            </a:r>
          </a:p>
          <a:p>
            <a:pPr marL="285750" indent="-285750">
              <a:buFont typeface="Courier New" panose="02070309020205020404" pitchFamily="49" charset="0"/>
              <a:buChar char="o"/>
            </a:pPr>
            <a:r>
              <a:rPr lang="en-US" sz="2000" b="1" i="1" dirty="0"/>
              <a:t>Ahmadi and </a:t>
            </a:r>
            <a:r>
              <a:rPr lang="en-US" sz="2000" b="1" i="1" dirty="0" err="1"/>
              <a:t>Sudahri</a:t>
            </a:r>
            <a:r>
              <a:rPr lang="en-US" sz="2000" b="1" i="1" dirty="0"/>
              <a:t> (2025) and </a:t>
            </a:r>
            <a:r>
              <a:rPr lang="en-US" sz="2000" b="1" i="1" dirty="0" err="1"/>
              <a:t>Firdos</a:t>
            </a:r>
            <a:r>
              <a:rPr lang="en-US" sz="2000" b="1" i="1" dirty="0"/>
              <a:t> and </a:t>
            </a:r>
            <a:r>
              <a:rPr lang="en-US" sz="2000" b="1" i="1" dirty="0" err="1"/>
              <a:t>Dermawan</a:t>
            </a:r>
            <a:r>
              <a:rPr lang="en-US" sz="2000" b="1" i="1" dirty="0"/>
              <a:t> (2023) </a:t>
            </a:r>
          </a:p>
          <a:p>
            <a:pPr marL="285750" indent="-285750">
              <a:buFont typeface="Wingdings" panose="05000000000000000000" pitchFamily="2" charset="2"/>
              <a:buChar char="q"/>
            </a:pPr>
            <a:r>
              <a:rPr lang="en-US" sz="2000" b="1" dirty="0"/>
              <a:t>Benefits of Improving Customer Service </a:t>
            </a:r>
          </a:p>
          <a:p>
            <a:pPr marL="285750" indent="-285750">
              <a:buFont typeface="Courier New" panose="02070309020205020404" pitchFamily="49" charset="0"/>
              <a:buChar char="o"/>
            </a:pPr>
            <a:r>
              <a:rPr lang="en-US" sz="2000" dirty="0"/>
              <a:t>Improve worship experience</a:t>
            </a:r>
          </a:p>
          <a:p>
            <a:pPr marL="285750" indent="-285750">
              <a:buFont typeface="Courier New" panose="02070309020205020404" pitchFamily="49" charset="0"/>
              <a:buChar char="o"/>
            </a:pPr>
            <a:r>
              <a:rPr lang="en-US" sz="2000" dirty="0"/>
              <a:t>Enhance customer comfort </a:t>
            </a:r>
          </a:p>
          <a:p>
            <a:pPr marL="285750" indent="-285750">
              <a:buFont typeface="Courier New" panose="02070309020205020404" pitchFamily="49" charset="0"/>
              <a:buChar char="o"/>
            </a:pPr>
            <a:r>
              <a:rPr lang="en-US" sz="2000" dirty="0"/>
              <a:t>Facilitate achievement of vision 2030 at Hajj and Umrah </a:t>
            </a:r>
          </a:p>
          <a:p>
            <a:pPr marL="285750" indent="-285750">
              <a:buFont typeface="Courier New" panose="02070309020205020404" pitchFamily="49" charset="0"/>
              <a:buChar char="o"/>
            </a:pPr>
            <a:r>
              <a:rPr lang="en-US" sz="2000" b="1" i="1" dirty="0"/>
              <a:t>Subhan et al. (2023) </a:t>
            </a:r>
          </a:p>
          <a:p>
            <a:pPr marL="285750" indent="-285750">
              <a:buFont typeface="Wingdings" panose="05000000000000000000" pitchFamily="2" charset="2"/>
              <a:buChar char="q"/>
            </a:pPr>
            <a:r>
              <a:rPr lang="en-US" sz="2000" b="1" dirty="0"/>
              <a:t>Natural Language Processing and Pretrained Models </a:t>
            </a:r>
          </a:p>
          <a:p>
            <a:pPr marL="285750" indent="-285750">
              <a:buFont typeface="Courier New" panose="02070309020205020404" pitchFamily="49" charset="0"/>
              <a:buChar char="o"/>
            </a:pPr>
            <a:r>
              <a:rPr lang="en-US" sz="2000" dirty="0"/>
              <a:t>Pretrained models are effective in natural language processing tasks</a:t>
            </a:r>
          </a:p>
          <a:p>
            <a:pPr marL="285750" indent="-285750">
              <a:buFont typeface="Courier New" panose="02070309020205020404" pitchFamily="49" charset="0"/>
              <a:buChar char="o"/>
            </a:pPr>
            <a:r>
              <a:rPr lang="en-US" sz="2000" dirty="0"/>
              <a:t> traditional models are poor in analyzing multilingual textual data </a:t>
            </a:r>
          </a:p>
          <a:p>
            <a:pPr marL="285750" indent="-285750">
              <a:buFont typeface="Courier New" panose="02070309020205020404" pitchFamily="49" charset="0"/>
              <a:buChar char="o"/>
            </a:pPr>
            <a:r>
              <a:rPr lang="en-US" sz="2000" b="1" i="1" dirty="0" err="1"/>
              <a:t>Almutaibi</a:t>
            </a:r>
            <a:r>
              <a:rPr lang="en-US" sz="2000" b="1" i="1" dirty="0"/>
              <a:t> (2024) and </a:t>
            </a:r>
            <a:r>
              <a:rPr lang="en-US" sz="2000" b="1" i="1" dirty="0" err="1"/>
              <a:t>Salıcı</a:t>
            </a:r>
            <a:r>
              <a:rPr lang="en-US" sz="2000" b="1" i="1" dirty="0"/>
              <a:t> &amp; </a:t>
            </a:r>
            <a:r>
              <a:rPr lang="en-US" sz="2000" b="1" i="1" dirty="0" err="1"/>
              <a:t>Ölçer</a:t>
            </a:r>
            <a:r>
              <a:rPr lang="en-US" sz="2000" b="1" i="1" dirty="0"/>
              <a:t> (2024) </a:t>
            </a:r>
          </a:p>
        </p:txBody>
      </p:sp>
    </p:spTree>
    <p:extLst>
      <p:ext uri="{BB962C8B-B14F-4D97-AF65-F5344CB8AC3E}">
        <p14:creationId xmlns:p14="http://schemas.microsoft.com/office/powerpoint/2010/main" val="262903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EC55F-5FF3-4D78-879D-BFC099342752}"/>
              </a:ext>
            </a:extLst>
          </p:cNvPr>
          <p:cNvSpPr>
            <a:spLocks noGrp="1"/>
          </p:cNvSpPr>
          <p:nvPr>
            <p:ph type="title"/>
          </p:nvPr>
        </p:nvSpPr>
        <p:spPr>
          <a:xfrm>
            <a:off x="838200" y="529511"/>
            <a:ext cx="10515600" cy="1016535"/>
          </a:xfrm>
        </p:spPr>
        <p:txBody>
          <a:bodyPr/>
          <a:lstStyle/>
          <a:p>
            <a:r>
              <a:rPr lang="en-US" b="1" dirty="0"/>
              <a:t>Research Gaps </a:t>
            </a:r>
          </a:p>
        </p:txBody>
      </p:sp>
      <p:sp>
        <p:nvSpPr>
          <p:cNvPr id="3" name="Rectangle 2">
            <a:extLst>
              <a:ext uri="{FF2B5EF4-FFF2-40B4-BE49-F238E27FC236}">
                <a16:creationId xmlns:a16="http://schemas.microsoft.com/office/drawing/2014/main" id="{3A1C6816-B30A-4A4A-A17F-15BCE9CE0599}"/>
              </a:ext>
            </a:extLst>
          </p:cNvPr>
          <p:cNvSpPr/>
          <p:nvPr/>
        </p:nvSpPr>
        <p:spPr>
          <a:xfrm>
            <a:off x="1253446" y="1618769"/>
            <a:ext cx="10100353" cy="3785652"/>
          </a:xfrm>
          <a:prstGeom prst="rect">
            <a:avLst/>
          </a:prstGeom>
        </p:spPr>
        <p:txBody>
          <a:bodyPr wrap="square">
            <a:spAutoFit/>
          </a:bodyPr>
          <a:lstStyle/>
          <a:p>
            <a:pPr marL="285750" indent="-285750">
              <a:buFont typeface="Wingdings" panose="05000000000000000000" pitchFamily="2" charset="2"/>
              <a:buChar char="q"/>
            </a:pPr>
            <a:r>
              <a:rPr lang="en-US" sz="2000" b="1" dirty="0"/>
              <a:t>Gaps</a:t>
            </a:r>
          </a:p>
          <a:p>
            <a:pPr marL="285750" indent="-285750">
              <a:buFont typeface="Wingdings" panose="05000000000000000000" pitchFamily="2" charset="2"/>
              <a:buChar char="v"/>
            </a:pPr>
            <a:r>
              <a:rPr lang="en-US" sz="2000" dirty="0"/>
              <a:t>Previous studies are purely theoretical </a:t>
            </a:r>
          </a:p>
          <a:p>
            <a:pPr marL="285750" indent="-285750">
              <a:buFont typeface="Wingdings" panose="05000000000000000000" pitchFamily="2" charset="2"/>
              <a:buChar char="v"/>
            </a:pPr>
            <a:r>
              <a:rPr lang="en-US" sz="2000" dirty="0"/>
              <a:t>Little practical project exists to validate findings</a:t>
            </a:r>
          </a:p>
          <a:p>
            <a:pPr marL="285750" indent="-285750">
              <a:buFont typeface="Wingdings" panose="05000000000000000000" pitchFamily="2" charset="2"/>
              <a:buChar char="v"/>
            </a:pPr>
            <a:r>
              <a:rPr lang="en-US" sz="2000" dirty="0"/>
              <a:t>Studies overlooked the use of complex multilingual data like Umrah and Hajj data from Saudi Arabia</a:t>
            </a:r>
          </a:p>
          <a:p>
            <a:pPr marL="285750" indent="-285750">
              <a:buFont typeface="Wingdings" panose="05000000000000000000" pitchFamily="2" charset="2"/>
              <a:buChar char="v"/>
            </a:pPr>
            <a:r>
              <a:rPr lang="en-US" sz="2000" dirty="0"/>
              <a:t>Studies used SmartPLS3.2.9 and SEM-PLS applications and not pretrained transformers </a:t>
            </a:r>
          </a:p>
          <a:p>
            <a:pPr marL="285750" indent="-285750">
              <a:buFont typeface="Wingdings" panose="05000000000000000000" pitchFamily="2" charset="2"/>
              <a:buChar char="v"/>
            </a:pPr>
            <a:r>
              <a:rPr lang="en-US" sz="2000" dirty="0"/>
              <a:t>Studies fall short in real-time sentiment analysis and text classification of pilgrimage comments and feedback</a:t>
            </a:r>
          </a:p>
          <a:p>
            <a:pPr marL="285750" indent="-285750">
              <a:buFont typeface="Wingdings" panose="05000000000000000000" pitchFamily="2" charset="2"/>
              <a:buChar char="q"/>
            </a:pPr>
            <a:r>
              <a:rPr lang="en-US" sz="2000" b="1" dirty="0"/>
              <a:t>Implication of this study </a:t>
            </a:r>
          </a:p>
          <a:p>
            <a:r>
              <a:rPr lang="en-US" sz="2000" dirty="0"/>
              <a:t>This study and the system developed bridge current gaps in research by introducing an NLP deep learning and transformer text classification and sentiment analysis AI-powered driven system, classifying and analyzing real-time, multi-lingual comments.</a:t>
            </a:r>
          </a:p>
        </p:txBody>
      </p:sp>
    </p:spTree>
    <p:extLst>
      <p:ext uri="{BB962C8B-B14F-4D97-AF65-F5344CB8AC3E}">
        <p14:creationId xmlns:p14="http://schemas.microsoft.com/office/powerpoint/2010/main" val="1488013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63BDE6-5A42-4372-B011-6F9AF4B0F14F}"/>
              </a:ext>
            </a:extLst>
          </p:cNvPr>
          <p:cNvSpPr/>
          <p:nvPr/>
        </p:nvSpPr>
        <p:spPr>
          <a:xfrm>
            <a:off x="2534324" y="417444"/>
            <a:ext cx="6581482" cy="707886"/>
          </a:xfrm>
          <a:prstGeom prst="rect">
            <a:avLst/>
          </a:prstGeom>
        </p:spPr>
        <p:txBody>
          <a:bodyPr wrap="none">
            <a:spAutoFit/>
          </a:bodyPr>
          <a:lstStyle/>
          <a:p>
            <a:pPr algn="ctr"/>
            <a:r>
              <a:rPr lang="en-US" sz="4000" b="1" u="sng" dirty="0">
                <a:latin typeface="+mj-lt"/>
              </a:rPr>
              <a:t>Overview: Project Methodology</a:t>
            </a:r>
          </a:p>
        </p:txBody>
      </p:sp>
      <p:sp>
        <p:nvSpPr>
          <p:cNvPr id="4" name="Rectangle 3">
            <a:extLst>
              <a:ext uri="{FF2B5EF4-FFF2-40B4-BE49-F238E27FC236}">
                <a16:creationId xmlns:a16="http://schemas.microsoft.com/office/drawing/2014/main" id="{D5C434A1-1FCD-4D89-84D3-D14A18E9C6B2}"/>
              </a:ext>
            </a:extLst>
          </p:cNvPr>
          <p:cNvSpPr/>
          <p:nvPr/>
        </p:nvSpPr>
        <p:spPr>
          <a:xfrm>
            <a:off x="5098774" y="3220278"/>
            <a:ext cx="1630017" cy="4770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D0C8BDC-4184-41B4-AA4A-7D9C5B84CC43}"/>
              </a:ext>
            </a:extLst>
          </p:cNvPr>
          <p:cNvSpPr/>
          <p:nvPr/>
        </p:nvSpPr>
        <p:spPr>
          <a:xfrm>
            <a:off x="5168348" y="4820478"/>
            <a:ext cx="1630017" cy="9939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8D522E1-EE7B-452F-9308-6184D5C7ABE1}"/>
              </a:ext>
            </a:extLst>
          </p:cNvPr>
          <p:cNvPicPr>
            <a:picLocks noChangeAspect="1"/>
          </p:cNvPicPr>
          <p:nvPr/>
        </p:nvPicPr>
        <p:blipFill>
          <a:blip r:embed="rId2"/>
          <a:stretch>
            <a:fillRect/>
          </a:stretch>
        </p:blipFill>
        <p:spPr>
          <a:xfrm>
            <a:off x="2495550" y="1356691"/>
            <a:ext cx="7200900" cy="4457700"/>
          </a:xfrm>
          <a:prstGeom prst="rect">
            <a:avLst/>
          </a:prstGeom>
        </p:spPr>
      </p:pic>
    </p:spTree>
    <p:extLst>
      <p:ext uri="{BB962C8B-B14F-4D97-AF65-F5344CB8AC3E}">
        <p14:creationId xmlns:p14="http://schemas.microsoft.com/office/powerpoint/2010/main" val="2801049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EDE0CD-5636-4372-BE2C-E27AEFEAF5BD}"/>
              </a:ext>
            </a:extLst>
          </p:cNvPr>
          <p:cNvSpPr/>
          <p:nvPr/>
        </p:nvSpPr>
        <p:spPr>
          <a:xfrm>
            <a:off x="3261666" y="1775933"/>
            <a:ext cx="5668668" cy="769441"/>
          </a:xfrm>
          <a:prstGeom prst="rect">
            <a:avLst/>
          </a:prstGeom>
        </p:spPr>
        <p:txBody>
          <a:bodyPr wrap="none">
            <a:spAutoFit/>
          </a:bodyPr>
          <a:lstStyle/>
          <a:p>
            <a:r>
              <a:rPr lang="en-US" sz="4400" b="1" u="sng" dirty="0">
                <a:latin typeface="+mj-lt"/>
              </a:rPr>
              <a:t>Datasets/Data Collection</a:t>
            </a:r>
          </a:p>
        </p:txBody>
      </p:sp>
      <p:sp>
        <p:nvSpPr>
          <p:cNvPr id="6" name="Rectangle 5">
            <a:extLst>
              <a:ext uri="{FF2B5EF4-FFF2-40B4-BE49-F238E27FC236}">
                <a16:creationId xmlns:a16="http://schemas.microsoft.com/office/drawing/2014/main" id="{C27E72B3-436C-4684-B4DB-7191CF5921DD}"/>
              </a:ext>
            </a:extLst>
          </p:cNvPr>
          <p:cNvSpPr/>
          <p:nvPr/>
        </p:nvSpPr>
        <p:spPr>
          <a:xfrm>
            <a:off x="2667656" y="2907061"/>
            <a:ext cx="7073860" cy="1429622"/>
          </a:xfrm>
          <a:prstGeom prst="rect">
            <a:avLst/>
          </a:prstGeom>
        </p:spPr>
        <p:txBody>
          <a:bodyPr wrap="none">
            <a:spAutoFit/>
          </a:bodyPr>
          <a:lstStyle/>
          <a:p>
            <a:pPr marL="285750" indent="-285750">
              <a:lnSpc>
                <a:spcPct val="150000"/>
              </a:lnSpc>
              <a:buFont typeface="Wingdings" panose="05000000000000000000" pitchFamily="2" charset="2"/>
              <a:buChar char="§"/>
            </a:pPr>
            <a:r>
              <a:rPr lang="en-US" sz="2000" b="1" dirty="0"/>
              <a:t>Dataset Used: </a:t>
            </a:r>
            <a:r>
              <a:rPr lang="en-US" sz="2000" dirty="0"/>
              <a:t>Comments and Feedback from Pilgrimages </a:t>
            </a:r>
          </a:p>
          <a:p>
            <a:pPr marL="285750" indent="-285750">
              <a:lnSpc>
                <a:spcPct val="150000"/>
              </a:lnSpc>
              <a:buFont typeface="Wingdings" panose="05000000000000000000" pitchFamily="2" charset="2"/>
              <a:buChar char="§"/>
            </a:pPr>
            <a:r>
              <a:rPr lang="en-US" sz="2000" b="1" dirty="0"/>
              <a:t>Data Collection: </a:t>
            </a:r>
            <a:r>
              <a:rPr lang="en-US" sz="2000" dirty="0"/>
              <a:t>From the Ministry of Hajj and Umrah database </a:t>
            </a:r>
          </a:p>
          <a:p>
            <a:pPr marL="285750" indent="-285750">
              <a:lnSpc>
                <a:spcPct val="150000"/>
              </a:lnSpc>
              <a:buFont typeface="Wingdings" panose="05000000000000000000" pitchFamily="2" charset="2"/>
              <a:buChar char="§"/>
            </a:pPr>
            <a:r>
              <a:rPr lang="en-US" sz="2000" b="1" dirty="0"/>
              <a:t>Source </a:t>
            </a:r>
            <a:r>
              <a:rPr lang="en-US" sz="2000" dirty="0"/>
              <a:t>: https://www.haj.gov.sa/Home</a:t>
            </a:r>
          </a:p>
        </p:txBody>
      </p:sp>
    </p:spTree>
    <p:extLst>
      <p:ext uri="{BB962C8B-B14F-4D97-AF65-F5344CB8AC3E}">
        <p14:creationId xmlns:p14="http://schemas.microsoft.com/office/powerpoint/2010/main" val="3850210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68576-D54A-4D5A-9DD7-38ED5818827B}"/>
              </a:ext>
            </a:extLst>
          </p:cNvPr>
          <p:cNvSpPr>
            <a:spLocks noGrp="1"/>
          </p:cNvSpPr>
          <p:nvPr>
            <p:ph type="title"/>
          </p:nvPr>
        </p:nvSpPr>
        <p:spPr>
          <a:xfrm>
            <a:off x="704309" y="438577"/>
            <a:ext cx="10515600" cy="991064"/>
          </a:xfrm>
        </p:spPr>
        <p:txBody>
          <a:bodyPr/>
          <a:lstStyle/>
          <a:p>
            <a:pPr algn="ctr"/>
            <a:r>
              <a:rPr lang="en-US" b="1" u="sng" dirty="0"/>
              <a:t>Data Description </a:t>
            </a:r>
          </a:p>
        </p:txBody>
      </p:sp>
      <p:sp>
        <p:nvSpPr>
          <p:cNvPr id="3" name="Rectangle 2">
            <a:extLst>
              <a:ext uri="{FF2B5EF4-FFF2-40B4-BE49-F238E27FC236}">
                <a16:creationId xmlns:a16="http://schemas.microsoft.com/office/drawing/2014/main" id="{557CC459-CDBA-4E35-A0E4-62E81D215D3A}"/>
              </a:ext>
            </a:extLst>
          </p:cNvPr>
          <p:cNvSpPr/>
          <p:nvPr/>
        </p:nvSpPr>
        <p:spPr>
          <a:xfrm>
            <a:off x="2064313" y="1580689"/>
            <a:ext cx="7795304" cy="1323439"/>
          </a:xfrm>
          <a:prstGeom prst="rect">
            <a:avLst/>
          </a:prstGeom>
        </p:spPr>
        <p:txBody>
          <a:bodyPr wrap="square">
            <a:spAutoFit/>
          </a:bodyPr>
          <a:lstStyle/>
          <a:p>
            <a:pPr marL="285750" indent="-285750">
              <a:buFont typeface="Wingdings" panose="05000000000000000000" pitchFamily="2" charset="2"/>
              <a:buChar char="q"/>
            </a:pPr>
            <a:r>
              <a:rPr lang="en-US" sz="2000" dirty="0"/>
              <a:t>10500 observations (rows) and 5 columns (variables </a:t>
            </a:r>
          </a:p>
          <a:p>
            <a:pPr marL="285750" indent="-285750">
              <a:buFont typeface="Wingdings" panose="05000000000000000000" pitchFamily="2" charset="2"/>
              <a:buChar char="q"/>
            </a:pPr>
            <a:r>
              <a:rPr lang="en-US" sz="2000" dirty="0"/>
              <a:t>All columns are categorical except Age which contains numerical data </a:t>
            </a:r>
          </a:p>
          <a:p>
            <a:pPr marL="285750" indent="-285750">
              <a:buFont typeface="Wingdings" panose="05000000000000000000" pitchFamily="2" charset="2"/>
              <a:buChar char="q"/>
            </a:pPr>
            <a:r>
              <a:rPr lang="en-US" sz="2000" dirty="0"/>
              <a:t>Data is 410.3+ KB in usage, good for CPU use</a:t>
            </a:r>
          </a:p>
          <a:p>
            <a:pPr marL="285750" indent="-285750">
              <a:buFont typeface="Wingdings" panose="05000000000000000000" pitchFamily="2" charset="2"/>
              <a:buChar char="q"/>
            </a:pPr>
            <a:r>
              <a:rPr lang="en-US" sz="2000" dirty="0"/>
              <a:t>Names of columns and description </a:t>
            </a:r>
          </a:p>
        </p:txBody>
      </p:sp>
      <p:pic>
        <p:nvPicPr>
          <p:cNvPr id="8" name="Picture 7">
            <a:extLst>
              <a:ext uri="{FF2B5EF4-FFF2-40B4-BE49-F238E27FC236}">
                <a16:creationId xmlns:a16="http://schemas.microsoft.com/office/drawing/2014/main" id="{EBA6DF01-F61B-4052-9C3E-0D72F6DC7EA6}"/>
              </a:ext>
            </a:extLst>
          </p:cNvPr>
          <p:cNvPicPr>
            <a:picLocks noChangeAspect="1"/>
          </p:cNvPicPr>
          <p:nvPr/>
        </p:nvPicPr>
        <p:blipFill>
          <a:blip r:embed="rId2"/>
          <a:stretch>
            <a:fillRect/>
          </a:stretch>
        </p:blipFill>
        <p:spPr>
          <a:xfrm>
            <a:off x="2649024" y="3135606"/>
            <a:ext cx="7378784" cy="2580311"/>
          </a:xfrm>
          <a:prstGeom prst="rect">
            <a:avLst/>
          </a:prstGeom>
        </p:spPr>
      </p:pic>
    </p:spTree>
    <p:extLst>
      <p:ext uri="{BB962C8B-B14F-4D97-AF65-F5344CB8AC3E}">
        <p14:creationId xmlns:p14="http://schemas.microsoft.com/office/powerpoint/2010/main" val="3568708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AABE0-8FE2-41FE-BE3A-C13392024D51}"/>
              </a:ext>
            </a:extLst>
          </p:cNvPr>
          <p:cNvSpPr>
            <a:spLocks noGrp="1"/>
          </p:cNvSpPr>
          <p:nvPr>
            <p:ph type="title"/>
          </p:nvPr>
        </p:nvSpPr>
        <p:spPr>
          <a:xfrm>
            <a:off x="699052" y="150260"/>
            <a:ext cx="10515600" cy="847449"/>
          </a:xfrm>
        </p:spPr>
        <p:txBody>
          <a:bodyPr>
            <a:normAutofit fontScale="90000"/>
          </a:bodyPr>
          <a:lstStyle/>
          <a:p>
            <a:pPr algn="ctr"/>
            <a:br>
              <a:rPr lang="en-US" b="1" u="sng" dirty="0"/>
            </a:br>
            <a:r>
              <a:rPr lang="en-US" b="1" u="sng" dirty="0"/>
              <a:t>Data Understanding: Statistical Description</a:t>
            </a:r>
            <a:br>
              <a:rPr lang="en-US" b="1" u="sng" dirty="0"/>
            </a:br>
            <a:r>
              <a:rPr lang="en-US" sz="3100" b="1" i="1" dirty="0"/>
              <a:t>Formulas are displayed in the Appendix </a:t>
            </a:r>
            <a:br>
              <a:rPr lang="en-US" b="1" dirty="0"/>
            </a:br>
            <a:endParaRPr lang="en-US" dirty="0"/>
          </a:p>
        </p:txBody>
      </p:sp>
      <p:sp>
        <p:nvSpPr>
          <p:cNvPr id="3" name="Rectangle 2">
            <a:extLst>
              <a:ext uri="{FF2B5EF4-FFF2-40B4-BE49-F238E27FC236}">
                <a16:creationId xmlns:a16="http://schemas.microsoft.com/office/drawing/2014/main" id="{D3E78647-0BBE-4C1C-A8E0-7D176F3B85D3}"/>
              </a:ext>
            </a:extLst>
          </p:cNvPr>
          <p:cNvSpPr/>
          <p:nvPr/>
        </p:nvSpPr>
        <p:spPr>
          <a:xfrm>
            <a:off x="4213131" y="819017"/>
            <a:ext cx="3031536" cy="923330"/>
          </a:xfrm>
          <a:prstGeom prst="rect">
            <a:avLst/>
          </a:prstGeom>
        </p:spPr>
        <p:txBody>
          <a:bodyPr wrap="none">
            <a:spAutoFit/>
          </a:bodyPr>
          <a:lstStyle/>
          <a:p>
            <a:pPr algn="ctr"/>
            <a:endParaRPr lang="en-US" b="1" dirty="0"/>
          </a:p>
          <a:p>
            <a:pPr algn="ctr"/>
            <a:r>
              <a:rPr lang="en-US" b="1" dirty="0"/>
              <a:t>Frequency Distribution Tables</a:t>
            </a:r>
          </a:p>
          <a:p>
            <a:pPr marL="285750" indent="-285750">
              <a:buFont typeface="Wingdings" panose="05000000000000000000" pitchFamily="2" charset="2"/>
              <a:buChar char="q"/>
            </a:pPr>
            <a:endParaRPr lang="en-US" b="1" dirty="0"/>
          </a:p>
        </p:txBody>
      </p:sp>
      <p:pic>
        <p:nvPicPr>
          <p:cNvPr id="4" name="Picture 3">
            <a:extLst>
              <a:ext uri="{FF2B5EF4-FFF2-40B4-BE49-F238E27FC236}">
                <a16:creationId xmlns:a16="http://schemas.microsoft.com/office/drawing/2014/main" id="{CAE01018-CBAE-425E-A0F8-F4C613BE28E0}"/>
              </a:ext>
            </a:extLst>
          </p:cNvPr>
          <p:cNvPicPr>
            <a:picLocks noChangeAspect="1"/>
          </p:cNvPicPr>
          <p:nvPr/>
        </p:nvPicPr>
        <p:blipFill rotWithShape="1">
          <a:blip r:embed="rId2"/>
          <a:srcRect r="46736"/>
          <a:stretch/>
        </p:blipFill>
        <p:spPr>
          <a:xfrm>
            <a:off x="417115" y="1493196"/>
            <a:ext cx="4837619" cy="4394986"/>
          </a:xfrm>
          <a:prstGeom prst="rect">
            <a:avLst/>
          </a:prstGeom>
        </p:spPr>
      </p:pic>
      <p:sp>
        <p:nvSpPr>
          <p:cNvPr id="5" name="Rectangle 4">
            <a:extLst>
              <a:ext uri="{FF2B5EF4-FFF2-40B4-BE49-F238E27FC236}">
                <a16:creationId xmlns:a16="http://schemas.microsoft.com/office/drawing/2014/main" id="{C00CB471-3471-44A2-ADAE-5CE713895613}"/>
              </a:ext>
            </a:extLst>
          </p:cNvPr>
          <p:cNvSpPr/>
          <p:nvPr/>
        </p:nvSpPr>
        <p:spPr>
          <a:xfrm>
            <a:off x="5333560" y="4653989"/>
            <a:ext cx="6096000" cy="923330"/>
          </a:xfrm>
          <a:prstGeom prst="rect">
            <a:avLst/>
          </a:prstGeom>
        </p:spPr>
        <p:txBody>
          <a:bodyPr>
            <a:spAutoFit/>
          </a:bodyPr>
          <a:lstStyle/>
          <a:p>
            <a:r>
              <a:rPr lang="en-US" b="1" i="1" dirty="0"/>
              <a:t>From left to Right: TABLE 4 showing the frequency distribution table of the Nationality variable and TABLE 5 showing the frequency distribution table for the Gender variable.</a:t>
            </a:r>
          </a:p>
        </p:txBody>
      </p:sp>
      <p:pic>
        <p:nvPicPr>
          <p:cNvPr id="6" name="Picture 5">
            <a:extLst>
              <a:ext uri="{FF2B5EF4-FFF2-40B4-BE49-F238E27FC236}">
                <a16:creationId xmlns:a16="http://schemas.microsoft.com/office/drawing/2014/main" id="{4E280EBF-D539-4467-A80B-77C8934F254B}"/>
              </a:ext>
            </a:extLst>
          </p:cNvPr>
          <p:cNvPicPr>
            <a:picLocks noChangeAspect="1"/>
          </p:cNvPicPr>
          <p:nvPr/>
        </p:nvPicPr>
        <p:blipFill>
          <a:blip r:embed="rId3"/>
          <a:stretch>
            <a:fillRect/>
          </a:stretch>
        </p:blipFill>
        <p:spPr>
          <a:xfrm>
            <a:off x="5728899" y="1844530"/>
            <a:ext cx="4523589" cy="2269114"/>
          </a:xfrm>
          <a:prstGeom prst="rect">
            <a:avLst/>
          </a:prstGeom>
        </p:spPr>
      </p:pic>
    </p:spTree>
    <p:extLst>
      <p:ext uri="{BB962C8B-B14F-4D97-AF65-F5344CB8AC3E}">
        <p14:creationId xmlns:p14="http://schemas.microsoft.com/office/powerpoint/2010/main" val="469863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338DEB-1D44-49EF-9E00-E42291B52D92}"/>
              </a:ext>
            </a:extLst>
          </p:cNvPr>
          <p:cNvSpPr/>
          <p:nvPr/>
        </p:nvSpPr>
        <p:spPr>
          <a:xfrm>
            <a:off x="3912517" y="445675"/>
            <a:ext cx="4366965" cy="400110"/>
          </a:xfrm>
          <a:prstGeom prst="rect">
            <a:avLst/>
          </a:prstGeom>
        </p:spPr>
        <p:txBody>
          <a:bodyPr wrap="none">
            <a:spAutoFit/>
          </a:bodyPr>
          <a:lstStyle/>
          <a:p>
            <a:pPr algn="ctr"/>
            <a:r>
              <a:rPr lang="en-US" sz="2000" b="1" dirty="0"/>
              <a:t>Data Distribution: Variation and Spread</a:t>
            </a:r>
          </a:p>
        </p:txBody>
      </p:sp>
      <p:sp>
        <p:nvSpPr>
          <p:cNvPr id="5" name="Rectangle 4">
            <a:extLst>
              <a:ext uri="{FF2B5EF4-FFF2-40B4-BE49-F238E27FC236}">
                <a16:creationId xmlns:a16="http://schemas.microsoft.com/office/drawing/2014/main" id="{A98EBF9F-63E1-4D8C-B019-29F85640D89A}"/>
              </a:ext>
            </a:extLst>
          </p:cNvPr>
          <p:cNvSpPr/>
          <p:nvPr/>
        </p:nvSpPr>
        <p:spPr>
          <a:xfrm>
            <a:off x="5434756" y="5551092"/>
            <a:ext cx="6096000" cy="923330"/>
          </a:xfrm>
          <a:prstGeom prst="rect">
            <a:avLst/>
          </a:prstGeom>
        </p:spPr>
        <p:txBody>
          <a:bodyPr>
            <a:spAutoFit/>
          </a:bodyPr>
          <a:lstStyle/>
          <a:p>
            <a:r>
              <a:rPr lang="en-US" b="1" dirty="0"/>
              <a:t>Graph 3, left, shows the frequency distribution of Nationality, and Graph 4, right, shows the Gender proportionality and distribution in the dataset.</a:t>
            </a:r>
          </a:p>
        </p:txBody>
      </p:sp>
      <p:pic>
        <p:nvPicPr>
          <p:cNvPr id="2" name="Picture 1">
            <a:extLst>
              <a:ext uri="{FF2B5EF4-FFF2-40B4-BE49-F238E27FC236}">
                <a16:creationId xmlns:a16="http://schemas.microsoft.com/office/drawing/2014/main" id="{872C6B29-2B90-4B40-B982-A838B3B2B0C7}"/>
              </a:ext>
            </a:extLst>
          </p:cNvPr>
          <p:cNvPicPr>
            <a:picLocks noChangeAspect="1"/>
          </p:cNvPicPr>
          <p:nvPr/>
        </p:nvPicPr>
        <p:blipFill>
          <a:blip r:embed="rId2"/>
          <a:stretch>
            <a:fillRect/>
          </a:stretch>
        </p:blipFill>
        <p:spPr>
          <a:xfrm>
            <a:off x="166255" y="928080"/>
            <a:ext cx="6232287" cy="4623012"/>
          </a:xfrm>
          <a:prstGeom prst="rect">
            <a:avLst/>
          </a:prstGeom>
        </p:spPr>
      </p:pic>
      <p:pic>
        <p:nvPicPr>
          <p:cNvPr id="6" name="Picture 5">
            <a:extLst>
              <a:ext uri="{FF2B5EF4-FFF2-40B4-BE49-F238E27FC236}">
                <a16:creationId xmlns:a16="http://schemas.microsoft.com/office/drawing/2014/main" id="{82BE95D2-4C6A-45D4-8DBF-B249A6911491}"/>
              </a:ext>
            </a:extLst>
          </p:cNvPr>
          <p:cNvPicPr>
            <a:picLocks noChangeAspect="1"/>
          </p:cNvPicPr>
          <p:nvPr/>
        </p:nvPicPr>
        <p:blipFill>
          <a:blip r:embed="rId3"/>
          <a:stretch>
            <a:fillRect/>
          </a:stretch>
        </p:blipFill>
        <p:spPr>
          <a:xfrm>
            <a:off x="6765239" y="928080"/>
            <a:ext cx="4953000" cy="4305300"/>
          </a:xfrm>
          <a:prstGeom prst="rect">
            <a:avLst/>
          </a:prstGeom>
        </p:spPr>
      </p:pic>
    </p:spTree>
    <p:extLst>
      <p:ext uri="{BB962C8B-B14F-4D97-AF65-F5344CB8AC3E}">
        <p14:creationId xmlns:p14="http://schemas.microsoft.com/office/powerpoint/2010/main" val="691182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D9F76-4392-4B8A-91F1-972CF96014C0}"/>
              </a:ext>
            </a:extLst>
          </p:cNvPr>
          <p:cNvSpPr>
            <a:spLocks noGrp="1"/>
          </p:cNvSpPr>
          <p:nvPr>
            <p:ph type="title"/>
          </p:nvPr>
        </p:nvSpPr>
        <p:spPr>
          <a:xfrm>
            <a:off x="785006" y="921716"/>
            <a:ext cx="10515600" cy="1325563"/>
          </a:xfrm>
        </p:spPr>
        <p:txBody>
          <a:bodyPr/>
          <a:lstStyle/>
          <a:p>
            <a:pPr algn="ctr"/>
            <a:r>
              <a:rPr lang="en-US" b="1" dirty="0"/>
              <a:t>Interpretations of Data Distribution</a:t>
            </a:r>
            <a:br>
              <a:rPr lang="en-US" b="1" dirty="0"/>
            </a:br>
            <a:r>
              <a:rPr lang="en-US" b="1" dirty="0"/>
              <a:t>National and Gender Variables </a:t>
            </a:r>
          </a:p>
        </p:txBody>
      </p:sp>
      <p:sp>
        <p:nvSpPr>
          <p:cNvPr id="3" name="Rectangle 2">
            <a:extLst>
              <a:ext uri="{FF2B5EF4-FFF2-40B4-BE49-F238E27FC236}">
                <a16:creationId xmlns:a16="http://schemas.microsoft.com/office/drawing/2014/main" id="{3106BCF2-3EB4-4B81-BAE5-320609CF1BC2}"/>
              </a:ext>
            </a:extLst>
          </p:cNvPr>
          <p:cNvSpPr/>
          <p:nvPr/>
        </p:nvSpPr>
        <p:spPr>
          <a:xfrm>
            <a:off x="2129954" y="2598291"/>
            <a:ext cx="7825704" cy="2831544"/>
          </a:xfrm>
          <a:prstGeom prst="rect">
            <a:avLst/>
          </a:prstGeom>
        </p:spPr>
        <p:txBody>
          <a:bodyPr wrap="square">
            <a:spAutoFit/>
          </a:bodyPr>
          <a:lstStyle/>
          <a:p>
            <a:pPr marL="285750" indent="-285750">
              <a:buFont typeface="Wingdings" panose="05000000000000000000" pitchFamily="2" charset="2"/>
              <a:buChar char="§"/>
            </a:pPr>
            <a:r>
              <a:rPr lang="en-US" sz="2000" dirty="0"/>
              <a:t>Distributions of nationality data symmetrical and lacks skewness</a:t>
            </a:r>
          </a:p>
          <a:p>
            <a:pPr marL="285750" indent="-285750">
              <a:buFont typeface="Wingdings" panose="05000000000000000000" pitchFamily="2" charset="2"/>
              <a:buChar char="§"/>
            </a:pPr>
            <a:r>
              <a:rPr lang="en-US" sz="2000" dirty="0"/>
              <a:t>Nationality variable lacks variability </a:t>
            </a:r>
          </a:p>
          <a:p>
            <a:pPr marL="285750" indent="-285750">
              <a:buFont typeface="Wingdings" panose="05000000000000000000" pitchFamily="2" charset="2"/>
              <a:buChar char="§"/>
            </a:pPr>
            <a:r>
              <a:rPr lang="en-US" sz="2000" dirty="0"/>
              <a:t>Comments are free of nationality biases </a:t>
            </a:r>
          </a:p>
          <a:p>
            <a:pPr marL="285750" indent="-285750">
              <a:buFont typeface="Wingdings" panose="05000000000000000000" pitchFamily="2" charset="2"/>
              <a:buChar char="§"/>
            </a:pPr>
            <a:r>
              <a:rPr lang="en-US" sz="2000" dirty="0"/>
              <a:t>Proportionality of the male and female individuals was equally similar</a:t>
            </a:r>
          </a:p>
          <a:p>
            <a:pPr marL="285750" indent="-285750">
              <a:buFont typeface="Wingdings" panose="05000000000000000000" pitchFamily="2" charset="2"/>
              <a:buChar char="§"/>
            </a:pPr>
            <a:r>
              <a:rPr lang="en-US" sz="2000" dirty="0"/>
              <a:t>The gender variable shows that the comments are free of gender bias, because both genders are equally represented in the sampled comments</a:t>
            </a:r>
          </a:p>
          <a:p>
            <a:pPr marL="285750" indent="-285750">
              <a:buFont typeface="Wingdings" panose="05000000000000000000" pitchFamily="2" charset="2"/>
              <a:buChar char="§"/>
            </a:pPr>
            <a:r>
              <a:rPr lang="en-US" sz="2000" dirty="0"/>
              <a:t>The comments are credible for use in this project</a:t>
            </a:r>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4142119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BAFB0-160B-478D-A2AA-2A0303CCD9E2}"/>
              </a:ext>
            </a:extLst>
          </p:cNvPr>
          <p:cNvSpPr>
            <a:spLocks noGrp="1"/>
          </p:cNvSpPr>
          <p:nvPr>
            <p:ph type="title"/>
          </p:nvPr>
        </p:nvSpPr>
        <p:spPr>
          <a:xfrm>
            <a:off x="838200" y="365125"/>
            <a:ext cx="10515600" cy="950637"/>
          </a:xfrm>
        </p:spPr>
        <p:txBody>
          <a:bodyPr/>
          <a:lstStyle/>
          <a:p>
            <a:r>
              <a:rPr lang="en-US" b="1" dirty="0"/>
              <a:t>Data Description: Age Variable </a:t>
            </a:r>
          </a:p>
        </p:txBody>
      </p:sp>
      <p:sp>
        <p:nvSpPr>
          <p:cNvPr id="3" name="Rectangle 2">
            <a:extLst>
              <a:ext uri="{FF2B5EF4-FFF2-40B4-BE49-F238E27FC236}">
                <a16:creationId xmlns:a16="http://schemas.microsoft.com/office/drawing/2014/main" id="{30E1496D-03ED-4306-9C83-DDA2C485AFC1}"/>
              </a:ext>
            </a:extLst>
          </p:cNvPr>
          <p:cNvSpPr/>
          <p:nvPr/>
        </p:nvSpPr>
        <p:spPr>
          <a:xfrm>
            <a:off x="2299265" y="1115707"/>
            <a:ext cx="2345450" cy="400110"/>
          </a:xfrm>
          <a:prstGeom prst="rect">
            <a:avLst/>
          </a:prstGeom>
        </p:spPr>
        <p:txBody>
          <a:bodyPr wrap="none">
            <a:spAutoFit/>
          </a:bodyPr>
          <a:lstStyle/>
          <a:p>
            <a:r>
              <a:rPr lang="en-US" sz="2000" b="1" dirty="0"/>
              <a:t>Statistical Summary </a:t>
            </a:r>
          </a:p>
        </p:txBody>
      </p:sp>
      <p:sp>
        <p:nvSpPr>
          <p:cNvPr id="5" name="Rectangle 4">
            <a:extLst>
              <a:ext uri="{FF2B5EF4-FFF2-40B4-BE49-F238E27FC236}">
                <a16:creationId xmlns:a16="http://schemas.microsoft.com/office/drawing/2014/main" id="{69E8DE0E-E494-4483-820C-E76B04822CF7}"/>
              </a:ext>
            </a:extLst>
          </p:cNvPr>
          <p:cNvSpPr/>
          <p:nvPr/>
        </p:nvSpPr>
        <p:spPr>
          <a:xfrm>
            <a:off x="6096000" y="1677077"/>
            <a:ext cx="5413352" cy="4093428"/>
          </a:xfrm>
          <a:prstGeom prst="rect">
            <a:avLst/>
          </a:prstGeom>
        </p:spPr>
        <p:txBody>
          <a:bodyPr wrap="square">
            <a:spAutoFit/>
          </a:bodyPr>
          <a:lstStyle/>
          <a:p>
            <a:pPr marL="285750" indent="-285750">
              <a:buFont typeface="Wingdings" panose="05000000000000000000" pitchFamily="2" charset="2"/>
              <a:buChar char="q"/>
            </a:pPr>
            <a:r>
              <a:rPr lang="en-US" sz="2000" dirty="0"/>
              <a:t>The least age of individuals sampled was 25 years</a:t>
            </a:r>
          </a:p>
          <a:p>
            <a:pPr marL="285750" indent="-285750">
              <a:buFont typeface="Wingdings" panose="05000000000000000000" pitchFamily="2" charset="2"/>
              <a:buChar char="q"/>
            </a:pPr>
            <a:r>
              <a:rPr lang="en-US" sz="2000" dirty="0"/>
              <a:t>The maximum 70 years, giving a range of 45 years</a:t>
            </a:r>
          </a:p>
          <a:p>
            <a:pPr marL="285750" indent="-285750">
              <a:buFont typeface="Wingdings" panose="05000000000000000000" pitchFamily="2" charset="2"/>
              <a:buChar char="q"/>
            </a:pPr>
            <a:r>
              <a:rPr lang="en-US" sz="2000" dirty="0"/>
              <a:t>Most individuals are evenly clustered around 48 years</a:t>
            </a:r>
          </a:p>
          <a:p>
            <a:pPr marL="285750" indent="-285750">
              <a:buFont typeface="Wingdings" panose="05000000000000000000" pitchFamily="2" charset="2"/>
              <a:buChar char="q"/>
            </a:pPr>
            <a:r>
              <a:rPr lang="en-US" sz="2000" dirty="0"/>
              <a:t>The most frequent age is 29 years. </a:t>
            </a:r>
          </a:p>
          <a:p>
            <a:pPr marL="285750" indent="-285750">
              <a:buFont typeface="Wingdings" panose="05000000000000000000" pitchFamily="2" charset="2"/>
              <a:buChar char="q"/>
            </a:pPr>
            <a:r>
              <a:rPr lang="en-US" sz="2000" dirty="0"/>
              <a:t>The slight variations in the mean, median, and mode age suggest slight variations in the dataset</a:t>
            </a:r>
          </a:p>
          <a:p>
            <a:pPr marL="285750" indent="-285750">
              <a:buFont typeface="Wingdings" panose="05000000000000000000" pitchFamily="2" charset="2"/>
              <a:buChar char="q"/>
            </a:pPr>
            <a:r>
              <a:rPr lang="en-US" sz="2000" dirty="0"/>
              <a:t>This variation is supported by a standard deviation of 13.0, confirming that the ages of individuals are dispersed in the dataset.</a:t>
            </a:r>
          </a:p>
        </p:txBody>
      </p:sp>
      <p:pic>
        <p:nvPicPr>
          <p:cNvPr id="6" name="Picture 5">
            <a:extLst>
              <a:ext uri="{FF2B5EF4-FFF2-40B4-BE49-F238E27FC236}">
                <a16:creationId xmlns:a16="http://schemas.microsoft.com/office/drawing/2014/main" id="{6A457F96-6005-4046-912C-F53B30D16AC6}"/>
              </a:ext>
            </a:extLst>
          </p:cNvPr>
          <p:cNvPicPr>
            <a:picLocks noChangeAspect="1"/>
          </p:cNvPicPr>
          <p:nvPr/>
        </p:nvPicPr>
        <p:blipFill>
          <a:blip r:embed="rId2"/>
          <a:stretch>
            <a:fillRect/>
          </a:stretch>
        </p:blipFill>
        <p:spPr>
          <a:xfrm>
            <a:off x="1485745" y="1515817"/>
            <a:ext cx="4378342" cy="4415948"/>
          </a:xfrm>
          <a:prstGeom prst="rect">
            <a:avLst/>
          </a:prstGeom>
        </p:spPr>
      </p:pic>
    </p:spTree>
    <p:extLst>
      <p:ext uri="{BB962C8B-B14F-4D97-AF65-F5344CB8AC3E}">
        <p14:creationId xmlns:p14="http://schemas.microsoft.com/office/powerpoint/2010/main" val="3362972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E22F8-9E95-4646-BCF2-A168A80F09AD}"/>
              </a:ext>
            </a:extLst>
          </p:cNvPr>
          <p:cNvSpPr>
            <a:spLocks noGrp="1"/>
          </p:cNvSpPr>
          <p:nvPr>
            <p:ph type="title"/>
          </p:nvPr>
        </p:nvSpPr>
        <p:spPr>
          <a:xfrm>
            <a:off x="838200" y="98622"/>
            <a:ext cx="10515600" cy="807692"/>
          </a:xfrm>
        </p:spPr>
        <p:txBody>
          <a:bodyPr/>
          <a:lstStyle/>
          <a:p>
            <a:r>
              <a:rPr lang="en-US" b="1" dirty="0"/>
              <a:t>Age Data Distribution </a:t>
            </a:r>
          </a:p>
        </p:txBody>
      </p:sp>
      <p:sp>
        <p:nvSpPr>
          <p:cNvPr id="5" name="Rectangle 4">
            <a:extLst>
              <a:ext uri="{FF2B5EF4-FFF2-40B4-BE49-F238E27FC236}">
                <a16:creationId xmlns:a16="http://schemas.microsoft.com/office/drawing/2014/main" id="{25276E95-C2EF-4C5E-B2D3-2B5D10E6365B}"/>
              </a:ext>
            </a:extLst>
          </p:cNvPr>
          <p:cNvSpPr/>
          <p:nvPr/>
        </p:nvSpPr>
        <p:spPr>
          <a:xfrm>
            <a:off x="5264727" y="5107981"/>
            <a:ext cx="6171900" cy="1323439"/>
          </a:xfrm>
          <a:prstGeom prst="rect">
            <a:avLst/>
          </a:prstGeom>
        </p:spPr>
        <p:txBody>
          <a:bodyPr wrap="square">
            <a:spAutoFit/>
          </a:bodyPr>
          <a:lstStyle/>
          <a:p>
            <a:r>
              <a:rPr lang="en-US" sz="2000" b="1" i="1" dirty="0"/>
              <a:t>Left, Graph 5 showing symmetrical age distribution of ages, and Right, Graph 6 showing a boxplot representing the age distribution of the age variation about the quartiles</a:t>
            </a:r>
          </a:p>
        </p:txBody>
      </p:sp>
      <p:pic>
        <p:nvPicPr>
          <p:cNvPr id="6" name="Picture 5">
            <a:extLst>
              <a:ext uri="{FF2B5EF4-FFF2-40B4-BE49-F238E27FC236}">
                <a16:creationId xmlns:a16="http://schemas.microsoft.com/office/drawing/2014/main" id="{9D6D3673-6C13-4DD6-AD17-8A41DA27CA7C}"/>
              </a:ext>
            </a:extLst>
          </p:cNvPr>
          <p:cNvPicPr>
            <a:picLocks noChangeAspect="1"/>
          </p:cNvPicPr>
          <p:nvPr/>
        </p:nvPicPr>
        <p:blipFill rotWithShape="1">
          <a:blip r:embed="rId2"/>
          <a:srcRect r="2911"/>
          <a:stretch/>
        </p:blipFill>
        <p:spPr>
          <a:xfrm>
            <a:off x="0" y="966078"/>
            <a:ext cx="5527964" cy="4175370"/>
          </a:xfrm>
          <a:prstGeom prst="rect">
            <a:avLst/>
          </a:prstGeom>
        </p:spPr>
      </p:pic>
      <p:pic>
        <p:nvPicPr>
          <p:cNvPr id="7" name="Picture 6">
            <a:extLst>
              <a:ext uri="{FF2B5EF4-FFF2-40B4-BE49-F238E27FC236}">
                <a16:creationId xmlns:a16="http://schemas.microsoft.com/office/drawing/2014/main" id="{115B17BB-F506-4AF1-ADA8-D48F9457EDD7}"/>
              </a:ext>
            </a:extLst>
          </p:cNvPr>
          <p:cNvPicPr>
            <a:picLocks noChangeAspect="1"/>
          </p:cNvPicPr>
          <p:nvPr/>
        </p:nvPicPr>
        <p:blipFill rotWithShape="1">
          <a:blip r:embed="rId3"/>
          <a:srcRect l="2227" r="3042"/>
          <a:stretch/>
        </p:blipFill>
        <p:spPr>
          <a:xfrm>
            <a:off x="5527964" y="1090764"/>
            <a:ext cx="6483928" cy="3925998"/>
          </a:xfrm>
          <a:prstGeom prst="rect">
            <a:avLst/>
          </a:prstGeom>
        </p:spPr>
      </p:pic>
    </p:spTree>
    <p:extLst>
      <p:ext uri="{BB962C8B-B14F-4D97-AF65-F5344CB8AC3E}">
        <p14:creationId xmlns:p14="http://schemas.microsoft.com/office/powerpoint/2010/main" val="3489225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09CC8-5043-4DEA-B771-26384C7888A3}"/>
              </a:ext>
            </a:extLst>
          </p:cNvPr>
          <p:cNvSpPr>
            <a:spLocks noGrp="1"/>
          </p:cNvSpPr>
          <p:nvPr>
            <p:ph type="title"/>
          </p:nvPr>
        </p:nvSpPr>
        <p:spPr>
          <a:xfrm>
            <a:off x="917713" y="1100333"/>
            <a:ext cx="10515600" cy="1325563"/>
          </a:xfrm>
        </p:spPr>
        <p:txBody>
          <a:bodyPr/>
          <a:lstStyle/>
          <a:p>
            <a:r>
              <a:rPr lang="en-US" b="1" dirty="0"/>
              <a:t>Interpretation of Age Distribution</a:t>
            </a:r>
          </a:p>
        </p:txBody>
      </p:sp>
      <p:sp>
        <p:nvSpPr>
          <p:cNvPr id="3" name="Rectangle 2">
            <a:extLst>
              <a:ext uri="{FF2B5EF4-FFF2-40B4-BE49-F238E27FC236}">
                <a16:creationId xmlns:a16="http://schemas.microsoft.com/office/drawing/2014/main" id="{87947C97-9440-4DC4-B1E2-FC52E30D5B2B}"/>
              </a:ext>
            </a:extLst>
          </p:cNvPr>
          <p:cNvSpPr/>
          <p:nvPr/>
        </p:nvSpPr>
        <p:spPr>
          <a:xfrm>
            <a:off x="1949726" y="2400156"/>
            <a:ext cx="8292548" cy="2554545"/>
          </a:xfrm>
          <a:prstGeom prst="rect">
            <a:avLst/>
          </a:prstGeom>
        </p:spPr>
        <p:txBody>
          <a:bodyPr wrap="square">
            <a:spAutoFit/>
          </a:bodyPr>
          <a:lstStyle/>
          <a:p>
            <a:pPr marL="285750" indent="-285750">
              <a:buFont typeface="Wingdings" panose="05000000000000000000" pitchFamily="2" charset="2"/>
              <a:buChar char="q"/>
            </a:pPr>
            <a:r>
              <a:rPr lang="en-US" sz="2000" dirty="0"/>
              <a:t>Age distribution is almost symmetrical, and the skewness is equal to zero</a:t>
            </a:r>
          </a:p>
          <a:p>
            <a:pPr marL="285750" indent="-285750">
              <a:buFont typeface="Wingdings" panose="05000000000000000000" pitchFamily="2" charset="2"/>
              <a:buChar char="q"/>
            </a:pPr>
            <a:r>
              <a:rPr lang="en-US" sz="2000" dirty="0"/>
              <a:t>Individual ages are evenly distributed about the mean, lack skewness, and are evenly clustered near the median</a:t>
            </a:r>
          </a:p>
          <a:p>
            <a:pPr marL="285750" indent="-285750">
              <a:buFont typeface="Wingdings" panose="05000000000000000000" pitchFamily="2" charset="2"/>
              <a:buChar char="q"/>
            </a:pPr>
            <a:r>
              <a:rPr lang="en-US" sz="2000" dirty="0"/>
              <a:t>Comments are fairly represented individuals visiting the pilgrimage of ages 14-70</a:t>
            </a:r>
          </a:p>
          <a:p>
            <a:pPr marL="285750" indent="-285750">
              <a:buFont typeface="Wingdings" panose="05000000000000000000" pitchFamily="2" charset="2"/>
              <a:buChar char="q"/>
            </a:pPr>
            <a:r>
              <a:rPr lang="en-US" sz="2000" dirty="0"/>
              <a:t>The peak of the age distribution is flat or platykurtic</a:t>
            </a:r>
          </a:p>
          <a:p>
            <a:pPr marL="285750" indent="-285750">
              <a:buFont typeface="Wingdings" panose="05000000000000000000" pitchFamily="2" charset="2"/>
              <a:buChar char="q"/>
            </a:pPr>
            <a:r>
              <a:rPr lang="en-US" sz="2000" dirty="0"/>
              <a:t>The comments are credibility use in this project, for they are  bias-free of individuals' age.</a:t>
            </a:r>
          </a:p>
        </p:txBody>
      </p:sp>
    </p:spTree>
    <p:extLst>
      <p:ext uri="{BB962C8B-B14F-4D97-AF65-F5344CB8AC3E}">
        <p14:creationId xmlns:p14="http://schemas.microsoft.com/office/powerpoint/2010/main" val="2216878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82D415-4BD3-40FE-9758-B98E7C7A2504}"/>
              </a:ext>
            </a:extLst>
          </p:cNvPr>
          <p:cNvSpPr/>
          <p:nvPr/>
        </p:nvSpPr>
        <p:spPr>
          <a:xfrm>
            <a:off x="1930083" y="421621"/>
            <a:ext cx="8331833" cy="769441"/>
          </a:xfrm>
          <a:prstGeom prst="rect">
            <a:avLst/>
          </a:prstGeom>
        </p:spPr>
        <p:txBody>
          <a:bodyPr wrap="none">
            <a:spAutoFit/>
          </a:bodyPr>
          <a:lstStyle/>
          <a:p>
            <a:r>
              <a:rPr lang="en-US" sz="4400" b="1" u="sng" dirty="0">
                <a:latin typeface="+mj-lt"/>
              </a:rPr>
              <a:t>Data Mining/Cleaning/Preprocessing</a:t>
            </a:r>
          </a:p>
        </p:txBody>
      </p:sp>
      <p:sp>
        <p:nvSpPr>
          <p:cNvPr id="3" name="Rectangle 2">
            <a:extLst>
              <a:ext uri="{FF2B5EF4-FFF2-40B4-BE49-F238E27FC236}">
                <a16:creationId xmlns:a16="http://schemas.microsoft.com/office/drawing/2014/main" id="{9BFF5933-264A-4B8B-A696-432480E7E22E}"/>
              </a:ext>
            </a:extLst>
          </p:cNvPr>
          <p:cNvSpPr/>
          <p:nvPr/>
        </p:nvSpPr>
        <p:spPr>
          <a:xfrm>
            <a:off x="1282148" y="1286326"/>
            <a:ext cx="9471991" cy="4401205"/>
          </a:xfrm>
          <a:prstGeom prst="rect">
            <a:avLst/>
          </a:prstGeom>
        </p:spPr>
        <p:txBody>
          <a:bodyPr wrap="square">
            <a:spAutoFit/>
          </a:bodyPr>
          <a:lstStyle/>
          <a:p>
            <a:pPr marL="285750" indent="-285750">
              <a:buFont typeface="Arial" panose="020B0604020202020204" pitchFamily="34" charset="0"/>
              <a:buChar char="•"/>
            </a:pPr>
            <a:r>
              <a:rPr lang="en-US" sz="2000" b="1" dirty="0"/>
              <a:t>Translation</a:t>
            </a:r>
          </a:p>
          <a:p>
            <a:pPr marL="342900" indent="53975">
              <a:buFont typeface="Wingdings" panose="05000000000000000000" pitchFamily="2" charset="2"/>
              <a:buChar char="Ø"/>
            </a:pPr>
            <a:r>
              <a:rPr lang="en-US" sz="2000" b="1" dirty="0"/>
              <a:t> </a:t>
            </a:r>
            <a:r>
              <a:rPr lang="en-US" sz="2000" dirty="0"/>
              <a:t>Conversation of different languages into English to enhance preprocessing of the data</a:t>
            </a:r>
          </a:p>
          <a:p>
            <a:pPr marL="342900" indent="53975">
              <a:buFont typeface="Wingdings" panose="05000000000000000000" pitchFamily="2" charset="2"/>
              <a:buChar char="Ø"/>
            </a:pPr>
            <a:r>
              <a:rPr lang="en-US" sz="2000" b="1" dirty="0"/>
              <a:t> </a:t>
            </a:r>
            <a:r>
              <a:rPr lang="en-US" sz="2000" dirty="0"/>
              <a:t>Using deep translator from Google Translator </a:t>
            </a:r>
            <a:endParaRPr lang="en-US" sz="2000" b="1" dirty="0"/>
          </a:p>
          <a:p>
            <a:pPr marL="285750" indent="-285750">
              <a:buFont typeface="Arial" panose="020B0604020202020204" pitchFamily="34" charset="0"/>
              <a:buChar char="•"/>
            </a:pPr>
            <a:r>
              <a:rPr lang="en-US" sz="2000" b="1" dirty="0"/>
              <a:t>Normalization: </a:t>
            </a:r>
          </a:p>
          <a:p>
            <a:pPr marL="342900" indent="53975">
              <a:buFont typeface="Wingdings" panose="05000000000000000000" pitchFamily="2" charset="2"/>
              <a:buChar char="Ø"/>
            </a:pPr>
            <a:r>
              <a:rPr lang="en-US" sz="2000" dirty="0"/>
              <a:t>Long sentence comments segmentation to enhance readability, capitalization, and punctuation </a:t>
            </a:r>
          </a:p>
          <a:p>
            <a:pPr marL="342900" indent="4763">
              <a:buFont typeface="Wingdings" panose="05000000000000000000" pitchFamily="2" charset="2"/>
              <a:buChar char="Ø"/>
            </a:pPr>
            <a:r>
              <a:rPr lang="en-US" sz="2000" dirty="0"/>
              <a:t>Using </a:t>
            </a:r>
            <a:r>
              <a:rPr lang="en-US" sz="2000" dirty="0" err="1"/>
              <a:t>segmenter</a:t>
            </a:r>
            <a:r>
              <a:rPr lang="en-US" sz="2000" dirty="0"/>
              <a:t> from </a:t>
            </a:r>
            <a:r>
              <a:rPr lang="en-US" sz="2000" dirty="0" err="1"/>
              <a:t>nltk</a:t>
            </a:r>
            <a:endParaRPr lang="en-US" sz="2000" dirty="0"/>
          </a:p>
          <a:p>
            <a:pPr marL="285750" indent="-285750">
              <a:buFont typeface="Arial" panose="020B0604020202020204" pitchFamily="34" charset="0"/>
              <a:buChar char="•"/>
            </a:pPr>
            <a:r>
              <a:rPr lang="en-US" sz="2000" b="1" dirty="0"/>
              <a:t>Tokenization: </a:t>
            </a:r>
          </a:p>
          <a:p>
            <a:pPr marL="342900" indent="53975">
              <a:buFont typeface="Wingdings" panose="05000000000000000000" pitchFamily="2" charset="2"/>
              <a:buChar char="Ø"/>
            </a:pPr>
            <a:r>
              <a:rPr lang="en-US" sz="2000" dirty="0"/>
              <a:t>Sentence comments segmentation to fundamental units; words, tokens</a:t>
            </a:r>
          </a:p>
          <a:p>
            <a:pPr marL="342900" indent="53975">
              <a:buFont typeface="Wingdings" panose="05000000000000000000" pitchFamily="2" charset="2"/>
              <a:buChar char="Ø"/>
            </a:pPr>
            <a:r>
              <a:rPr lang="en-US" sz="2000" dirty="0"/>
              <a:t> Using </a:t>
            </a:r>
            <a:r>
              <a:rPr lang="en-US" sz="2000" dirty="0" err="1"/>
              <a:t>word_tokenizer</a:t>
            </a:r>
            <a:r>
              <a:rPr lang="en-US" sz="2000" dirty="0"/>
              <a:t> from </a:t>
            </a:r>
            <a:r>
              <a:rPr lang="en-US" sz="2000" dirty="0" err="1"/>
              <a:t>nltk</a:t>
            </a:r>
            <a:r>
              <a:rPr lang="en-US" sz="2000" dirty="0"/>
              <a:t> </a:t>
            </a:r>
          </a:p>
          <a:p>
            <a:pPr marL="347663" indent="-287338">
              <a:buFont typeface="Arial" panose="020B0604020202020204" pitchFamily="34" charset="0"/>
              <a:buChar char="•"/>
            </a:pPr>
            <a:r>
              <a:rPr lang="en-US" sz="2000" b="1" dirty="0"/>
              <a:t>Lemmatization</a:t>
            </a:r>
          </a:p>
          <a:p>
            <a:pPr marL="403225" indent="-55563">
              <a:buFont typeface="Wingdings" panose="05000000000000000000" pitchFamily="2" charset="2"/>
              <a:buChar char="Ø"/>
            </a:pPr>
            <a:r>
              <a:rPr lang="en-US" sz="2000" b="1" dirty="0"/>
              <a:t> </a:t>
            </a:r>
            <a:r>
              <a:rPr lang="en-US" dirty="0"/>
              <a:t>converting textual data into its basic form, mostly dictionary form </a:t>
            </a:r>
          </a:p>
          <a:p>
            <a:pPr marL="403225" indent="-55563">
              <a:buFont typeface="Wingdings" panose="05000000000000000000" pitchFamily="2" charset="2"/>
              <a:buChar char="Ø"/>
            </a:pPr>
            <a:r>
              <a:rPr lang="en-US" sz="2000" b="1" dirty="0"/>
              <a:t> </a:t>
            </a:r>
            <a:r>
              <a:rPr lang="en-US" sz="2000" dirty="0"/>
              <a:t>Using </a:t>
            </a:r>
            <a:r>
              <a:rPr lang="en-US" i="1" dirty="0" err="1"/>
              <a:t>en_core_web_sm</a:t>
            </a:r>
            <a:r>
              <a:rPr lang="en-US" i="1" dirty="0"/>
              <a:t> </a:t>
            </a:r>
            <a:r>
              <a:rPr lang="en-US" dirty="0"/>
              <a:t>pipeline  from Spacy </a:t>
            </a:r>
            <a:endParaRPr lang="en-US" sz="2000" b="1" dirty="0"/>
          </a:p>
        </p:txBody>
      </p:sp>
    </p:spTree>
    <p:extLst>
      <p:ext uri="{BB962C8B-B14F-4D97-AF65-F5344CB8AC3E}">
        <p14:creationId xmlns:p14="http://schemas.microsoft.com/office/powerpoint/2010/main" val="523861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922D-CE85-40B5-9A97-16A0E850DD08}"/>
              </a:ext>
            </a:extLst>
          </p:cNvPr>
          <p:cNvSpPr>
            <a:spLocks noGrp="1"/>
          </p:cNvSpPr>
          <p:nvPr>
            <p:ph type="title"/>
          </p:nvPr>
        </p:nvSpPr>
        <p:spPr>
          <a:xfrm>
            <a:off x="540026" y="130212"/>
            <a:ext cx="10515600" cy="926962"/>
          </a:xfrm>
        </p:spPr>
        <p:txBody>
          <a:bodyPr/>
          <a:lstStyle/>
          <a:p>
            <a:pPr algn="ctr"/>
            <a:r>
              <a:rPr lang="en-US" b="1" u="sng" dirty="0"/>
              <a:t>Data Mining/Cleaning/Preprocessing</a:t>
            </a:r>
            <a:endParaRPr lang="en-US" b="1" dirty="0"/>
          </a:p>
        </p:txBody>
      </p:sp>
      <p:sp>
        <p:nvSpPr>
          <p:cNvPr id="3" name="Rectangle 2">
            <a:extLst>
              <a:ext uri="{FF2B5EF4-FFF2-40B4-BE49-F238E27FC236}">
                <a16:creationId xmlns:a16="http://schemas.microsoft.com/office/drawing/2014/main" id="{DEE615A0-F806-4CB1-8B2A-B6FB118E19E1}"/>
              </a:ext>
            </a:extLst>
          </p:cNvPr>
          <p:cNvSpPr/>
          <p:nvPr/>
        </p:nvSpPr>
        <p:spPr>
          <a:xfrm>
            <a:off x="2623932" y="1048174"/>
            <a:ext cx="7812156" cy="5016758"/>
          </a:xfrm>
          <a:prstGeom prst="rect">
            <a:avLst/>
          </a:prstGeom>
        </p:spPr>
        <p:txBody>
          <a:bodyPr wrap="square">
            <a:spAutoFit/>
          </a:bodyPr>
          <a:lstStyle/>
          <a:p>
            <a:pPr marL="285750" indent="-285750">
              <a:buFont typeface="Arial" panose="020B0604020202020204" pitchFamily="34" charset="0"/>
              <a:buChar char="•"/>
            </a:pPr>
            <a:r>
              <a:rPr lang="en-US" sz="2000" b="1" dirty="0"/>
              <a:t>Parts of Speech Tagging</a:t>
            </a:r>
          </a:p>
          <a:p>
            <a:pPr marL="574675" indent="-285750">
              <a:buFont typeface="Wingdings" panose="05000000000000000000" pitchFamily="2" charset="2"/>
              <a:buChar char="Ø"/>
            </a:pPr>
            <a:r>
              <a:rPr lang="en-US" sz="2000" dirty="0"/>
              <a:t>Labeling words in a text into their basic linguistics parts</a:t>
            </a:r>
          </a:p>
          <a:p>
            <a:pPr marL="574675" indent="-285750">
              <a:buFont typeface="Wingdings" panose="05000000000000000000" pitchFamily="2" charset="2"/>
              <a:buChar char="Ø"/>
            </a:pPr>
            <a:r>
              <a:rPr lang="en-US" sz="2000" dirty="0"/>
              <a:t>Enhances data comprehension and machine learning modelling </a:t>
            </a:r>
          </a:p>
          <a:p>
            <a:pPr marL="574675" indent="-285750">
              <a:buFont typeface="Wingdings" panose="05000000000000000000" pitchFamily="2" charset="2"/>
              <a:buChar char="Ø"/>
            </a:pPr>
            <a:r>
              <a:rPr lang="en-US" sz="2000" dirty="0"/>
              <a:t>Done using </a:t>
            </a:r>
            <a:r>
              <a:rPr lang="en-US" sz="2000" dirty="0" err="1"/>
              <a:t>using</a:t>
            </a:r>
            <a:r>
              <a:rPr lang="en-US" sz="2000" dirty="0"/>
              <a:t> </a:t>
            </a:r>
            <a:r>
              <a:rPr lang="en-US" sz="2000" i="1" dirty="0" err="1"/>
              <a:t>en_core_web_sm</a:t>
            </a:r>
            <a:r>
              <a:rPr lang="en-US" sz="2000" i="1" dirty="0"/>
              <a:t> </a:t>
            </a:r>
            <a:r>
              <a:rPr lang="en-US" sz="2000" dirty="0"/>
              <a:t>from spacy library.</a:t>
            </a:r>
          </a:p>
          <a:p>
            <a:pPr marL="285750" indent="-285750">
              <a:buFont typeface="Arial" panose="020B0604020202020204" pitchFamily="34" charset="0"/>
              <a:buChar char="•"/>
            </a:pPr>
            <a:r>
              <a:rPr lang="en-US" sz="2000" b="1" dirty="0"/>
              <a:t>Stop word removal: </a:t>
            </a:r>
          </a:p>
          <a:p>
            <a:pPr marL="342900" indent="-53975">
              <a:buFont typeface="Wingdings" panose="05000000000000000000" pitchFamily="2" charset="2"/>
              <a:buChar char="Ø"/>
            </a:pPr>
            <a:r>
              <a:rPr lang="en-US" sz="2000" dirty="0"/>
              <a:t> Removing common and useless words </a:t>
            </a:r>
          </a:p>
          <a:p>
            <a:pPr marL="342900" indent="-53975">
              <a:buFont typeface="Wingdings" panose="05000000000000000000" pitchFamily="2" charset="2"/>
              <a:buChar char="Ø"/>
            </a:pPr>
            <a:r>
              <a:rPr lang="en-US" sz="2000" dirty="0"/>
              <a:t> It enhances language clarity and reduce noise in data </a:t>
            </a:r>
          </a:p>
          <a:p>
            <a:pPr marL="342900" indent="-53975">
              <a:buFont typeface="Wingdings" panose="05000000000000000000" pitchFamily="2" charset="2"/>
              <a:buChar char="Ø"/>
            </a:pPr>
            <a:r>
              <a:rPr lang="en-US" sz="2000" dirty="0"/>
              <a:t>Done using </a:t>
            </a:r>
            <a:r>
              <a:rPr lang="en-US" sz="2000" dirty="0" err="1"/>
              <a:t>stop_words</a:t>
            </a:r>
            <a:r>
              <a:rPr lang="en-US" sz="2000" dirty="0"/>
              <a:t> from </a:t>
            </a:r>
            <a:r>
              <a:rPr lang="en-US" sz="2000" dirty="0" err="1"/>
              <a:t>nltk</a:t>
            </a:r>
            <a:r>
              <a:rPr lang="en-US" sz="2000" dirty="0"/>
              <a:t> corpus </a:t>
            </a:r>
          </a:p>
          <a:p>
            <a:pPr marL="285750" indent="-285750">
              <a:buFont typeface="Arial" panose="020B0604020202020204" pitchFamily="34" charset="0"/>
              <a:buChar char="•"/>
            </a:pPr>
            <a:r>
              <a:rPr lang="en-US" sz="2000" b="1" dirty="0"/>
              <a:t>Vectorization </a:t>
            </a:r>
          </a:p>
          <a:p>
            <a:pPr marL="342900" indent="-53975">
              <a:buFont typeface="Wingdings" panose="05000000000000000000" pitchFamily="2" charset="2"/>
              <a:buChar char="Ø"/>
            </a:pPr>
            <a:r>
              <a:rPr lang="en-US" sz="2000" b="1" dirty="0"/>
              <a:t> </a:t>
            </a:r>
            <a:r>
              <a:rPr lang="en-US" sz="2000" dirty="0"/>
              <a:t>Conversation of categorical data to numerical data</a:t>
            </a:r>
          </a:p>
          <a:p>
            <a:pPr marL="342900" indent="-53975">
              <a:buFont typeface="Wingdings" panose="05000000000000000000" pitchFamily="2" charset="2"/>
              <a:buChar char="Ø"/>
            </a:pPr>
            <a:r>
              <a:rPr lang="en-US" sz="2000" dirty="0"/>
              <a:t> done using </a:t>
            </a:r>
            <a:r>
              <a:rPr lang="en-US" sz="2000" dirty="0" err="1"/>
              <a:t>TfidfVectorizer</a:t>
            </a:r>
            <a:r>
              <a:rPr lang="en-US" sz="2000" dirty="0"/>
              <a:t> (TF-IDF) from </a:t>
            </a:r>
            <a:r>
              <a:rPr lang="en-US" sz="2000" dirty="0" err="1"/>
              <a:t>sklearn</a:t>
            </a:r>
            <a:endParaRPr lang="en-US" sz="2000" dirty="0"/>
          </a:p>
          <a:p>
            <a:pPr marL="285750" indent="-285750">
              <a:buFont typeface="Arial" panose="020B0604020202020204" pitchFamily="34" charset="0"/>
              <a:buChar char="•"/>
            </a:pPr>
            <a:r>
              <a:rPr lang="en-US" sz="2000" b="1" dirty="0"/>
              <a:t>Thematic extraction</a:t>
            </a:r>
            <a:r>
              <a:rPr lang="en-US" sz="2000" dirty="0"/>
              <a:t>: </a:t>
            </a:r>
          </a:p>
          <a:p>
            <a:pPr marL="342900" indent="-114300">
              <a:buFont typeface="Wingdings" panose="05000000000000000000" pitchFamily="2" charset="2"/>
              <a:buChar char="Ø"/>
            </a:pPr>
            <a:r>
              <a:rPr lang="en-US" sz="2000" dirty="0"/>
              <a:t> Generating service categories from comments </a:t>
            </a:r>
          </a:p>
          <a:p>
            <a:pPr marL="342900" indent="-114300">
              <a:buFont typeface="Wingdings" panose="05000000000000000000" pitchFamily="2" charset="2"/>
              <a:buChar char="Ø"/>
            </a:pPr>
            <a:r>
              <a:rPr lang="en-US" sz="2000" dirty="0"/>
              <a:t> done using Coherence Model and </a:t>
            </a:r>
            <a:r>
              <a:rPr lang="en-US" sz="2000" dirty="0" err="1"/>
              <a:t>LdaModel</a:t>
            </a:r>
            <a:r>
              <a:rPr lang="en-US" sz="2000" dirty="0"/>
              <a:t> from genism </a:t>
            </a:r>
          </a:p>
          <a:p>
            <a:pPr marL="285750" indent="-285750">
              <a:buFont typeface="Arial" panose="020B0604020202020204" pitchFamily="34" charset="0"/>
              <a:buChar char="•"/>
            </a:pPr>
            <a:r>
              <a:rPr lang="en-US" sz="2000" b="1" dirty="0"/>
              <a:t>Feature Engineering and Transformation</a:t>
            </a:r>
            <a:r>
              <a:rPr lang="en-US" sz="2000" dirty="0"/>
              <a:t>: </a:t>
            </a:r>
          </a:p>
          <a:p>
            <a:pPr marL="342900" indent="-53975">
              <a:buFont typeface="Wingdings" panose="05000000000000000000" pitchFamily="2" charset="2"/>
              <a:buChar char="Ø"/>
            </a:pPr>
            <a:r>
              <a:rPr lang="en-US" sz="2000" dirty="0"/>
              <a:t> Variables isolation into a new dataset with demographic variables</a:t>
            </a:r>
          </a:p>
        </p:txBody>
      </p:sp>
    </p:spTree>
    <p:extLst>
      <p:ext uri="{BB962C8B-B14F-4D97-AF65-F5344CB8AC3E}">
        <p14:creationId xmlns:p14="http://schemas.microsoft.com/office/powerpoint/2010/main" val="3021866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A28C5-521B-4756-9BE4-29590710B9E9}"/>
              </a:ext>
            </a:extLst>
          </p:cNvPr>
          <p:cNvSpPr>
            <a:spLocks noGrp="1"/>
          </p:cNvSpPr>
          <p:nvPr>
            <p:ph type="title"/>
          </p:nvPr>
        </p:nvSpPr>
        <p:spPr>
          <a:xfrm>
            <a:off x="838200" y="0"/>
            <a:ext cx="10515600" cy="1325563"/>
          </a:xfrm>
        </p:spPr>
        <p:txBody>
          <a:bodyPr/>
          <a:lstStyle/>
          <a:p>
            <a:r>
              <a:rPr lang="en-US" b="1" dirty="0"/>
              <a:t>Themes Extracted from TF-IDF Output Terms</a:t>
            </a:r>
          </a:p>
        </p:txBody>
      </p:sp>
      <p:sp>
        <p:nvSpPr>
          <p:cNvPr id="7" name="Rectangle 6">
            <a:extLst>
              <a:ext uri="{FF2B5EF4-FFF2-40B4-BE49-F238E27FC236}">
                <a16:creationId xmlns:a16="http://schemas.microsoft.com/office/drawing/2014/main" id="{D0EAECED-4876-4819-A1FD-A8F1D35B809F}"/>
              </a:ext>
            </a:extLst>
          </p:cNvPr>
          <p:cNvSpPr/>
          <p:nvPr/>
        </p:nvSpPr>
        <p:spPr>
          <a:xfrm>
            <a:off x="3109573" y="1071478"/>
            <a:ext cx="5972854" cy="461665"/>
          </a:xfrm>
          <a:prstGeom prst="rect">
            <a:avLst/>
          </a:prstGeom>
        </p:spPr>
        <p:txBody>
          <a:bodyPr wrap="none">
            <a:spAutoFit/>
          </a:bodyPr>
          <a:lstStyle/>
          <a:p>
            <a:r>
              <a:rPr lang="en-US" sz="2400" b="1" dirty="0"/>
              <a:t>Service Categories: Themes and Departments</a:t>
            </a:r>
          </a:p>
        </p:txBody>
      </p:sp>
      <mc:AlternateContent xmlns:mc="http://schemas.openxmlformats.org/markup-compatibility/2006" xmlns:cx2="http://schemas.microsoft.com/office/drawing/2015/10/21/chartex">
        <mc:Choice Requires="cx2">
          <p:graphicFrame>
            <p:nvGraphicFramePr>
              <p:cNvPr id="8" name="Chart 7">
                <a:extLst>
                  <a:ext uri="{FF2B5EF4-FFF2-40B4-BE49-F238E27FC236}">
                    <a16:creationId xmlns:a16="http://schemas.microsoft.com/office/drawing/2014/main" id="{53E4C9A7-FCEA-4826-9F32-2F77DA9DF8D6}"/>
                  </a:ext>
                </a:extLst>
              </p:cNvPr>
              <p:cNvGraphicFramePr/>
              <p:nvPr>
                <p:extLst>
                  <p:ext uri="{D42A27DB-BD31-4B8C-83A1-F6EECF244321}">
                    <p14:modId xmlns:p14="http://schemas.microsoft.com/office/powerpoint/2010/main" val="1419744837"/>
                  </p:ext>
                </p:extLst>
              </p:nvPr>
            </p:nvGraphicFramePr>
            <p:xfrm>
              <a:off x="1977887" y="1631965"/>
              <a:ext cx="7971183" cy="4154557"/>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8" name="Chart 7">
                <a:extLst>
                  <a:ext uri="{FF2B5EF4-FFF2-40B4-BE49-F238E27FC236}">
                    <a16:creationId xmlns:a16="http://schemas.microsoft.com/office/drawing/2014/main" id="{53E4C9A7-FCEA-4826-9F32-2F77DA9DF8D6}"/>
                  </a:ext>
                </a:extLst>
              </p:cNvPr>
              <p:cNvPicPr>
                <a:picLocks noGrp="1" noRot="1" noChangeAspect="1" noMove="1" noResize="1" noEditPoints="1" noAdjustHandles="1" noChangeArrowheads="1" noChangeShapeType="1"/>
              </p:cNvPicPr>
              <p:nvPr/>
            </p:nvPicPr>
            <p:blipFill>
              <a:blip r:embed="rId3"/>
              <a:stretch>
                <a:fillRect/>
              </a:stretch>
            </p:blipFill>
            <p:spPr>
              <a:xfrm>
                <a:off x="1977887" y="1631965"/>
                <a:ext cx="7971183" cy="4154557"/>
              </a:xfrm>
              <a:prstGeom prst="rect">
                <a:avLst/>
              </a:prstGeom>
            </p:spPr>
          </p:pic>
        </mc:Fallback>
      </mc:AlternateContent>
    </p:spTree>
    <p:extLst>
      <p:ext uri="{BB962C8B-B14F-4D97-AF65-F5344CB8AC3E}">
        <p14:creationId xmlns:p14="http://schemas.microsoft.com/office/powerpoint/2010/main" val="1785667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E8FDC-58AA-4295-9981-40822A917698}"/>
              </a:ext>
            </a:extLst>
          </p:cNvPr>
          <p:cNvSpPr>
            <a:spLocks noGrp="1"/>
          </p:cNvSpPr>
          <p:nvPr>
            <p:ph type="title"/>
          </p:nvPr>
        </p:nvSpPr>
        <p:spPr>
          <a:xfrm>
            <a:off x="1056861" y="1080742"/>
            <a:ext cx="10515600" cy="1056171"/>
          </a:xfrm>
        </p:spPr>
        <p:txBody>
          <a:bodyPr/>
          <a:lstStyle/>
          <a:p>
            <a:r>
              <a:rPr lang="en-US" b="1" dirty="0"/>
              <a:t>Feature Engineering and Analysis </a:t>
            </a:r>
          </a:p>
        </p:txBody>
      </p:sp>
      <p:sp>
        <p:nvSpPr>
          <p:cNvPr id="3" name="Rectangle 2">
            <a:extLst>
              <a:ext uri="{FF2B5EF4-FFF2-40B4-BE49-F238E27FC236}">
                <a16:creationId xmlns:a16="http://schemas.microsoft.com/office/drawing/2014/main" id="{4893DF91-6F0B-4ECA-BAD7-9CD260778466}"/>
              </a:ext>
            </a:extLst>
          </p:cNvPr>
          <p:cNvSpPr/>
          <p:nvPr/>
        </p:nvSpPr>
        <p:spPr>
          <a:xfrm>
            <a:off x="2044148" y="2414634"/>
            <a:ext cx="7348330" cy="2554545"/>
          </a:xfrm>
          <a:prstGeom prst="rect">
            <a:avLst/>
          </a:prstGeom>
        </p:spPr>
        <p:txBody>
          <a:bodyPr wrap="square">
            <a:spAutoFit/>
          </a:bodyPr>
          <a:lstStyle/>
          <a:p>
            <a:pPr marL="285750" indent="-285750">
              <a:buFont typeface="Courier New" panose="02070309020205020404" pitchFamily="49" charset="0"/>
              <a:buChar char="o"/>
            </a:pPr>
            <a:r>
              <a:rPr lang="en-US" sz="2000" dirty="0"/>
              <a:t>Feature engineering isolated variables and generated a new dataset with the variables of interest. </a:t>
            </a:r>
          </a:p>
          <a:p>
            <a:pPr marL="285750" indent="-285750">
              <a:buFont typeface="Courier New" panose="02070309020205020404" pitchFamily="49" charset="0"/>
              <a:buChar char="o"/>
            </a:pPr>
            <a:r>
              <a:rPr lang="en-US" sz="2000" dirty="0"/>
              <a:t>It enhanced the analysis of demographics and cross-demographic data. </a:t>
            </a:r>
          </a:p>
          <a:p>
            <a:pPr marL="285750" indent="-285750">
              <a:buFont typeface="Courier New" panose="02070309020205020404" pitchFamily="49" charset="0"/>
              <a:buChar char="o"/>
            </a:pPr>
            <a:r>
              <a:rPr lang="en-US" sz="2000" dirty="0"/>
              <a:t>It helped built demographic and cross-demographic dashboard </a:t>
            </a:r>
          </a:p>
          <a:p>
            <a:pPr marL="285750" indent="-285750">
              <a:buFont typeface="Courier New" panose="02070309020205020404" pitchFamily="49" charset="0"/>
              <a:buChar char="o"/>
            </a:pPr>
            <a:r>
              <a:rPr lang="en-US" sz="2000" dirty="0"/>
              <a:t>The characteristics of age, nationality, language, and gender were  isolated and visualized using interactive </a:t>
            </a:r>
            <a:r>
              <a:rPr lang="en-US" sz="2000" dirty="0" err="1"/>
              <a:t>plotly</a:t>
            </a:r>
            <a:r>
              <a:rPr lang="en-US" sz="2000" dirty="0"/>
              <a:t> graphs, as shown in the following subplots.</a:t>
            </a:r>
          </a:p>
        </p:txBody>
      </p:sp>
    </p:spTree>
    <p:extLst>
      <p:ext uri="{BB962C8B-B14F-4D97-AF65-F5344CB8AC3E}">
        <p14:creationId xmlns:p14="http://schemas.microsoft.com/office/powerpoint/2010/main" val="729928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3F633-A184-44F0-BC02-90C06DA78123}"/>
              </a:ext>
            </a:extLst>
          </p:cNvPr>
          <p:cNvSpPr>
            <a:spLocks noGrp="1"/>
          </p:cNvSpPr>
          <p:nvPr>
            <p:ph type="title"/>
          </p:nvPr>
        </p:nvSpPr>
        <p:spPr>
          <a:xfrm>
            <a:off x="838200" y="365606"/>
            <a:ext cx="10515600" cy="646331"/>
          </a:xfrm>
        </p:spPr>
        <p:txBody>
          <a:bodyPr>
            <a:normAutofit fontScale="90000"/>
          </a:bodyPr>
          <a:lstStyle/>
          <a:p>
            <a:pPr algn="ctr"/>
            <a:r>
              <a:rPr lang="en-US" b="1" dirty="0"/>
              <a:t>Some of the Visualizations from Feature Engineering </a:t>
            </a:r>
          </a:p>
        </p:txBody>
      </p:sp>
      <p:sp>
        <p:nvSpPr>
          <p:cNvPr id="4" name="Rectangle 3">
            <a:extLst>
              <a:ext uri="{FF2B5EF4-FFF2-40B4-BE49-F238E27FC236}">
                <a16:creationId xmlns:a16="http://schemas.microsoft.com/office/drawing/2014/main" id="{171BB39D-B0B9-4683-A99A-C4306DF3CF52}"/>
              </a:ext>
            </a:extLst>
          </p:cNvPr>
          <p:cNvSpPr/>
          <p:nvPr/>
        </p:nvSpPr>
        <p:spPr>
          <a:xfrm>
            <a:off x="4787747" y="5846063"/>
            <a:ext cx="6030941" cy="646331"/>
          </a:xfrm>
          <a:prstGeom prst="rect">
            <a:avLst/>
          </a:prstGeom>
        </p:spPr>
        <p:txBody>
          <a:bodyPr wrap="square">
            <a:spAutoFit/>
          </a:bodyPr>
          <a:lstStyle/>
          <a:p>
            <a:r>
              <a:rPr lang="en-US" b="1" i="1" dirty="0"/>
              <a:t>These subplots, and some not shown, builds the demographic and cross-demographic dashboard analysis </a:t>
            </a:r>
          </a:p>
        </p:txBody>
      </p:sp>
      <p:pic>
        <p:nvPicPr>
          <p:cNvPr id="6" name="Picture 5">
            <a:extLst>
              <a:ext uri="{FF2B5EF4-FFF2-40B4-BE49-F238E27FC236}">
                <a16:creationId xmlns:a16="http://schemas.microsoft.com/office/drawing/2014/main" id="{B19D9452-6A10-49A7-B977-AFA89FBF7007}"/>
              </a:ext>
            </a:extLst>
          </p:cNvPr>
          <p:cNvPicPr>
            <a:picLocks noChangeAspect="1"/>
          </p:cNvPicPr>
          <p:nvPr/>
        </p:nvPicPr>
        <p:blipFill>
          <a:blip r:embed="rId2"/>
          <a:stretch>
            <a:fillRect/>
          </a:stretch>
        </p:blipFill>
        <p:spPr>
          <a:xfrm>
            <a:off x="7091413" y="1760338"/>
            <a:ext cx="4877223" cy="3864481"/>
          </a:xfrm>
          <a:prstGeom prst="rect">
            <a:avLst/>
          </a:prstGeom>
        </p:spPr>
      </p:pic>
      <p:pic>
        <p:nvPicPr>
          <p:cNvPr id="5" name="Picture 4">
            <a:extLst>
              <a:ext uri="{FF2B5EF4-FFF2-40B4-BE49-F238E27FC236}">
                <a16:creationId xmlns:a16="http://schemas.microsoft.com/office/drawing/2014/main" id="{F4B7568F-19C4-4761-BA8A-AC80F98A1B25}"/>
              </a:ext>
            </a:extLst>
          </p:cNvPr>
          <p:cNvPicPr>
            <a:picLocks noChangeAspect="1"/>
          </p:cNvPicPr>
          <p:nvPr/>
        </p:nvPicPr>
        <p:blipFill>
          <a:blip r:embed="rId3"/>
          <a:stretch>
            <a:fillRect/>
          </a:stretch>
        </p:blipFill>
        <p:spPr>
          <a:xfrm>
            <a:off x="0" y="1868557"/>
            <a:ext cx="6741733" cy="3977506"/>
          </a:xfrm>
          <a:prstGeom prst="rect">
            <a:avLst/>
          </a:prstGeom>
        </p:spPr>
      </p:pic>
    </p:spTree>
    <p:extLst>
      <p:ext uri="{BB962C8B-B14F-4D97-AF65-F5344CB8AC3E}">
        <p14:creationId xmlns:p14="http://schemas.microsoft.com/office/powerpoint/2010/main" val="3903042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10B5E5-E2E8-48D2-81FA-BCCEF6072F8F}"/>
              </a:ext>
            </a:extLst>
          </p:cNvPr>
          <p:cNvSpPr/>
          <p:nvPr/>
        </p:nvSpPr>
        <p:spPr>
          <a:xfrm>
            <a:off x="1366463" y="5153521"/>
            <a:ext cx="10572108" cy="707886"/>
          </a:xfrm>
          <a:prstGeom prst="rect">
            <a:avLst/>
          </a:prstGeom>
        </p:spPr>
        <p:txBody>
          <a:bodyPr wrap="square">
            <a:spAutoFit/>
          </a:bodyPr>
          <a:lstStyle/>
          <a:p>
            <a:r>
              <a:rPr lang="en-US" sz="2000" b="1" i="1" dirty="0"/>
              <a:t>These subplots, and some not shown, builds the demographic and cross-demographic dashboard analysis </a:t>
            </a:r>
          </a:p>
        </p:txBody>
      </p:sp>
      <p:pic>
        <p:nvPicPr>
          <p:cNvPr id="4" name="Picture 3">
            <a:extLst>
              <a:ext uri="{FF2B5EF4-FFF2-40B4-BE49-F238E27FC236}">
                <a16:creationId xmlns:a16="http://schemas.microsoft.com/office/drawing/2014/main" id="{51925CF7-5798-430A-B525-F2C970476FD9}"/>
              </a:ext>
            </a:extLst>
          </p:cNvPr>
          <p:cNvPicPr>
            <a:picLocks noChangeAspect="1"/>
          </p:cNvPicPr>
          <p:nvPr/>
        </p:nvPicPr>
        <p:blipFill>
          <a:blip r:embed="rId2"/>
          <a:stretch>
            <a:fillRect/>
          </a:stretch>
        </p:blipFill>
        <p:spPr>
          <a:xfrm>
            <a:off x="6366530" y="626165"/>
            <a:ext cx="5466503" cy="4356801"/>
          </a:xfrm>
          <a:prstGeom prst="rect">
            <a:avLst/>
          </a:prstGeom>
        </p:spPr>
      </p:pic>
      <p:pic>
        <p:nvPicPr>
          <p:cNvPr id="3" name="Picture 2">
            <a:extLst>
              <a:ext uri="{FF2B5EF4-FFF2-40B4-BE49-F238E27FC236}">
                <a16:creationId xmlns:a16="http://schemas.microsoft.com/office/drawing/2014/main" id="{E10D5D09-E7A4-40FC-B7F8-29E55D3A459F}"/>
              </a:ext>
            </a:extLst>
          </p:cNvPr>
          <p:cNvPicPr>
            <a:picLocks noChangeAspect="1"/>
          </p:cNvPicPr>
          <p:nvPr/>
        </p:nvPicPr>
        <p:blipFill>
          <a:blip r:embed="rId3"/>
          <a:stretch>
            <a:fillRect/>
          </a:stretch>
        </p:blipFill>
        <p:spPr>
          <a:xfrm>
            <a:off x="195855" y="626165"/>
            <a:ext cx="6170675" cy="4356800"/>
          </a:xfrm>
          <a:prstGeom prst="rect">
            <a:avLst/>
          </a:prstGeom>
        </p:spPr>
      </p:pic>
    </p:spTree>
    <p:extLst>
      <p:ext uri="{BB962C8B-B14F-4D97-AF65-F5344CB8AC3E}">
        <p14:creationId xmlns:p14="http://schemas.microsoft.com/office/powerpoint/2010/main" val="846876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51D48A-94F5-4557-82D9-1EF1B0F2A5C3}"/>
              </a:ext>
            </a:extLst>
          </p:cNvPr>
          <p:cNvSpPr/>
          <p:nvPr/>
        </p:nvSpPr>
        <p:spPr>
          <a:xfrm>
            <a:off x="1413240" y="548383"/>
            <a:ext cx="9146863" cy="769441"/>
          </a:xfrm>
          <a:prstGeom prst="rect">
            <a:avLst/>
          </a:prstGeom>
        </p:spPr>
        <p:txBody>
          <a:bodyPr wrap="none">
            <a:spAutoFit/>
          </a:bodyPr>
          <a:lstStyle/>
          <a:p>
            <a:pPr algn="ctr"/>
            <a:r>
              <a:rPr lang="en-US" sz="4400" b="1" u="sng" dirty="0">
                <a:latin typeface="+mj-lt"/>
              </a:rPr>
              <a:t>Models used and Evaluation Techniques</a:t>
            </a:r>
          </a:p>
        </p:txBody>
      </p:sp>
      <p:sp>
        <p:nvSpPr>
          <p:cNvPr id="3" name="Rectangle 2">
            <a:extLst>
              <a:ext uri="{FF2B5EF4-FFF2-40B4-BE49-F238E27FC236}">
                <a16:creationId xmlns:a16="http://schemas.microsoft.com/office/drawing/2014/main" id="{D9B32AF9-E741-493F-9C1C-9D2B25611560}"/>
              </a:ext>
            </a:extLst>
          </p:cNvPr>
          <p:cNvSpPr/>
          <p:nvPr/>
        </p:nvSpPr>
        <p:spPr>
          <a:xfrm>
            <a:off x="1600202" y="1323637"/>
            <a:ext cx="10038520" cy="4985980"/>
          </a:xfrm>
          <a:prstGeom prst="rect">
            <a:avLst/>
          </a:prstGeom>
        </p:spPr>
        <p:txBody>
          <a:bodyPr wrap="square">
            <a:spAutoFit/>
          </a:bodyPr>
          <a:lstStyle/>
          <a:p>
            <a:pPr marL="285750" indent="-285750">
              <a:buFont typeface="Arial" panose="020B0604020202020204" pitchFamily="34" charset="0"/>
              <a:buChar char="•"/>
            </a:pPr>
            <a:r>
              <a:rPr lang="en-US" sz="2000" b="1" dirty="0"/>
              <a:t>Machine Learning Classification Models:</a:t>
            </a:r>
          </a:p>
          <a:p>
            <a:pPr marL="285750" indent="3175">
              <a:buFont typeface="Wingdings" panose="05000000000000000000" pitchFamily="2" charset="2"/>
              <a:buChar char="v"/>
            </a:pPr>
            <a:r>
              <a:rPr lang="en-US" sz="2000" dirty="0"/>
              <a:t> </a:t>
            </a:r>
            <a:r>
              <a:rPr lang="en-US" sz="2000" b="1" dirty="0"/>
              <a:t>Traditional models:  </a:t>
            </a:r>
            <a:r>
              <a:rPr lang="en-US" sz="2000" dirty="0"/>
              <a:t>Logistics Regression, Support Vector Machine (SVM),  </a:t>
            </a:r>
          </a:p>
          <a:p>
            <a:pPr marL="742950" lvl="1"/>
            <a:r>
              <a:rPr lang="en-US" sz="2000" dirty="0"/>
              <a:t>			</a:t>
            </a:r>
            <a:r>
              <a:rPr lang="en-US" sz="2000" dirty="0" err="1"/>
              <a:t>XGBoost</a:t>
            </a:r>
            <a:r>
              <a:rPr lang="en-US" sz="2000" dirty="0"/>
              <a:t>, and Decision Tree</a:t>
            </a:r>
          </a:p>
          <a:p>
            <a:pPr marL="288925" indent="-288925">
              <a:buFont typeface="Arial" panose="020B0604020202020204" pitchFamily="34" charset="0"/>
              <a:buChar char="•"/>
            </a:pPr>
            <a:r>
              <a:rPr lang="en-US" sz="2000" b="1" dirty="0"/>
              <a:t>Thematic Extraction Models </a:t>
            </a:r>
          </a:p>
          <a:p>
            <a:pPr marL="285750" indent="3175">
              <a:buFont typeface="Wingdings" panose="05000000000000000000" pitchFamily="2" charset="2"/>
              <a:buChar char="v"/>
            </a:pPr>
            <a:r>
              <a:rPr lang="en-US" sz="2000" dirty="0" err="1"/>
              <a:t>Gensim</a:t>
            </a:r>
            <a:r>
              <a:rPr lang="en-US" sz="2000" dirty="0"/>
              <a:t> Models </a:t>
            </a:r>
          </a:p>
          <a:p>
            <a:pPr marL="804863" indent="-119063">
              <a:buFont typeface="Courier New" panose="02070309020205020404" pitchFamily="49" charset="0"/>
              <a:buChar char="o"/>
            </a:pPr>
            <a:r>
              <a:rPr lang="en-US" sz="2000" dirty="0"/>
              <a:t> LDA, Latent Dirichlet Allocation</a:t>
            </a:r>
          </a:p>
          <a:p>
            <a:pPr marL="804863" indent="-119063">
              <a:buFont typeface="Courier New" panose="02070309020205020404" pitchFamily="49" charset="0"/>
              <a:buChar char="o"/>
            </a:pPr>
            <a:r>
              <a:rPr lang="en-US" sz="2000" dirty="0"/>
              <a:t> </a:t>
            </a:r>
            <a:r>
              <a:rPr lang="en-US" sz="2000" dirty="0" err="1"/>
              <a:t>CoherenceModel</a:t>
            </a:r>
            <a:endParaRPr lang="en-US" sz="2000" dirty="0"/>
          </a:p>
          <a:p>
            <a:pPr marL="285750" indent="-285750">
              <a:buFont typeface="Arial" panose="020B0604020202020204" pitchFamily="34" charset="0"/>
              <a:buChar char="•"/>
            </a:pPr>
            <a:r>
              <a:rPr lang="en-US" sz="2000" b="1" dirty="0"/>
              <a:t>Sentiment Analysis and Classification Models Deep Learning Models: </a:t>
            </a:r>
            <a:endParaRPr lang="en-US" sz="2000" dirty="0"/>
          </a:p>
          <a:p>
            <a:pPr marL="517525" indent="-228600">
              <a:buFont typeface="Wingdings" panose="05000000000000000000" pitchFamily="2" charset="2"/>
              <a:buChar char="v"/>
            </a:pPr>
            <a:r>
              <a:rPr lang="en-US" sz="2000" dirty="0"/>
              <a:t> Sentiment Intensity Analyzer </a:t>
            </a:r>
          </a:p>
          <a:p>
            <a:pPr marL="517525" indent="-228600">
              <a:buFont typeface="Wingdings" panose="05000000000000000000" pitchFamily="2" charset="2"/>
              <a:buChar char="v"/>
            </a:pPr>
            <a:r>
              <a:rPr lang="en-US" sz="2000" dirty="0" err="1"/>
              <a:t>AutomodelForSequenceClassifications</a:t>
            </a:r>
            <a:r>
              <a:rPr lang="en-US" sz="2000" dirty="0"/>
              <a:t> </a:t>
            </a:r>
          </a:p>
          <a:p>
            <a:pPr marL="804863" indent="-119063">
              <a:buFont typeface="Courier New" panose="02070309020205020404" pitchFamily="49" charset="0"/>
              <a:buChar char="o"/>
            </a:pPr>
            <a:r>
              <a:rPr lang="en-US" sz="2000" dirty="0"/>
              <a:t>Distilbert-base-uncased-finetuned-sst-2-English </a:t>
            </a:r>
          </a:p>
          <a:p>
            <a:pPr marL="804863" indent="-119063">
              <a:buFont typeface="Courier New" panose="02070309020205020404" pitchFamily="49" charset="0"/>
              <a:buChar char="o"/>
            </a:pPr>
            <a:r>
              <a:rPr lang="en-US" sz="2000" dirty="0"/>
              <a:t>Bert-base-uncased</a:t>
            </a:r>
          </a:p>
          <a:p>
            <a:pPr marL="285750" indent="-285750">
              <a:buFont typeface="Arial" panose="020B0604020202020204" pitchFamily="34" charset="0"/>
              <a:buChar char="•"/>
            </a:pPr>
            <a:r>
              <a:rPr lang="en-US" sz="2000" b="1" dirty="0"/>
              <a:t>Comparison Metrics</a:t>
            </a:r>
          </a:p>
          <a:p>
            <a:pPr marL="342900" indent="-342900">
              <a:buFont typeface="Wingdings" panose="05000000000000000000" pitchFamily="2" charset="2"/>
              <a:buChar char="v"/>
            </a:pPr>
            <a:r>
              <a:rPr lang="en-US" sz="2000" dirty="0"/>
              <a:t>Evaluation of performance using Precision, Recall, F1-score, Confusion matrix, and Accuracy scores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43109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06007-E13C-4DFF-B7A4-1BBFAB78B0E8}"/>
              </a:ext>
            </a:extLst>
          </p:cNvPr>
          <p:cNvSpPr>
            <a:spLocks noGrp="1"/>
          </p:cNvSpPr>
          <p:nvPr>
            <p:ph type="title"/>
          </p:nvPr>
        </p:nvSpPr>
        <p:spPr>
          <a:xfrm>
            <a:off x="838200" y="365125"/>
            <a:ext cx="10515600" cy="986597"/>
          </a:xfrm>
        </p:spPr>
        <p:txBody>
          <a:bodyPr/>
          <a:lstStyle/>
          <a:p>
            <a:pPr algn="ctr"/>
            <a:r>
              <a:rPr lang="en-US" b="1" u="sng" dirty="0"/>
              <a:t>Features Used for Modelling and Analysis </a:t>
            </a:r>
          </a:p>
        </p:txBody>
      </p:sp>
      <p:sp>
        <p:nvSpPr>
          <p:cNvPr id="3" name="Rectangle 2">
            <a:extLst>
              <a:ext uri="{FF2B5EF4-FFF2-40B4-BE49-F238E27FC236}">
                <a16:creationId xmlns:a16="http://schemas.microsoft.com/office/drawing/2014/main" id="{A6FA9C16-03A2-4D8E-B5FB-F2254C9DA268}"/>
              </a:ext>
            </a:extLst>
          </p:cNvPr>
          <p:cNvSpPr/>
          <p:nvPr/>
        </p:nvSpPr>
        <p:spPr>
          <a:xfrm>
            <a:off x="653185" y="1271696"/>
            <a:ext cx="10700615" cy="984885"/>
          </a:xfrm>
          <a:prstGeom prst="rect">
            <a:avLst/>
          </a:prstGeom>
        </p:spPr>
        <p:txBody>
          <a:bodyPr wrap="square">
            <a:spAutoFit/>
          </a:bodyPr>
          <a:lstStyle/>
          <a:p>
            <a:r>
              <a:rPr lang="en-US" sz="2000" dirty="0"/>
              <a:t>The following features were used for analysis and modelling borrowed from studies by </a:t>
            </a:r>
            <a:r>
              <a:rPr lang="en-US" sz="2000" i="1" dirty="0"/>
              <a:t>Subhan et al. (2023), Ahmadi and </a:t>
            </a:r>
            <a:r>
              <a:rPr lang="en-US" sz="2000" i="1" dirty="0" err="1"/>
              <a:t>Sudahri</a:t>
            </a:r>
            <a:r>
              <a:rPr lang="en-US" sz="2000" i="1" dirty="0"/>
              <a:t> (2025), and </a:t>
            </a:r>
            <a:r>
              <a:rPr lang="en-US" sz="2000" i="1" dirty="0" err="1"/>
              <a:t>Firdos</a:t>
            </a:r>
            <a:r>
              <a:rPr lang="en-US" sz="2000" i="1" dirty="0"/>
              <a:t> and </a:t>
            </a:r>
            <a:r>
              <a:rPr lang="en-US" sz="2000" i="1" dirty="0" err="1"/>
              <a:t>Dermawan</a:t>
            </a:r>
            <a:r>
              <a:rPr lang="en-US" sz="2000" i="1" dirty="0"/>
              <a:t> (2023) </a:t>
            </a:r>
          </a:p>
          <a:p>
            <a:endParaRPr lang="en-US" dirty="0"/>
          </a:p>
        </p:txBody>
      </p:sp>
      <p:pic>
        <p:nvPicPr>
          <p:cNvPr id="4" name="Picture 3">
            <a:extLst>
              <a:ext uri="{FF2B5EF4-FFF2-40B4-BE49-F238E27FC236}">
                <a16:creationId xmlns:a16="http://schemas.microsoft.com/office/drawing/2014/main" id="{097ED659-6E1A-489C-9C95-5572C9D662F1}"/>
              </a:ext>
            </a:extLst>
          </p:cNvPr>
          <p:cNvPicPr>
            <a:picLocks noChangeAspect="1"/>
          </p:cNvPicPr>
          <p:nvPr/>
        </p:nvPicPr>
        <p:blipFill>
          <a:blip r:embed="rId2"/>
          <a:stretch>
            <a:fillRect/>
          </a:stretch>
        </p:blipFill>
        <p:spPr>
          <a:xfrm>
            <a:off x="838200" y="2003246"/>
            <a:ext cx="10700614" cy="4602069"/>
          </a:xfrm>
          <a:prstGeom prst="rect">
            <a:avLst/>
          </a:prstGeom>
        </p:spPr>
      </p:pic>
    </p:spTree>
    <p:extLst>
      <p:ext uri="{BB962C8B-B14F-4D97-AF65-F5344CB8AC3E}">
        <p14:creationId xmlns:p14="http://schemas.microsoft.com/office/powerpoint/2010/main" val="39355628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70AC33-B2FC-4689-8348-5B5C165720A2}"/>
              </a:ext>
            </a:extLst>
          </p:cNvPr>
          <p:cNvSpPr/>
          <p:nvPr/>
        </p:nvSpPr>
        <p:spPr>
          <a:xfrm>
            <a:off x="703482" y="449409"/>
            <a:ext cx="9779473" cy="769441"/>
          </a:xfrm>
          <a:prstGeom prst="rect">
            <a:avLst/>
          </a:prstGeom>
        </p:spPr>
        <p:txBody>
          <a:bodyPr wrap="none">
            <a:spAutoFit/>
          </a:bodyPr>
          <a:lstStyle/>
          <a:p>
            <a:pPr algn="ctr"/>
            <a:r>
              <a:rPr lang="en-US" sz="4400" b="1" dirty="0">
                <a:latin typeface="+mj-lt"/>
              </a:rPr>
              <a:t>Summary: Statistics and Visualizations used</a:t>
            </a:r>
          </a:p>
        </p:txBody>
      </p:sp>
      <p:sp>
        <p:nvSpPr>
          <p:cNvPr id="3" name="Rectangle 2">
            <a:extLst>
              <a:ext uri="{FF2B5EF4-FFF2-40B4-BE49-F238E27FC236}">
                <a16:creationId xmlns:a16="http://schemas.microsoft.com/office/drawing/2014/main" id="{771F2A41-1036-46A3-8C64-6AACF1D90D9D}"/>
              </a:ext>
            </a:extLst>
          </p:cNvPr>
          <p:cNvSpPr/>
          <p:nvPr/>
        </p:nvSpPr>
        <p:spPr>
          <a:xfrm>
            <a:off x="914402" y="1218850"/>
            <a:ext cx="10525537" cy="4661276"/>
          </a:xfrm>
          <a:prstGeom prst="rect">
            <a:avLst/>
          </a:prstGeom>
        </p:spPr>
        <p:txBody>
          <a:bodyPr wrap="square">
            <a:spAutoFit/>
          </a:bodyPr>
          <a:lstStyle/>
          <a:p>
            <a:pPr marL="285750" indent="-285750">
              <a:lnSpc>
                <a:spcPct val="150000"/>
              </a:lnSpc>
              <a:buFont typeface="Arial" panose="020B0604020202020204" pitchFamily="34" charset="0"/>
              <a:buChar char="•"/>
            </a:pPr>
            <a:r>
              <a:rPr lang="en-US" sz="2000" b="1" dirty="0"/>
              <a:t>Tables: </a:t>
            </a:r>
            <a:r>
              <a:rPr lang="en-US" sz="2000" dirty="0"/>
              <a:t>statistical summary of the dataset and frequency distributions </a:t>
            </a:r>
          </a:p>
          <a:p>
            <a:pPr marL="285750" indent="-285750">
              <a:lnSpc>
                <a:spcPct val="150000"/>
              </a:lnSpc>
              <a:buFont typeface="Arial" panose="020B0604020202020204" pitchFamily="34" charset="0"/>
              <a:buChar char="•"/>
            </a:pPr>
            <a:r>
              <a:rPr lang="en-US" sz="2000" b="1" dirty="0"/>
              <a:t>Line graph </a:t>
            </a:r>
            <a:r>
              <a:rPr lang="en-US" sz="2000" dirty="0"/>
              <a:t>showing Age demographic analysis with statistical markers </a:t>
            </a:r>
          </a:p>
          <a:p>
            <a:pPr marL="285750" indent="-285750">
              <a:lnSpc>
                <a:spcPct val="150000"/>
              </a:lnSpc>
              <a:buFont typeface="Arial" panose="020B0604020202020204" pitchFamily="34" charset="0"/>
              <a:buChar char="•"/>
            </a:pPr>
            <a:r>
              <a:rPr lang="en-US" sz="2000" b="1" dirty="0"/>
              <a:t>Interactive line graph </a:t>
            </a:r>
            <a:r>
              <a:rPr lang="en-US" sz="2000" dirty="0"/>
              <a:t>showing age distribution </a:t>
            </a:r>
          </a:p>
          <a:p>
            <a:pPr marL="285750" indent="-285750">
              <a:lnSpc>
                <a:spcPct val="150000"/>
              </a:lnSpc>
              <a:buFont typeface="Arial" panose="020B0604020202020204" pitchFamily="34" charset="0"/>
              <a:buChar char="•"/>
            </a:pPr>
            <a:r>
              <a:rPr lang="en-US" sz="2000" b="1" dirty="0"/>
              <a:t>Bubble maps </a:t>
            </a:r>
            <a:r>
              <a:rPr lang="en-US" sz="2000" dirty="0"/>
              <a:t>showing nationality and gender by mean age</a:t>
            </a:r>
          </a:p>
          <a:p>
            <a:pPr marL="285750" indent="-285750">
              <a:lnSpc>
                <a:spcPct val="150000"/>
              </a:lnSpc>
              <a:buFont typeface="Arial" panose="020B0604020202020204" pitchFamily="34" charset="0"/>
              <a:buChar char="•"/>
            </a:pPr>
            <a:r>
              <a:rPr lang="en-US" sz="2000" b="1" dirty="0"/>
              <a:t>Histogram </a:t>
            </a:r>
            <a:r>
              <a:rPr lang="en-US" sz="2000" dirty="0"/>
              <a:t>showing demographics of nationality by gender </a:t>
            </a:r>
          </a:p>
          <a:p>
            <a:pPr marL="285750" indent="-285750">
              <a:lnSpc>
                <a:spcPct val="150000"/>
              </a:lnSpc>
              <a:buFont typeface="Arial" panose="020B0604020202020204" pitchFamily="34" charset="0"/>
              <a:buChar char="•"/>
            </a:pPr>
            <a:r>
              <a:rPr lang="en-US" sz="2000" b="1" dirty="0"/>
              <a:t>Interactive histogram </a:t>
            </a:r>
            <a:r>
              <a:rPr lang="en-US" sz="2000" dirty="0"/>
              <a:t>showing demographic characteristics of age, gender, and nationality </a:t>
            </a:r>
          </a:p>
          <a:p>
            <a:pPr marL="285750" indent="-285750">
              <a:lnSpc>
                <a:spcPct val="150000"/>
              </a:lnSpc>
              <a:buFont typeface="Arial" panose="020B0604020202020204" pitchFamily="34" charset="0"/>
              <a:buChar char="•"/>
            </a:pPr>
            <a:r>
              <a:rPr lang="en-US" sz="2000" b="1" dirty="0"/>
              <a:t>Scatter plot </a:t>
            </a:r>
            <a:r>
              <a:rPr lang="en-US" sz="2000" dirty="0"/>
              <a:t>showing distribution of confidence of sentimental analysis </a:t>
            </a:r>
          </a:p>
          <a:p>
            <a:pPr marL="285750" indent="-285750">
              <a:lnSpc>
                <a:spcPct val="150000"/>
              </a:lnSpc>
              <a:buFont typeface="Arial" panose="020B0604020202020204" pitchFamily="34" charset="0"/>
              <a:buChar char="•"/>
            </a:pPr>
            <a:r>
              <a:rPr lang="en-US" sz="2000" b="1" dirty="0"/>
              <a:t>Bar graph </a:t>
            </a:r>
            <a:r>
              <a:rPr lang="en-US" sz="2000" dirty="0"/>
              <a:t>showing negative sentiments per department and service category</a:t>
            </a:r>
          </a:p>
          <a:p>
            <a:pPr marL="285750" indent="-285750">
              <a:lnSpc>
                <a:spcPct val="150000"/>
              </a:lnSpc>
              <a:buFont typeface="Arial" panose="020B0604020202020204" pitchFamily="34" charset="0"/>
              <a:buChar char="•"/>
            </a:pPr>
            <a:r>
              <a:rPr lang="en-US" sz="2000" b="1" dirty="0"/>
              <a:t>Stacked Bar plot</a:t>
            </a:r>
            <a:r>
              <a:rPr lang="en-US" sz="2000" dirty="0"/>
              <a:t> showing demographics of gender and language  </a:t>
            </a:r>
          </a:p>
          <a:p>
            <a:pPr marL="285750" indent="-285750">
              <a:lnSpc>
                <a:spcPct val="150000"/>
              </a:lnSpc>
              <a:buFont typeface="Arial" panose="020B0604020202020204" pitchFamily="34" charset="0"/>
              <a:buChar char="•"/>
            </a:pPr>
            <a:r>
              <a:rPr lang="en-US" sz="2000" b="1" dirty="0"/>
              <a:t>Pie Chart </a:t>
            </a:r>
            <a:r>
              <a:rPr lang="en-US" sz="2000" dirty="0"/>
              <a:t>showing proportionality of gender distribution </a:t>
            </a:r>
            <a:endParaRPr lang="en-US" sz="2000" b="1" dirty="0"/>
          </a:p>
        </p:txBody>
      </p:sp>
    </p:spTree>
    <p:extLst>
      <p:ext uri="{BB962C8B-B14F-4D97-AF65-F5344CB8AC3E}">
        <p14:creationId xmlns:p14="http://schemas.microsoft.com/office/powerpoint/2010/main" val="1285519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0522B-206B-431A-8C29-5C29DCC52EC1}"/>
              </a:ext>
            </a:extLst>
          </p:cNvPr>
          <p:cNvSpPr>
            <a:spLocks noGrp="1"/>
          </p:cNvSpPr>
          <p:nvPr>
            <p:ph type="title"/>
          </p:nvPr>
        </p:nvSpPr>
        <p:spPr>
          <a:xfrm>
            <a:off x="838200" y="308113"/>
            <a:ext cx="10515600" cy="904463"/>
          </a:xfrm>
        </p:spPr>
        <p:txBody>
          <a:bodyPr>
            <a:normAutofit fontScale="90000"/>
          </a:bodyPr>
          <a:lstStyle/>
          <a:p>
            <a:pPr algn="ctr"/>
            <a:br>
              <a:rPr lang="en-US" b="1" dirty="0"/>
            </a:br>
            <a:r>
              <a:rPr lang="en-US" b="1" u="sng" dirty="0"/>
              <a:t>Summary: Main Tools Used in the Project </a:t>
            </a:r>
            <a:br>
              <a:rPr lang="en-US" dirty="0"/>
            </a:br>
            <a:r>
              <a:rPr lang="en-US" sz="2200" b="1" dirty="0"/>
              <a:t>Environment Configuration and Tech Stacks</a:t>
            </a:r>
          </a:p>
        </p:txBody>
      </p:sp>
      <p:sp>
        <p:nvSpPr>
          <p:cNvPr id="3" name="Rectangle 2">
            <a:extLst>
              <a:ext uri="{FF2B5EF4-FFF2-40B4-BE49-F238E27FC236}">
                <a16:creationId xmlns:a16="http://schemas.microsoft.com/office/drawing/2014/main" id="{FB0F26D7-CDF8-4C4E-B07E-484B9EF6C93A}"/>
              </a:ext>
            </a:extLst>
          </p:cNvPr>
          <p:cNvSpPr/>
          <p:nvPr/>
        </p:nvSpPr>
        <p:spPr>
          <a:xfrm>
            <a:off x="1928191" y="1351720"/>
            <a:ext cx="9458739" cy="4678204"/>
          </a:xfrm>
          <a:prstGeom prst="rect">
            <a:avLst/>
          </a:prstGeom>
        </p:spPr>
        <p:txBody>
          <a:bodyPr wrap="square">
            <a:spAutoFit/>
          </a:bodyPr>
          <a:lstStyle/>
          <a:p>
            <a:r>
              <a:rPr lang="en-US" dirty="0"/>
              <a:t>	</a:t>
            </a:r>
            <a:r>
              <a:rPr lang="en-US" sz="2000" dirty="0"/>
              <a:t>________________________________________</a:t>
            </a:r>
          </a:p>
          <a:p>
            <a:r>
              <a:rPr lang="en-US" sz="2000" dirty="0"/>
              <a:t> 	 </a:t>
            </a:r>
          </a:p>
          <a:p>
            <a:r>
              <a:rPr lang="en-US" sz="2000" b="1" dirty="0"/>
              <a:t>	       FUNCTIONS                                  MAIN TOOLS</a:t>
            </a:r>
          </a:p>
          <a:p>
            <a:r>
              <a:rPr lang="en-US" sz="2000" dirty="0"/>
              <a:t>	________________________________________</a:t>
            </a:r>
          </a:p>
          <a:p>
            <a:pPr indent="746125"/>
            <a:r>
              <a:rPr lang="en-US" sz="2000" dirty="0"/>
              <a:t>	</a:t>
            </a:r>
            <a:r>
              <a:rPr lang="en-US" sz="2000" b="1" dirty="0"/>
              <a:t>Programming Language   </a:t>
            </a:r>
            <a:r>
              <a:rPr lang="en-US" sz="2000" dirty="0"/>
              <a:t>            Python 3.10 </a:t>
            </a:r>
          </a:p>
          <a:p>
            <a:pPr indent="746125"/>
            <a:r>
              <a:rPr lang="en-US" sz="2000" dirty="0"/>
              <a:t>	</a:t>
            </a:r>
            <a:r>
              <a:rPr lang="en-US" sz="2000" b="1" dirty="0"/>
              <a:t>Data Processing	</a:t>
            </a:r>
            <a:r>
              <a:rPr lang="en-US" sz="2000" dirty="0"/>
              <a:t>                          </a:t>
            </a:r>
            <a:r>
              <a:rPr lang="en-US" sz="2000" dirty="0" err="1"/>
              <a:t>Scikit</a:t>
            </a:r>
            <a:r>
              <a:rPr lang="en-US" sz="2000" dirty="0"/>
              <a:t>-Learn, Pandas, </a:t>
            </a:r>
            <a:r>
              <a:rPr lang="en-US" sz="2000" dirty="0" err="1"/>
              <a:t>Numpy</a:t>
            </a:r>
            <a:r>
              <a:rPr lang="en-US" sz="2000" dirty="0"/>
              <a:t>, </a:t>
            </a:r>
          </a:p>
          <a:p>
            <a:pPr indent="746125"/>
            <a:r>
              <a:rPr lang="en-US" sz="2000" dirty="0"/>
              <a:t>	</a:t>
            </a:r>
            <a:r>
              <a:rPr lang="en-US" sz="2000" b="1" dirty="0"/>
              <a:t>Visualization</a:t>
            </a:r>
            <a:r>
              <a:rPr lang="en-US" sz="2000" dirty="0"/>
              <a:t>	                          Seaborn, Matplotlib, </a:t>
            </a:r>
            <a:r>
              <a:rPr lang="en-US" sz="2000" dirty="0" err="1"/>
              <a:t>Plotly</a:t>
            </a:r>
            <a:r>
              <a:rPr lang="en-US" sz="2000" dirty="0"/>
              <a:t>			                      </a:t>
            </a:r>
          </a:p>
          <a:p>
            <a:pPr indent="746125"/>
            <a:r>
              <a:rPr lang="en-US" sz="2000" dirty="0"/>
              <a:t>	</a:t>
            </a:r>
            <a:r>
              <a:rPr lang="en-US" sz="2000" b="1" dirty="0"/>
              <a:t>Machine Learning                          </a:t>
            </a:r>
            <a:r>
              <a:rPr lang="en-US" sz="2000" dirty="0" err="1"/>
              <a:t>Scikit</a:t>
            </a:r>
            <a:r>
              <a:rPr lang="en-US" sz="2000" dirty="0"/>
              <a:t>-Learn </a:t>
            </a:r>
          </a:p>
          <a:p>
            <a:pPr indent="746125"/>
            <a:r>
              <a:rPr lang="en-US" sz="2000" dirty="0"/>
              <a:t>	</a:t>
            </a:r>
            <a:r>
              <a:rPr lang="en-US" sz="2000" b="1" dirty="0"/>
              <a:t>Deep Learning                                </a:t>
            </a:r>
            <a:r>
              <a:rPr lang="en-US" sz="2000" dirty="0"/>
              <a:t>Hugging Face Transformer </a:t>
            </a:r>
          </a:p>
          <a:p>
            <a:pPr indent="746125"/>
            <a:r>
              <a:rPr lang="en-US" sz="2000" dirty="0"/>
              <a:t>	</a:t>
            </a:r>
            <a:r>
              <a:rPr lang="en-US" sz="2000" b="1" dirty="0"/>
              <a:t>Model Evaluation                           </a:t>
            </a:r>
            <a:r>
              <a:rPr lang="en-US" sz="2000" dirty="0" err="1"/>
              <a:t>scikit</a:t>
            </a:r>
            <a:r>
              <a:rPr lang="en-US" sz="2000" dirty="0"/>
              <a:t>-Learn, Torch</a:t>
            </a:r>
          </a:p>
          <a:p>
            <a:pPr indent="746125"/>
            <a:r>
              <a:rPr lang="en-US" sz="2000" dirty="0"/>
              <a:t>	</a:t>
            </a:r>
            <a:r>
              <a:rPr lang="en-US" sz="2000" b="1" dirty="0"/>
              <a:t>Text Analysis and Translation       </a:t>
            </a:r>
            <a:r>
              <a:rPr lang="en-US" sz="2000" dirty="0" err="1"/>
              <a:t>Nltk</a:t>
            </a:r>
            <a:r>
              <a:rPr lang="en-US" sz="2000" dirty="0"/>
              <a:t>, Deep Translator, </a:t>
            </a:r>
            <a:r>
              <a:rPr lang="en-US" sz="2000" dirty="0" err="1"/>
              <a:t>Gensim</a:t>
            </a:r>
            <a:r>
              <a:rPr lang="en-US" sz="2000" dirty="0"/>
              <a:t>, Collections</a:t>
            </a:r>
          </a:p>
          <a:p>
            <a:pPr indent="746125"/>
            <a:r>
              <a:rPr lang="en-US" sz="2000" dirty="0"/>
              <a:t>	</a:t>
            </a:r>
            <a:r>
              <a:rPr lang="en-US" sz="2000" b="1" dirty="0"/>
              <a:t>Deployment</a:t>
            </a:r>
            <a:r>
              <a:rPr lang="en-US" sz="2000" dirty="0"/>
              <a:t> 		           </a:t>
            </a:r>
            <a:r>
              <a:rPr lang="en-US" sz="2000" dirty="0" err="1"/>
              <a:t>Streamlit</a:t>
            </a:r>
            <a:r>
              <a:rPr lang="en-US" sz="2000" dirty="0"/>
              <a:t> Cloud Community </a:t>
            </a:r>
          </a:p>
          <a:p>
            <a:pPr indent="746125"/>
            <a:r>
              <a:rPr lang="en-US" sz="2000" dirty="0"/>
              <a:t>	</a:t>
            </a:r>
            <a:r>
              <a:rPr lang="en-US" sz="2000" b="1" dirty="0"/>
              <a:t>Collaboration</a:t>
            </a:r>
            <a:r>
              <a:rPr lang="en-US" sz="2000" dirty="0"/>
              <a:t> 		           Git Bash and Git Hub </a:t>
            </a:r>
          </a:p>
          <a:p>
            <a:pPr indent="746125"/>
            <a:r>
              <a:rPr lang="en-US" sz="2000" dirty="0"/>
              <a:t>	</a:t>
            </a:r>
            <a:r>
              <a:rPr lang="en-US" sz="2000" b="1" dirty="0"/>
              <a:t>Further Analysis	</a:t>
            </a:r>
            <a:r>
              <a:rPr lang="en-US" sz="2000" dirty="0"/>
              <a:t>                           Pivotal Table in Excel Spreadsheet</a:t>
            </a:r>
          </a:p>
          <a:p>
            <a:r>
              <a:rPr lang="en-US" dirty="0"/>
              <a:t>	________________________________________</a:t>
            </a:r>
          </a:p>
        </p:txBody>
      </p:sp>
    </p:spTree>
    <p:extLst>
      <p:ext uri="{BB962C8B-B14F-4D97-AF65-F5344CB8AC3E}">
        <p14:creationId xmlns:p14="http://schemas.microsoft.com/office/powerpoint/2010/main" val="2049013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17FCC8-E16E-4FF3-A389-F5C324CC6541}"/>
              </a:ext>
            </a:extLst>
          </p:cNvPr>
          <p:cNvSpPr/>
          <p:nvPr/>
        </p:nvSpPr>
        <p:spPr>
          <a:xfrm>
            <a:off x="4817572" y="450829"/>
            <a:ext cx="1819409" cy="769441"/>
          </a:xfrm>
          <a:prstGeom prst="rect">
            <a:avLst/>
          </a:prstGeom>
        </p:spPr>
        <p:txBody>
          <a:bodyPr wrap="none">
            <a:spAutoFit/>
          </a:bodyPr>
          <a:lstStyle/>
          <a:p>
            <a:r>
              <a:rPr lang="en-US" sz="4400" b="1" u="sng" dirty="0">
                <a:latin typeface="+mj-lt"/>
              </a:rPr>
              <a:t>Results</a:t>
            </a:r>
          </a:p>
        </p:txBody>
      </p:sp>
      <p:sp>
        <p:nvSpPr>
          <p:cNvPr id="3" name="Rectangle 2">
            <a:extLst>
              <a:ext uri="{FF2B5EF4-FFF2-40B4-BE49-F238E27FC236}">
                <a16:creationId xmlns:a16="http://schemas.microsoft.com/office/drawing/2014/main" id="{F7C7D942-B0E9-48E4-B59A-F9661B2E5AFF}"/>
              </a:ext>
            </a:extLst>
          </p:cNvPr>
          <p:cNvSpPr/>
          <p:nvPr/>
        </p:nvSpPr>
        <p:spPr>
          <a:xfrm>
            <a:off x="1470398" y="2334386"/>
            <a:ext cx="9251204" cy="3276282"/>
          </a:xfrm>
          <a:prstGeom prst="rect">
            <a:avLst/>
          </a:prstGeom>
        </p:spPr>
        <p:txBody>
          <a:bodyPr wrap="square">
            <a:spAutoFit/>
          </a:bodyPr>
          <a:lstStyle/>
          <a:p>
            <a:pPr marL="285750" indent="-285750">
              <a:lnSpc>
                <a:spcPct val="150000"/>
              </a:lnSpc>
              <a:buFont typeface="Wingdings" panose="05000000000000000000" pitchFamily="2" charset="2"/>
              <a:buChar char="§"/>
            </a:pPr>
            <a:r>
              <a:rPr lang="en-US" sz="2000" dirty="0"/>
              <a:t>Summary Of Model Evaluation Performance Metrics</a:t>
            </a:r>
          </a:p>
          <a:p>
            <a:pPr marL="285750" indent="-285750">
              <a:lnSpc>
                <a:spcPct val="150000"/>
              </a:lnSpc>
              <a:buFont typeface="Wingdings" panose="05000000000000000000" pitchFamily="2" charset="2"/>
              <a:buChar char="§"/>
            </a:pPr>
            <a:r>
              <a:rPr lang="en-US" sz="2000" dirty="0"/>
              <a:t>Text Classification And Sentimental  Analysis Of The Model</a:t>
            </a:r>
          </a:p>
          <a:p>
            <a:pPr marL="285750" indent="-285750">
              <a:lnSpc>
                <a:spcPct val="150000"/>
              </a:lnSpc>
              <a:buFont typeface="Wingdings" panose="05000000000000000000" pitchFamily="2" charset="2"/>
              <a:buChar char="§"/>
            </a:pPr>
            <a:r>
              <a:rPr lang="en-US" sz="2000" dirty="0"/>
              <a:t>Visual of Confidence Distribution Showing Accuracy Of Model In Classification And Analysis</a:t>
            </a:r>
          </a:p>
          <a:p>
            <a:pPr marL="285750" indent="-285750">
              <a:lnSpc>
                <a:spcPct val="150000"/>
              </a:lnSpc>
              <a:buFont typeface="Wingdings" panose="05000000000000000000" pitchFamily="2" charset="2"/>
              <a:buChar char="§"/>
            </a:pPr>
            <a:r>
              <a:rPr lang="en-US" sz="2000" dirty="0"/>
              <a:t>Bar Graph of Sentiment Distribution and Service Categories</a:t>
            </a:r>
          </a:p>
          <a:p>
            <a:pPr marL="285750" indent="-285750">
              <a:lnSpc>
                <a:spcPct val="150000"/>
              </a:lnSpc>
              <a:buFont typeface="Wingdings" panose="05000000000000000000" pitchFamily="2" charset="2"/>
              <a:buChar char="§"/>
            </a:pPr>
            <a:r>
              <a:rPr lang="en-US" sz="2000" dirty="0"/>
              <a:t>Theoretical Analysis of the Correlation Between Previous Studies (Expert Analysis) and Model Accuracy</a:t>
            </a:r>
          </a:p>
        </p:txBody>
      </p:sp>
      <p:sp>
        <p:nvSpPr>
          <p:cNvPr id="4" name="Rectangle 3">
            <a:extLst>
              <a:ext uri="{FF2B5EF4-FFF2-40B4-BE49-F238E27FC236}">
                <a16:creationId xmlns:a16="http://schemas.microsoft.com/office/drawing/2014/main" id="{F97606D9-F2DC-4067-A2D0-30F57F57A808}"/>
              </a:ext>
            </a:extLst>
          </p:cNvPr>
          <p:cNvSpPr/>
          <p:nvPr/>
        </p:nvSpPr>
        <p:spPr>
          <a:xfrm>
            <a:off x="960455" y="1499175"/>
            <a:ext cx="10341118" cy="707886"/>
          </a:xfrm>
          <a:prstGeom prst="rect">
            <a:avLst/>
          </a:prstGeom>
        </p:spPr>
        <p:txBody>
          <a:bodyPr wrap="square">
            <a:spAutoFit/>
          </a:bodyPr>
          <a:lstStyle/>
          <a:p>
            <a:pPr marL="285750" indent="-285750">
              <a:buFont typeface="Wingdings" panose="05000000000000000000" pitchFamily="2" charset="2"/>
              <a:buChar char="v"/>
            </a:pPr>
            <a:r>
              <a:rPr lang="en-US" sz="2000" dirty="0"/>
              <a:t>This section explores the findings of the study and project focusing on the following areas which address the research questions and objectives of the project</a:t>
            </a:r>
          </a:p>
        </p:txBody>
      </p:sp>
    </p:spTree>
    <p:extLst>
      <p:ext uri="{BB962C8B-B14F-4D97-AF65-F5344CB8AC3E}">
        <p14:creationId xmlns:p14="http://schemas.microsoft.com/office/powerpoint/2010/main" val="3144211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FC8D8-05C2-4834-A725-1E4199DB61D8}"/>
              </a:ext>
            </a:extLst>
          </p:cNvPr>
          <p:cNvSpPr>
            <a:spLocks noGrp="1"/>
          </p:cNvSpPr>
          <p:nvPr>
            <p:ph type="title"/>
          </p:nvPr>
        </p:nvSpPr>
        <p:spPr>
          <a:xfrm>
            <a:off x="609600" y="19880"/>
            <a:ext cx="10515600" cy="936902"/>
          </a:xfrm>
        </p:spPr>
        <p:txBody>
          <a:bodyPr/>
          <a:lstStyle/>
          <a:p>
            <a:pPr algn="ctr"/>
            <a:r>
              <a:rPr lang="en-US" b="1" dirty="0"/>
              <a:t>Results: Model Performances </a:t>
            </a:r>
          </a:p>
        </p:txBody>
      </p:sp>
      <p:pic>
        <p:nvPicPr>
          <p:cNvPr id="3" name="Picture 2">
            <a:extLst>
              <a:ext uri="{FF2B5EF4-FFF2-40B4-BE49-F238E27FC236}">
                <a16:creationId xmlns:a16="http://schemas.microsoft.com/office/drawing/2014/main" id="{E966571A-0DF3-4D76-9E2C-49B571FA4CD2}"/>
              </a:ext>
            </a:extLst>
          </p:cNvPr>
          <p:cNvPicPr>
            <a:picLocks noChangeAspect="1"/>
          </p:cNvPicPr>
          <p:nvPr/>
        </p:nvPicPr>
        <p:blipFill>
          <a:blip r:embed="rId2"/>
          <a:stretch>
            <a:fillRect/>
          </a:stretch>
        </p:blipFill>
        <p:spPr>
          <a:xfrm>
            <a:off x="0" y="772116"/>
            <a:ext cx="8019289" cy="4800600"/>
          </a:xfrm>
          <a:prstGeom prst="rect">
            <a:avLst/>
          </a:prstGeom>
        </p:spPr>
      </p:pic>
      <p:sp>
        <p:nvSpPr>
          <p:cNvPr id="4" name="Rectangle 3">
            <a:extLst>
              <a:ext uri="{FF2B5EF4-FFF2-40B4-BE49-F238E27FC236}">
                <a16:creationId xmlns:a16="http://schemas.microsoft.com/office/drawing/2014/main" id="{4C2A02BD-0DE2-4D68-ACFF-9ABDF9C37D53}"/>
              </a:ext>
            </a:extLst>
          </p:cNvPr>
          <p:cNvSpPr/>
          <p:nvPr/>
        </p:nvSpPr>
        <p:spPr>
          <a:xfrm>
            <a:off x="7795173" y="2222452"/>
            <a:ext cx="4300747" cy="2862322"/>
          </a:xfrm>
          <a:prstGeom prst="rect">
            <a:avLst/>
          </a:prstGeom>
        </p:spPr>
        <p:txBody>
          <a:bodyPr wrap="square">
            <a:spAutoFit/>
          </a:bodyPr>
          <a:lstStyle/>
          <a:p>
            <a:r>
              <a:rPr lang="en-US" sz="2000" b="1" dirty="0"/>
              <a:t>Performance of Model from lowest to </a:t>
            </a:r>
            <a:r>
              <a:rPr lang="en-US" sz="2000" b="1" dirty="0" err="1"/>
              <a:t>higheest</a:t>
            </a:r>
            <a:endParaRPr lang="en-US" sz="2000" b="1" dirty="0"/>
          </a:p>
          <a:p>
            <a:pPr marL="285750" indent="-285750">
              <a:buFont typeface="Wingdings" panose="05000000000000000000" pitchFamily="2" charset="2"/>
              <a:buChar char="v"/>
            </a:pPr>
            <a:r>
              <a:rPr lang="en-US" sz="2000" dirty="0" err="1"/>
              <a:t>XGBoost</a:t>
            </a:r>
            <a:r>
              <a:rPr lang="en-US" sz="2000" dirty="0"/>
              <a:t> </a:t>
            </a:r>
          </a:p>
          <a:p>
            <a:pPr marL="285750" indent="-285750">
              <a:buFont typeface="Wingdings" panose="05000000000000000000" pitchFamily="2" charset="2"/>
              <a:buChar char="v"/>
            </a:pPr>
            <a:r>
              <a:rPr lang="en-US" sz="2000" dirty="0"/>
              <a:t>Decision Tree</a:t>
            </a:r>
          </a:p>
          <a:p>
            <a:pPr marL="285750" indent="-285750">
              <a:buFont typeface="Wingdings" panose="05000000000000000000" pitchFamily="2" charset="2"/>
              <a:buChar char="v"/>
            </a:pPr>
            <a:r>
              <a:rPr lang="en-US" sz="2000" dirty="0"/>
              <a:t>Logistic Regression</a:t>
            </a:r>
          </a:p>
          <a:p>
            <a:pPr marL="285750" indent="-285750">
              <a:buFont typeface="Wingdings" panose="05000000000000000000" pitchFamily="2" charset="2"/>
              <a:buChar char="v"/>
            </a:pPr>
            <a:r>
              <a:rPr lang="en-US" sz="2000" dirty="0"/>
              <a:t>SVM</a:t>
            </a:r>
          </a:p>
          <a:p>
            <a:pPr marL="285750" indent="-285750">
              <a:buFont typeface="Wingdings" panose="05000000000000000000" pitchFamily="2" charset="2"/>
              <a:buChar char="v"/>
            </a:pPr>
            <a:r>
              <a:rPr lang="en-US" sz="2000" dirty="0" err="1"/>
              <a:t>DistillBERT</a:t>
            </a:r>
            <a:r>
              <a:rPr lang="en-US" sz="2000" dirty="0"/>
              <a:t> transformer</a:t>
            </a:r>
          </a:p>
          <a:p>
            <a:pPr marL="285750" indent="-285750">
              <a:buFont typeface="Wingdings" panose="05000000000000000000" pitchFamily="2" charset="2"/>
              <a:buChar char="v"/>
            </a:pPr>
            <a:r>
              <a:rPr lang="en-US" sz="2000" dirty="0"/>
              <a:t>BERT Transformer </a:t>
            </a:r>
          </a:p>
          <a:p>
            <a:pPr marL="285750" indent="-285750">
              <a:buFont typeface="Wingdings" panose="05000000000000000000" pitchFamily="2" charset="2"/>
              <a:buChar char="v"/>
            </a:pPr>
            <a:endParaRPr lang="en-US" sz="2000" dirty="0"/>
          </a:p>
        </p:txBody>
      </p:sp>
      <p:sp>
        <p:nvSpPr>
          <p:cNvPr id="5" name="Rectangle 4">
            <a:extLst>
              <a:ext uri="{FF2B5EF4-FFF2-40B4-BE49-F238E27FC236}">
                <a16:creationId xmlns:a16="http://schemas.microsoft.com/office/drawing/2014/main" id="{FB40E329-54A1-4FF3-90BA-6E657D8621C3}"/>
              </a:ext>
            </a:extLst>
          </p:cNvPr>
          <p:cNvSpPr/>
          <p:nvPr/>
        </p:nvSpPr>
        <p:spPr>
          <a:xfrm>
            <a:off x="2658683" y="5572716"/>
            <a:ext cx="4528997" cy="369332"/>
          </a:xfrm>
          <a:prstGeom prst="rect">
            <a:avLst/>
          </a:prstGeom>
        </p:spPr>
        <p:txBody>
          <a:bodyPr wrap="none">
            <a:spAutoFit/>
          </a:bodyPr>
          <a:lstStyle/>
          <a:p>
            <a:r>
              <a:rPr lang="en-US" dirty="0"/>
              <a:t>Model performance results in ascending order</a:t>
            </a:r>
          </a:p>
        </p:txBody>
      </p:sp>
    </p:spTree>
    <p:extLst>
      <p:ext uri="{BB962C8B-B14F-4D97-AF65-F5344CB8AC3E}">
        <p14:creationId xmlns:p14="http://schemas.microsoft.com/office/powerpoint/2010/main" val="13827235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3933EA-72F1-49E3-8454-2A959F1AEB14}"/>
              </a:ext>
            </a:extLst>
          </p:cNvPr>
          <p:cNvSpPr/>
          <p:nvPr/>
        </p:nvSpPr>
        <p:spPr>
          <a:xfrm>
            <a:off x="1385768" y="817418"/>
            <a:ext cx="8742218" cy="707886"/>
          </a:xfrm>
          <a:prstGeom prst="rect">
            <a:avLst/>
          </a:prstGeom>
        </p:spPr>
        <p:txBody>
          <a:bodyPr wrap="square">
            <a:spAutoFit/>
          </a:bodyPr>
          <a:lstStyle/>
          <a:p>
            <a:pPr algn="ctr"/>
            <a:r>
              <a:rPr lang="en-US" sz="2000" b="1" i="1" dirty="0"/>
              <a:t>A Comprehensive Result of the Model’s Accuracy, Precision, Recall, and F1-score in Percentage</a:t>
            </a:r>
          </a:p>
        </p:txBody>
      </p:sp>
      <p:graphicFrame>
        <p:nvGraphicFramePr>
          <p:cNvPr id="3" name="Table 2">
            <a:extLst>
              <a:ext uri="{FF2B5EF4-FFF2-40B4-BE49-F238E27FC236}">
                <a16:creationId xmlns:a16="http://schemas.microsoft.com/office/drawing/2014/main" id="{226DA2E0-F86F-49CF-B11B-6B4CB575B5EC}"/>
              </a:ext>
            </a:extLst>
          </p:cNvPr>
          <p:cNvGraphicFramePr>
            <a:graphicFrameLocks noGrp="1"/>
          </p:cNvGraphicFramePr>
          <p:nvPr>
            <p:extLst>
              <p:ext uri="{D42A27DB-BD31-4B8C-83A1-F6EECF244321}">
                <p14:modId xmlns:p14="http://schemas.microsoft.com/office/powerpoint/2010/main" val="209188859"/>
              </p:ext>
            </p:extLst>
          </p:nvPr>
        </p:nvGraphicFramePr>
        <p:xfrm>
          <a:off x="1385768" y="2078180"/>
          <a:ext cx="8742218" cy="3676575"/>
        </p:xfrm>
        <a:graphic>
          <a:graphicData uri="http://schemas.openxmlformats.org/drawingml/2006/table">
            <a:tbl>
              <a:tblPr firstRow="1" firstCol="1" bandRow="1">
                <a:tableStyleId>{5C22544A-7EE6-4342-B048-85BDC9FD1C3A}</a:tableStyleId>
              </a:tblPr>
              <a:tblGrid>
                <a:gridCol w="3511917">
                  <a:extLst>
                    <a:ext uri="{9D8B030D-6E8A-4147-A177-3AD203B41FA5}">
                      <a16:colId xmlns:a16="http://schemas.microsoft.com/office/drawing/2014/main" val="1862179796"/>
                    </a:ext>
                  </a:extLst>
                </a:gridCol>
                <a:gridCol w="1352664">
                  <a:extLst>
                    <a:ext uri="{9D8B030D-6E8A-4147-A177-3AD203B41FA5}">
                      <a16:colId xmlns:a16="http://schemas.microsoft.com/office/drawing/2014/main" val="1703462690"/>
                    </a:ext>
                  </a:extLst>
                </a:gridCol>
                <a:gridCol w="1352664">
                  <a:extLst>
                    <a:ext uri="{9D8B030D-6E8A-4147-A177-3AD203B41FA5}">
                      <a16:colId xmlns:a16="http://schemas.microsoft.com/office/drawing/2014/main" val="1597452357"/>
                    </a:ext>
                  </a:extLst>
                </a:gridCol>
                <a:gridCol w="1172309">
                  <a:extLst>
                    <a:ext uri="{9D8B030D-6E8A-4147-A177-3AD203B41FA5}">
                      <a16:colId xmlns:a16="http://schemas.microsoft.com/office/drawing/2014/main" val="4256534976"/>
                    </a:ext>
                  </a:extLst>
                </a:gridCol>
                <a:gridCol w="1352664">
                  <a:extLst>
                    <a:ext uri="{9D8B030D-6E8A-4147-A177-3AD203B41FA5}">
                      <a16:colId xmlns:a16="http://schemas.microsoft.com/office/drawing/2014/main" val="3076802119"/>
                    </a:ext>
                  </a:extLst>
                </a:gridCol>
              </a:tblGrid>
              <a:tr h="525225">
                <a:tc>
                  <a:txBody>
                    <a:bodyPr/>
                    <a:lstStyle/>
                    <a:p>
                      <a:pPr marL="0" marR="0" indent="0" algn="ctr">
                        <a:spcBef>
                          <a:spcPts val="0"/>
                        </a:spcBef>
                        <a:spcAft>
                          <a:spcPts val="0"/>
                        </a:spcAft>
                      </a:pPr>
                      <a:r>
                        <a:rPr lang="en-US" sz="1600" dirty="0">
                          <a:solidFill>
                            <a:schemeClr val="tx1"/>
                          </a:solidFill>
                          <a:effectLst/>
                        </a:rPr>
                        <a:t>MODEL </a:t>
                      </a:r>
                      <a:endParaRPr lang="en-US"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ACCURACY </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PRECISION </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RECALL</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F1-SCORE</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58391119"/>
                  </a:ext>
                </a:extLst>
              </a:tr>
              <a:tr h="525225">
                <a:tc>
                  <a:txBody>
                    <a:bodyPr/>
                    <a:lstStyle/>
                    <a:p>
                      <a:pPr marL="0" marR="0" indent="0" algn="ctr">
                        <a:spcBef>
                          <a:spcPts val="0"/>
                        </a:spcBef>
                        <a:spcAft>
                          <a:spcPts val="0"/>
                        </a:spcAft>
                      </a:pPr>
                      <a:r>
                        <a:rPr lang="en-US" sz="1600" dirty="0" err="1">
                          <a:solidFill>
                            <a:schemeClr val="tx1"/>
                          </a:solidFill>
                          <a:effectLst/>
                        </a:rPr>
                        <a:t>XGBoost</a:t>
                      </a:r>
                      <a:endParaRPr lang="en-US"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91.00</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91.75</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91.00</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91.12</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92121738"/>
                  </a:ext>
                </a:extLst>
              </a:tr>
              <a:tr h="525225">
                <a:tc>
                  <a:txBody>
                    <a:bodyPr/>
                    <a:lstStyle/>
                    <a:p>
                      <a:pPr marL="0" marR="0" indent="0" algn="ctr">
                        <a:spcBef>
                          <a:spcPts val="0"/>
                        </a:spcBef>
                        <a:spcAft>
                          <a:spcPts val="0"/>
                        </a:spcAft>
                      </a:pPr>
                      <a:r>
                        <a:rPr lang="en-US" sz="1600">
                          <a:solidFill>
                            <a:schemeClr val="tx1"/>
                          </a:solidFill>
                          <a:effectLst/>
                        </a:rPr>
                        <a:t>Decision Tree</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92.42</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92.52</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92.43</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92.47</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1462023"/>
                  </a:ext>
                </a:extLst>
              </a:tr>
              <a:tr h="525225">
                <a:tc>
                  <a:txBody>
                    <a:bodyPr/>
                    <a:lstStyle/>
                    <a:p>
                      <a:pPr marL="0" marR="0" indent="0" algn="ctr">
                        <a:spcBef>
                          <a:spcPts val="0"/>
                        </a:spcBef>
                        <a:spcAft>
                          <a:spcPts val="0"/>
                        </a:spcAft>
                      </a:pPr>
                      <a:r>
                        <a:rPr lang="en-US" sz="1600">
                          <a:solidFill>
                            <a:schemeClr val="tx1"/>
                          </a:solidFill>
                          <a:effectLst/>
                        </a:rPr>
                        <a:t>Logistic Regression</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92.52</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92.69</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92.52</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92.45</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68482273"/>
                  </a:ext>
                </a:extLst>
              </a:tr>
              <a:tr h="525225">
                <a:tc>
                  <a:txBody>
                    <a:bodyPr/>
                    <a:lstStyle/>
                    <a:p>
                      <a:pPr marL="0" marR="0" indent="0" algn="ctr">
                        <a:spcBef>
                          <a:spcPts val="0"/>
                        </a:spcBef>
                        <a:spcAft>
                          <a:spcPts val="0"/>
                        </a:spcAft>
                      </a:pPr>
                      <a:r>
                        <a:rPr lang="en-US" sz="1600">
                          <a:solidFill>
                            <a:schemeClr val="tx1"/>
                          </a:solidFill>
                          <a:effectLst/>
                        </a:rPr>
                        <a:t>(SVM) Support Vector Machine </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95.24</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95.45</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95.24</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95.27</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268489"/>
                  </a:ext>
                </a:extLst>
              </a:tr>
              <a:tr h="525225">
                <a:tc>
                  <a:txBody>
                    <a:bodyPr/>
                    <a:lstStyle/>
                    <a:p>
                      <a:pPr marL="0" marR="0" indent="0" algn="ctr">
                        <a:spcBef>
                          <a:spcPts val="0"/>
                        </a:spcBef>
                        <a:spcAft>
                          <a:spcPts val="0"/>
                        </a:spcAft>
                      </a:pPr>
                      <a:r>
                        <a:rPr lang="en-US" sz="1600">
                          <a:solidFill>
                            <a:schemeClr val="tx1"/>
                          </a:solidFill>
                          <a:effectLst/>
                        </a:rPr>
                        <a:t>DistillBERT</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97.29</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97.28</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97.29</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97.28</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8313266"/>
                  </a:ext>
                </a:extLst>
              </a:tr>
              <a:tr h="525225">
                <a:tc>
                  <a:txBody>
                    <a:bodyPr/>
                    <a:lstStyle/>
                    <a:p>
                      <a:pPr marL="0" marR="0" indent="0" algn="ctr">
                        <a:spcBef>
                          <a:spcPts val="0"/>
                        </a:spcBef>
                        <a:spcAft>
                          <a:spcPts val="0"/>
                        </a:spcAft>
                      </a:pPr>
                      <a:r>
                        <a:rPr lang="en-US" sz="1600" dirty="0">
                          <a:solidFill>
                            <a:schemeClr val="tx1"/>
                          </a:solidFill>
                          <a:effectLst/>
                        </a:rPr>
                        <a:t>BERT transformer </a:t>
                      </a:r>
                      <a:endParaRPr lang="en-US"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97.58</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97.60</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a:solidFill>
                            <a:schemeClr val="tx1"/>
                          </a:solidFill>
                          <a:effectLst/>
                        </a:rPr>
                        <a:t>97.57</a:t>
                      </a:r>
                      <a:endParaRPr lang="en-US" sz="16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0" algn="ctr">
                        <a:spcBef>
                          <a:spcPts val="0"/>
                        </a:spcBef>
                        <a:spcAft>
                          <a:spcPts val="0"/>
                        </a:spcAft>
                      </a:pPr>
                      <a:r>
                        <a:rPr lang="en-US" sz="1600" dirty="0">
                          <a:solidFill>
                            <a:schemeClr val="tx1"/>
                          </a:solidFill>
                          <a:effectLst/>
                        </a:rPr>
                        <a:t>97.58</a:t>
                      </a:r>
                      <a:endParaRPr lang="en-US"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56064050"/>
                  </a:ext>
                </a:extLst>
              </a:tr>
            </a:tbl>
          </a:graphicData>
        </a:graphic>
      </p:graphicFrame>
    </p:spTree>
    <p:extLst>
      <p:ext uri="{BB962C8B-B14F-4D97-AF65-F5344CB8AC3E}">
        <p14:creationId xmlns:p14="http://schemas.microsoft.com/office/powerpoint/2010/main" val="3941742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18D858-A535-4F78-8841-EC78BF9E2B26}"/>
              </a:ext>
            </a:extLst>
          </p:cNvPr>
          <p:cNvPicPr>
            <a:picLocks noChangeAspect="1"/>
          </p:cNvPicPr>
          <p:nvPr/>
        </p:nvPicPr>
        <p:blipFill>
          <a:blip r:embed="rId2"/>
          <a:stretch>
            <a:fillRect/>
          </a:stretch>
        </p:blipFill>
        <p:spPr>
          <a:xfrm>
            <a:off x="0" y="1"/>
            <a:ext cx="8950317" cy="6175532"/>
          </a:xfrm>
          <a:prstGeom prst="rect">
            <a:avLst/>
          </a:prstGeom>
        </p:spPr>
      </p:pic>
      <p:sp>
        <p:nvSpPr>
          <p:cNvPr id="4" name="Rectangle 3">
            <a:extLst>
              <a:ext uri="{FF2B5EF4-FFF2-40B4-BE49-F238E27FC236}">
                <a16:creationId xmlns:a16="http://schemas.microsoft.com/office/drawing/2014/main" id="{72686C42-D99A-46AE-B1E6-198357936EDE}"/>
              </a:ext>
            </a:extLst>
          </p:cNvPr>
          <p:cNvSpPr/>
          <p:nvPr/>
        </p:nvSpPr>
        <p:spPr>
          <a:xfrm>
            <a:off x="9296399" y="1109139"/>
            <a:ext cx="2563091" cy="1138773"/>
          </a:xfrm>
          <a:prstGeom prst="rect">
            <a:avLst/>
          </a:prstGeom>
        </p:spPr>
        <p:txBody>
          <a:bodyPr wrap="square">
            <a:spAutoFit/>
          </a:bodyPr>
          <a:lstStyle/>
          <a:p>
            <a:pPr algn="ctr"/>
            <a:r>
              <a:rPr lang="en-US" sz="2400" b="1" dirty="0"/>
              <a:t>Confusion Matrix of The Models</a:t>
            </a:r>
          </a:p>
          <a:p>
            <a:endParaRPr lang="en-US" sz="2000" b="1" dirty="0"/>
          </a:p>
        </p:txBody>
      </p:sp>
      <p:sp>
        <p:nvSpPr>
          <p:cNvPr id="5" name="Rectangle 4">
            <a:extLst>
              <a:ext uri="{FF2B5EF4-FFF2-40B4-BE49-F238E27FC236}">
                <a16:creationId xmlns:a16="http://schemas.microsoft.com/office/drawing/2014/main" id="{1DE77AA8-8DBD-4F30-90AA-6052785C2DA3}"/>
              </a:ext>
            </a:extLst>
          </p:cNvPr>
          <p:cNvSpPr/>
          <p:nvPr/>
        </p:nvSpPr>
        <p:spPr>
          <a:xfrm>
            <a:off x="9171709" y="2247912"/>
            <a:ext cx="2881746" cy="3170099"/>
          </a:xfrm>
          <a:prstGeom prst="rect">
            <a:avLst/>
          </a:prstGeom>
        </p:spPr>
        <p:txBody>
          <a:bodyPr wrap="square">
            <a:spAutoFit/>
          </a:bodyPr>
          <a:lstStyle/>
          <a:p>
            <a:r>
              <a:rPr lang="en-US" sz="2000" dirty="0"/>
              <a:t>The confusion matrices shows the number of predicted values against actual values of:</a:t>
            </a:r>
          </a:p>
          <a:p>
            <a:pPr marL="457200" indent="-168275">
              <a:buAutoNum type="alphaLcPeriod"/>
            </a:pPr>
            <a:r>
              <a:rPr lang="en-US" sz="2000" dirty="0"/>
              <a:t>Positive sentiments (Dark blue)</a:t>
            </a:r>
          </a:p>
          <a:p>
            <a:pPr marL="457200" indent="-168275">
              <a:buAutoNum type="alphaLcPeriod"/>
            </a:pPr>
            <a:r>
              <a:rPr lang="en-US" sz="2000" dirty="0"/>
              <a:t>Negative sentiment (Light blue)</a:t>
            </a:r>
          </a:p>
          <a:p>
            <a:pPr marL="457200" indent="-168275">
              <a:buAutoNum type="alphaLcPeriod"/>
            </a:pPr>
            <a:r>
              <a:rPr lang="en-US" sz="2000" dirty="0"/>
              <a:t>Neutral sentiments (Faint blue)</a:t>
            </a:r>
          </a:p>
        </p:txBody>
      </p:sp>
    </p:spTree>
    <p:extLst>
      <p:ext uri="{BB962C8B-B14F-4D97-AF65-F5344CB8AC3E}">
        <p14:creationId xmlns:p14="http://schemas.microsoft.com/office/powerpoint/2010/main" val="2385741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1EDA1B-926B-4043-BAE1-96B6A1696FCA}"/>
              </a:ext>
            </a:extLst>
          </p:cNvPr>
          <p:cNvSpPr/>
          <p:nvPr/>
        </p:nvSpPr>
        <p:spPr>
          <a:xfrm>
            <a:off x="5638800" y="5031754"/>
            <a:ext cx="6096000" cy="1477328"/>
          </a:xfrm>
          <a:prstGeom prst="rect">
            <a:avLst/>
          </a:prstGeom>
        </p:spPr>
        <p:txBody>
          <a:bodyPr>
            <a:spAutoFit/>
          </a:bodyPr>
          <a:lstStyle/>
          <a:p>
            <a:r>
              <a:rPr lang="en-US" dirty="0"/>
              <a:t>The confusion matrices shows the number of predicted values against actual values of:</a:t>
            </a:r>
          </a:p>
          <a:p>
            <a:pPr marL="457200" indent="-168275">
              <a:buAutoNum type="alphaLcPeriod"/>
            </a:pPr>
            <a:r>
              <a:rPr lang="en-US" dirty="0"/>
              <a:t>Positive sentiments (Dark blue)</a:t>
            </a:r>
          </a:p>
          <a:p>
            <a:pPr marL="457200" indent="-168275">
              <a:buAutoNum type="alphaLcPeriod"/>
            </a:pPr>
            <a:r>
              <a:rPr lang="en-US" dirty="0"/>
              <a:t>Negative sentiment (Light blue)</a:t>
            </a:r>
          </a:p>
          <a:p>
            <a:pPr marL="457200" indent="-168275">
              <a:buAutoNum type="alphaLcPeriod"/>
            </a:pPr>
            <a:r>
              <a:rPr lang="en-US" dirty="0"/>
              <a:t>Neutral sentiments (Faint blue)</a:t>
            </a:r>
          </a:p>
        </p:txBody>
      </p:sp>
      <p:pic>
        <p:nvPicPr>
          <p:cNvPr id="3" name="Picture 2">
            <a:extLst>
              <a:ext uri="{FF2B5EF4-FFF2-40B4-BE49-F238E27FC236}">
                <a16:creationId xmlns:a16="http://schemas.microsoft.com/office/drawing/2014/main" id="{E20AE091-3F40-4CF4-8926-001EF42C8E10}"/>
              </a:ext>
            </a:extLst>
          </p:cNvPr>
          <p:cNvPicPr>
            <a:picLocks noChangeAspect="1"/>
          </p:cNvPicPr>
          <p:nvPr/>
        </p:nvPicPr>
        <p:blipFill>
          <a:blip r:embed="rId2"/>
          <a:stretch>
            <a:fillRect/>
          </a:stretch>
        </p:blipFill>
        <p:spPr>
          <a:xfrm>
            <a:off x="115166" y="325106"/>
            <a:ext cx="11425670" cy="4706648"/>
          </a:xfrm>
          <a:prstGeom prst="rect">
            <a:avLst/>
          </a:prstGeom>
        </p:spPr>
      </p:pic>
    </p:spTree>
    <p:extLst>
      <p:ext uri="{BB962C8B-B14F-4D97-AF65-F5344CB8AC3E}">
        <p14:creationId xmlns:p14="http://schemas.microsoft.com/office/powerpoint/2010/main" val="112372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0AAA9-87EB-4367-8B7F-57AF6033C9EE}"/>
              </a:ext>
            </a:extLst>
          </p:cNvPr>
          <p:cNvSpPr>
            <a:spLocks noGrp="1"/>
          </p:cNvSpPr>
          <p:nvPr>
            <p:ph type="title"/>
          </p:nvPr>
        </p:nvSpPr>
        <p:spPr>
          <a:xfrm>
            <a:off x="838200" y="186221"/>
            <a:ext cx="10515600" cy="1325563"/>
          </a:xfrm>
        </p:spPr>
        <p:txBody>
          <a:bodyPr/>
          <a:lstStyle/>
          <a:p>
            <a:r>
              <a:rPr lang="en-US" b="1" dirty="0"/>
              <a:t>Interpretation of Model Performance </a:t>
            </a:r>
          </a:p>
        </p:txBody>
      </p:sp>
      <p:sp>
        <p:nvSpPr>
          <p:cNvPr id="3" name="Rectangle 2">
            <a:extLst>
              <a:ext uri="{FF2B5EF4-FFF2-40B4-BE49-F238E27FC236}">
                <a16:creationId xmlns:a16="http://schemas.microsoft.com/office/drawing/2014/main" id="{1A180491-F49D-4909-9AE1-206CF540C959}"/>
              </a:ext>
            </a:extLst>
          </p:cNvPr>
          <p:cNvSpPr/>
          <p:nvPr/>
        </p:nvSpPr>
        <p:spPr>
          <a:xfrm>
            <a:off x="838200" y="1228397"/>
            <a:ext cx="10227067" cy="4401205"/>
          </a:xfrm>
          <a:prstGeom prst="rect">
            <a:avLst/>
          </a:prstGeom>
        </p:spPr>
        <p:txBody>
          <a:bodyPr wrap="square">
            <a:spAutoFit/>
          </a:bodyPr>
          <a:lstStyle/>
          <a:p>
            <a:pPr marL="285750" indent="-285750">
              <a:buFont typeface="Wingdings" panose="05000000000000000000" pitchFamily="2" charset="2"/>
              <a:buChar char="v"/>
            </a:pPr>
            <a:r>
              <a:rPr lang="en-US" sz="2000" dirty="0"/>
              <a:t>All models at least scored 90% in performance </a:t>
            </a:r>
          </a:p>
          <a:p>
            <a:pPr marL="285750" indent="-285750">
              <a:buFont typeface="Wingdings" panose="05000000000000000000" pitchFamily="2" charset="2"/>
              <a:buChar char="v"/>
            </a:pPr>
            <a:r>
              <a:rPr lang="en-US" sz="2000" dirty="0"/>
              <a:t>BERT and </a:t>
            </a:r>
            <a:r>
              <a:rPr lang="en-US" sz="2000" dirty="0" err="1"/>
              <a:t>DistillBERT</a:t>
            </a:r>
            <a:r>
              <a:rPr lang="en-US" sz="2000" dirty="0"/>
              <a:t> performed the highest, with BERT leading in performance with a 97.58% accuracy  </a:t>
            </a:r>
          </a:p>
          <a:p>
            <a:pPr marL="285750" indent="-285750">
              <a:buFont typeface="Wingdings" panose="05000000000000000000" pitchFamily="2" charset="2"/>
              <a:buChar char="v"/>
            </a:pPr>
            <a:r>
              <a:rPr lang="en-US" sz="2000" dirty="0"/>
              <a:t>POS and Lemmatization increased performance of models </a:t>
            </a:r>
          </a:p>
          <a:p>
            <a:pPr marL="285750" indent="-285750">
              <a:buFont typeface="Wingdings" panose="05000000000000000000" pitchFamily="2" charset="2"/>
              <a:buChar char="v"/>
            </a:pPr>
            <a:r>
              <a:rPr lang="en-US" sz="2000" dirty="0"/>
              <a:t>Exceptionalism in performance is seen in </a:t>
            </a:r>
            <a:r>
              <a:rPr lang="en-US" sz="2000" dirty="0" err="1"/>
              <a:t>XGBoost</a:t>
            </a:r>
            <a:r>
              <a:rPr lang="en-US" sz="2000" dirty="0"/>
              <a:t> and SVM</a:t>
            </a:r>
          </a:p>
          <a:p>
            <a:pPr marL="396875">
              <a:buFont typeface="Wingdings" panose="05000000000000000000" pitchFamily="2" charset="2"/>
              <a:buChar char="Ø"/>
            </a:pPr>
            <a:r>
              <a:rPr lang="en-US" sz="2000" dirty="0"/>
              <a:t> </a:t>
            </a:r>
            <a:r>
              <a:rPr lang="en-US" sz="2000" dirty="0" err="1"/>
              <a:t>XGBoost</a:t>
            </a:r>
            <a:r>
              <a:rPr lang="en-US" sz="2000" dirty="0"/>
              <a:t> performed poorly compared to SVM</a:t>
            </a:r>
          </a:p>
          <a:p>
            <a:pPr marL="396875">
              <a:buFont typeface="Wingdings" panose="05000000000000000000" pitchFamily="2" charset="2"/>
              <a:buChar char="Ø"/>
            </a:pPr>
            <a:r>
              <a:rPr lang="en-US" sz="2000" dirty="0" err="1"/>
              <a:t>XGBoost</a:t>
            </a:r>
            <a:r>
              <a:rPr lang="en-US" sz="2000" dirty="0"/>
              <a:t> works well with large datasets characterized by heavy feature engineering and multiple structured variables </a:t>
            </a:r>
          </a:p>
          <a:p>
            <a:pPr marL="396875">
              <a:buFont typeface="Wingdings" panose="05000000000000000000" pitchFamily="2" charset="2"/>
              <a:buChar char="Ø"/>
            </a:pPr>
            <a:r>
              <a:rPr lang="en-US" sz="2000" dirty="0"/>
              <a:t>SVM performs best with a small dataset and easily interpretable data.</a:t>
            </a:r>
          </a:p>
          <a:p>
            <a:pPr marL="288925" indent="-228600">
              <a:buFont typeface="Wingdings" panose="05000000000000000000" pitchFamily="2" charset="2"/>
              <a:buChar char="v"/>
            </a:pPr>
            <a:r>
              <a:rPr lang="en-US" sz="2000" dirty="0"/>
              <a:t> Other models performed as expected:</a:t>
            </a:r>
          </a:p>
          <a:p>
            <a:pPr marL="346075" indent="1588">
              <a:buFont typeface="Wingdings" panose="05000000000000000000" pitchFamily="2" charset="2"/>
              <a:buChar char="Ø"/>
            </a:pPr>
            <a:r>
              <a:rPr lang="en-US" sz="2000" dirty="0"/>
              <a:t> Logistic regression and decision tree are naïve hence the low performance </a:t>
            </a:r>
          </a:p>
          <a:p>
            <a:pPr marL="346075" indent="1588">
              <a:buFont typeface="Wingdings" panose="05000000000000000000" pitchFamily="2" charset="2"/>
              <a:buChar char="Ø"/>
            </a:pPr>
            <a:r>
              <a:rPr lang="en-US" sz="2000" dirty="0"/>
              <a:t> BERT and </a:t>
            </a:r>
            <a:r>
              <a:rPr lang="en-US" sz="2000" dirty="0" err="1"/>
              <a:t>DistillBERT</a:t>
            </a:r>
            <a:r>
              <a:rPr lang="en-US" sz="2000" dirty="0"/>
              <a:t> are pretrained transformers best for sentimental analysis and classification</a:t>
            </a:r>
          </a:p>
          <a:p>
            <a:pPr marL="346075" indent="1588">
              <a:buFont typeface="Wingdings" panose="05000000000000000000" pitchFamily="2" charset="2"/>
              <a:buChar char="Ø"/>
            </a:pPr>
            <a:r>
              <a:rPr lang="en-US" sz="2000" dirty="0"/>
              <a:t> BERT is built upon </a:t>
            </a:r>
            <a:r>
              <a:rPr lang="en-US" sz="2000" dirty="0" err="1"/>
              <a:t>DistillBERT</a:t>
            </a:r>
            <a:r>
              <a:rPr lang="en-US" sz="2000" dirty="0"/>
              <a:t> hence the highest performance of BERT model </a:t>
            </a:r>
          </a:p>
        </p:txBody>
      </p:sp>
    </p:spTree>
    <p:extLst>
      <p:ext uri="{BB962C8B-B14F-4D97-AF65-F5344CB8AC3E}">
        <p14:creationId xmlns:p14="http://schemas.microsoft.com/office/powerpoint/2010/main" val="29423033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781E-CCE1-48DA-A41A-8C01B48B5BA6}"/>
              </a:ext>
            </a:extLst>
          </p:cNvPr>
          <p:cNvSpPr>
            <a:spLocks noGrp="1"/>
          </p:cNvSpPr>
          <p:nvPr>
            <p:ph type="title"/>
          </p:nvPr>
        </p:nvSpPr>
        <p:spPr>
          <a:xfrm>
            <a:off x="748748" y="365126"/>
            <a:ext cx="10515600" cy="837510"/>
          </a:xfrm>
        </p:spPr>
        <p:txBody>
          <a:bodyPr>
            <a:normAutofit fontScale="90000"/>
          </a:bodyPr>
          <a:lstStyle/>
          <a:p>
            <a:pPr algn="ctr"/>
            <a:r>
              <a:rPr lang="en-US" b="1" dirty="0" err="1"/>
              <a:t>DistilledBERT</a:t>
            </a:r>
            <a:r>
              <a:rPr lang="en-US" b="1" dirty="0"/>
              <a:t> versus BERT Models Performance  </a:t>
            </a:r>
          </a:p>
        </p:txBody>
      </p:sp>
      <p:graphicFrame>
        <p:nvGraphicFramePr>
          <p:cNvPr id="5" name="Chart 4">
            <a:extLst>
              <a:ext uri="{FF2B5EF4-FFF2-40B4-BE49-F238E27FC236}">
                <a16:creationId xmlns:a16="http://schemas.microsoft.com/office/drawing/2014/main" id="{6F171345-6619-43F4-BFF6-87AAB268D905}"/>
              </a:ext>
            </a:extLst>
          </p:cNvPr>
          <p:cNvGraphicFramePr/>
          <p:nvPr>
            <p:extLst>
              <p:ext uri="{D42A27DB-BD31-4B8C-83A1-F6EECF244321}">
                <p14:modId xmlns:p14="http://schemas.microsoft.com/office/powerpoint/2010/main" val="4186812765"/>
              </p:ext>
            </p:extLst>
          </p:nvPr>
        </p:nvGraphicFramePr>
        <p:xfrm>
          <a:off x="367749" y="1202636"/>
          <a:ext cx="6500190" cy="4701207"/>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299E970F-7373-40E0-803C-F3001478945D}"/>
              </a:ext>
            </a:extLst>
          </p:cNvPr>
          <p:cNvSpPr/>
          <p:nvPr/>
        </p:nvSpPr>
        <p:spPr>
          <a:xfrm>
            <a:off x="6904381" y="1968190"/>
            <a:ext cx="4919870" cy="3170099"/>
          </a:xfrm>
          <a:prstGeom prst="rect">
            <a:avLst/>
          </a:prstGeom>
        </p:spPr>
        <p:txBody>
          <a:bodyPr wrap="square">
            <a:spAutoFit/>
          </a:bodyPr>
          <a:lstStyle/>
          <a:p>
            <a:pPr marL="285750" indent="-285750">
              <a:buFont typeface="Wingdings" panose="05000000000000000000" pitchFamily="2" charset="2"/>
              <a:buChar char="q"/>
            </a:pPr>
            <a:r>
              <a:rPr lang="en-US" sz="2000" dirty="0"/>
              <a:t>The models are bidirectional and learns contextually</a:t>
            </a:r>
          </a:p>
          <a:p>
            <a:pPr marL="285750" indent="-285750">
              <a:buFont typeface="Wingdings" panose="05000000000000000000" pitchFamily="2" charset="2"/>
              <a:buChar char="q"/>
            </a:pPr>
            <a:r>
              <a:rPr lang="en-US" sz="2000" dirty="0"/>
              <a:t>But BERT performed better than </a:t>
            </a:r>
            <a:r>
              <a:rPr lang="en-US" sz="2000" dirty="0" err="1"/>
              <a:t>DistillBERT</a:t>
            </a:r>
            <a:endParaRPr lang="en-US" sz="2000" dirty="0"/>
          </a:p>
          <a:p>
            <a:pPr marL="285750" indent="-285750">
              <a:buFont typeface="Wingdings" panose="05000000000000000000" pitchFamily="2" charset="2"/>
              <a:buChar char="q"/>
            </a:pPr>
            <a:r>
              <a:rPr lang="en-US" sz="2000" dirty="0"/>
              <a:t>BERT builds upon </a:t>
            </a:r>
            <a:r>
              <a:rPr lang="en-US" sz="2000" dirty="0" err="1"/>
              <a:t>DistillBERT</a:t>
            </a:r>
            <a:r>
              <a:rPr lang="en-US" sz="2000" dirty="0"/>
              <a:t> transformer with more enhanced features: </a:t>
            </a:r>
          </a:p>
          <a:p>
            <a:pPr marL="576263" indent="-228600">
              <a:buFont typeface="Wingdings" panose="05000000000000000000" pitchFamily="2" charset="2"/>
              <a:buChar char="v"/>
            </a:pPr>
            <a:r>
              <a:rPr lang="en-US" sz="2000" dirty="0"/>
              <a:t>Handling complex large dataset</a:t>
            </a:r>
          </a:p>
          <a:p>
            <a:pPr marL="576263" indent="-228600">
              <a:buFont typeface="Wingdings" panose="05000000000000000000" pitchFamily="2" charset="2"/>
              <a:buChar char="v"/>
            </a:pPr>
            <a:r>
              <a:rPr lang="en-US" sz="2000" dirty="0"/>
              <a:t>Reduced computational cost</a:t>
            </a:r>
          </a:p>
          <a:p>
            <a:pPr marL="576263" indent="-228600">
              <a:buFont typeface="Wingdings" panose="05000000000000000000" pitchFamily="2" charset="2"/>
              <a:buChar char="v"/>
            </a:pPr>
            <a:r>
              <a:rPr lang="en-US" sz="2000" dirty="0"/>
              <a:t>Improved dependency</a:t>
            </a:r>
          </a:p>
          <a:p>
            <a:pPr marL="576263" indent="-228600">
              <a:buFont typeface="Wingdings" panose="05000000000000000000" pitchFamily="2" charset="2"/>
              <a:buChar char="v"/>
            </a:pPr>
            <a:r>
              <a:rPr lang="en-US" sz="2000" dirty="0"/>
              <a:t> Effective in NLP tasks</a:t>
            </a:r>
          </a:p>
        </p:txBody>
      </p:sp>
    </p:spTree>
    <p:extLst>
      <p:ext uri="{BB962C8B-B14F-4D97-AF65-F5344CB8AC3E}">
        <p14:creationId xmlns:p14="http://schemas.microsoft.com/office/powerpoint/2010/main" val="9615138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9A426-9082-42D6-ACEE-E7CA3AA8C5EA}"/>
              </a:ext>
            </a:extLst>
          </p:cNvPr>
          <p:cNvSpPr>
            <a:spLocks noGrp="1"/>
          </p:cNvSpPr>
          <p:nvPr>
            <p:ph type="title"/>
          </p:nvPr>
        </p:nvSpPr>
        <p:spPr>
          <a:xfrm>
            <a:off x="838200" y="365126"/>
            <a:ext cx="10515600" cy="1046232"/>
          </a:xfrm>
        </p:spPr>
        <p:txBody>
          <a:bodyPr/>
          <a:lstStyle/>
          <a:p>
            <a:pPr algn="ctr"/>
            <a:r>
              <a:rPr lang="en-US" b="1" dirty="0"/>
              <a:t>Optimal Performance by Epoch</a:t>
            </a:r>
          </a:p>
        </p:txBody>
      </p:sp>
      <p:pic>
        <p:nvPicPr>
          <p:cNvPr id="3" name="Picture 2">
            <a:extLst>
              <a:ext uri="{FF2B5EF4-FFF2-40B4-BE49-F238E27FC236}">
                <a16:creationId xmlns:a16="http://schemas.microsoft.com/office/drawing/2014/main" id="{2CC3A89A-58A8-4920-B296-4111BD516CA3}"/>
              </a:ext>
            </a:extLst>
          </p:cNvPr>
          <p:cNvPicPr>
            <a:picLocks noChangeAspect="1"/>
          </p:cNvPicPr>
          <p:nvPr/>
        </p:nvPicPr>
        <p:blipFill>
          <a:blip r:embed="rId2"/>
          <a:stretch>
            <a:fillRect/>
          </a:stretch>
        </p:blipFill>
        <p:spPr>
          <a:xfrm>
            <a:off x="652723" y="1242111"/>
            <a:ext cx="6450854" cy="2211597"/>
          </a:xfrm>
          <a:prstGeom prst="rect">
            <a:avLst/>
          </a:prstGeom>
        </p:spPr>
      </p:pic>
      <p:pic>
        <p:nvPicPr>
          <p:cNvPr id="4" name="Picture 3">
            <a:extLst>
              <a:ext uri="{FF2B5EF4-FFF2-40B4-BE49-F238E27FC236}">
                <a16:creationId xmlns:a16="http://schemas.microsoft.com/office/drawing/2014/main" id="{0DDD4F83-DEDE-47DC-9B3D-BC6AA4F07A77}"/>
              </a:ext>
            </a:extLst>
          </p:cNvPr>
          <p:cNvPicPr>
            <a:picLocks noChangeAspect="1"/>
          </p:cNvPicPr>
          <p:nvPr/>
        </p:nvPicPr>
        <p:blipFill>
          <a:blip r:embed="rId3"/>
          <a:stretch>
            <a:fillRect/>
          </a:stretch>
        </p:blipFill>
        <p:spPr>
          <a:xfrm>
            <a:off x="500271" y="3210616"/>
            <a:ext cx="6765234" cy="2385393"/>
          </a:xfrm>
          <a:prstGeom prst="rect">
            <a:avLst/>
          </a:prstGeom>
        </p:spPr>
      </p:pic>
      <p:sp>
        <p:nvSpPr>
          <p:cNvPr id="5" name="Rectangle 4">
            <a:extLst>
              <a:ext uri="{FF2B5EF4-FFF2-40B4-BE49-F238E27FC236}">
                <a16:creationId xmlns:a16="http://schemas.microsoft.com/office/drawing/2014/main" id="{2BC0DDBC-310F-4BDB-A59F-5A3073B1800A}"/>
              </a:ext>
            </a:extLst>
          </p:cNvPr>
          <p:cNvSpPr/>
          <p:nvPr/>
        </p:nvSpPr>
        <p:spPr>
          <a:xfrm>
            <a:off x="7103577" y="2270997"/>
            <a:ext cx="4515266" cy="2554545"/>
          </a:xfrm>
          <a:prstGeom prst="rect">
            <a:avLst/>
          </a:prstGeom>
        </p:spPr>
        <p:txBody>
          <a:bodyPr wrap="square">
            <a:spAutoFit/>
          </a:bodyPr>
          <a:lstStyle/>
          <a:p>
            <a:pPr marL="285750" indent="-285750">
              <a:buFont typeface="Wingdings" panose="05000000000000000000" pitchFamily="2" charset="2"/>
              <a:buChar char="v"/>
            </a:pPr>
            <a:r>
              <a:rPr lang="en-US" sz="2000" dirty="0" err="1"/>
              <a:t>DistillBert</a:t>
            </a:r>
            <a:r>
              <a:rPr lang="en-US" sz="2000" dirty="0"/>
              <a:t> performed best at epoch 2</a:t>
            </a:r>
          </a:p>
          <a:p>
            <a:pPr marL="285750" indent="-285750">
              <a:buFont typeface="Wingdings" panose="05000000000000000000" pitchFamily="2" charset="2"/>
              <a:buChar char="v"/>
            </a:pPr>
            <a:r>
              <a:rPr lang="en-US" sz="2000" dirty="0"/>
              <a:t>Bert-base performed best at epoch 3</a:t>
            </a:r>
          </a:p>
          <a:p>
            <a:pPr marL="285750" indent="-285750">
              <a:buFont typeface="Wingdings" panose="05000000000000000000" pitchFamily="2" charset="2"/>
              <a:buChar char="v"/>
            </a:pPr>
            <a:r>
              <a:rPr lang="en-US" sz="2000" dirty="0"/>
              <a:t>Bert had an accuracy of 97.57% at epoch 3</a:t>
            </a:r>
          </a:p>
          <a:p>
            <a:pPr marL="285750" indent="-285750">
              <a:buFont typeface="Wingdings" panose="05000000000000000000" pitchFamily="2" charset="2"/>
              <a:buChar char="v"/>
            </a:pPr>
            <a:r>
              <a:rPr lang="en-US" sz="2000" dirty="0"/>
              <a:t>The Bert-base model was selected for deployment using </a:t>
            </a:r>
            <a:r>
              <a:rPr lang="en-US" sz="2000" dirty="0" err="1"/>
              <a:t>Streamlit</a:t>
            </a:r>
            <a:r>
              <a:rPr lang="en-US" sz="2000" dirty="0"/>
              <a:t> </a:t>
            </a:r>
          </a:p>
          <a:p>
            <a:pPr marL="285750" indent="-285750">
              <a:buFont typeface="Wingdings" panose="05000000000000000000" pitchFamily="2" charset="2"/>
              <a:buChar char="v"/>
            </a:pPr>
            <a:r>
              <a:rPr lang="en-US" sz="2000" dirty="0"/>
              <a:t>Bert had best performance, efficiency in class balancing, and interpretability.</a:t>
            </a:r>
          </a:p>
        </p:txBody>
      </p:sp>
    </p:spTree>
    <p:extLst>
      <p:ext uri="{BB962C8B-B14F-4D97-AF65-F5344CB8AC3E}">
        <p14:creationId xmlns:p14="http://schemas.microsoft.com/office/powerpoint/2010/main" val="2441072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F062-1D2B-4BDA-B648-112A0B771F5A}"/>
              </a:ext>
            </a:extLst>
          </p:cNvPr>
          <p:cNvSpPr>
            <a:spLocks noGrp="1"/>
          </p:cNvSpPr>
          <p:nvPr>
            <p:ph type="title"/>
          </p:nvPr>
        </p:nvSpPr>
        <p:spPr>
          <a:xfrm>
            <a:off x="102704" y="2502038"/>
            <a:ext cx="4598505" cy="1325563"/>
          </a:xfrm>
        </p:spPr>
        <p:txBody>
          <a:bodyPr>
            <a:normAutofit fontScale="90000"/>
          </a:bodyPr>
          <a:lstStyle/>
          <a:p>
            <a:r>
              <a:rPr lang="en-US" b="1" dirty="0"/>
              <a:t>Difference between BERT and </a:t>
            </a:r>
            <a:r>
              <a:rPr lang="en-US" b="1" dirty="0" err="1"/>
              <a:t>DistillBERT</a:t>
            </a:r>
            <a:endParaRPr lang="en-US" b="1" dirty="0"/>
          </a:p>
        </p:txBody>
      </p:sp>
      <p:pic>
        <p:nvPicPr>
          <p:cNvPr id="3" name="Picture 2">
            <a:extLst>
              <a:ext uri="{FF2B5EF4-FFF2-40B4-BE49-F238E27FC236}">
                <a16:creationId xmlns:a16="http://schemas.microsoft.com/office/drawing/2014/main" id="{1AD91B2A-2DB1-4451-9653-DA4F037F91E7}"/>
              </a:ext>
            </a:extLst>
          </p:cNvPr>
          <p:cNvPicPr>
            <a:picLocks noChangeAspect="1"/>
          </p:cNvPicPr>
          <p:nvPr/>
        </p:nvPicPr>
        <p:blipFill>
          <a:blip r:embed="rId2"/>
          <a:stretch>
            <a:fillRect/>
          </a:stretch>
        </p:blipFill>
        <p:spPr>
          <a:xfrm>
            <a:off x="4239681" y="139148"/>
            <a:ext cx="7952320" cy="6142417"/>
          </a:xfrm>
          <a:prstGeom prst="rect">
            <a:avLst/>
          </a:prstGeom>
        </p:spPr>
      </p:pic>
    </p:spTree>
    <p:extLst>
      <p:ext uri="{BB962C8B-B14F-4D97-AF65-F5344CB8AC3E}">
        <p14:creationId xmlns:p14="http://schemas.microsoft.com/office/powerpoint/2010/main" val="19223003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0F9B5F-BBE7-459E-AA93-73F2003F0383}"/>
              </a:ext>
            </a:extLst>
          </p:cNvPr>
          <p:cNvSpPr/>
          <p:nvPr/>
        </p:nvSpPr>
        <p:spPr>
          <a:xfrm>
            <a:off x="3455504" y="5246170"/>
            <a:ext cx="8736496" cy="1015663"/>
          </a:xfrm>
          <a:prstGeom prst="rect">
            <a:avLst/>
          </a:prstGeom>
        </p:spPr>
        <p:txBody>
          <a:bodyPr wrap="square">
            <a:spAutoFit/>
          </a:bodyPr>
          <a:lstStyle/>
          <a:p>
            <a:r>
              <a:rPr lang="en-US" sz="2000" b="1" i="1" dirty="0">
                <a:solidFill>
                  <a:schemeClr val="accent2">
                    <a:lumMod val="50000"/>
                  </a:schemeClr>
                </a:solidFill>
              </a:rPr>
              <a:t>The output from the platform demonstrated pre-trained transformer models, like BERT, can analyze reviews from pilgrims, classify comments into service categories, and analyze the comments to identify the main challenges they face</a:t>
            </a:r>
          </a:p>
        </p:txBody>
      </p:sp>
      <p:sp>
        <p:nvSpPr>
          <p:cNvPr id="5" name="Rectangle 4">
            <a:extLst>
              <a:ext uri="{FF2B5EF4-FFF2-40B4-BE49-F238E27FC236}">
                <a16:creationId xmlns:a16="http://schemas.microsoft.com/office/drawing/2014/main" id="{EFAA79A2-5E07-46F1-B182-5644B09C9F8A}"/>
              </a:ext>
            </a:extLst>
          </p:cNvPr>
          <p:cNvSpPr/>
          <p:nvPr/>
        </p:nvSpPr>
        <p:spPr>
          <a:xfrm>
            <a:off x="1828655" y="367192"/>
            <a:ext cx="8059002" cy="400110"/>
          </a:xfrm>
          <a:prstGeom prst="rect">
            <a:avLst/>
          </a:prstGeom>
        </p:spPr>
        <p:txBody>
          <a:bodyPr wrap="none">
            <a:spAutoFit/>
          </a:bodyPr>
          <a:lstStyle/>
          <a:p>
            <a:pPr algn="ctr"/>
            <a:r>
              <a:rPr lang="en-US" sz="2000" b="1" i="1" dirty="0"/>
              <a:t>Sample Output of BERT Model Sentimental Analysis and Text Classification</a:t>
            </a:r>
          </a:p>
        </p:txBody>
      </p:sp>
      <p:pic>
        <p:nvPicPr>
          <p:cNvPr id="2" name="Picture 1">
            <a:extLst>
              <a:ext uri="{FF2B5EF4-FFF2-40B4-BE49-F238E27FC236}">
                <a16:creationId xmlns:a16="http://schemas.microsoft.com/office/drawing/2014/main" id="{EFCFD5DB-1133-4A4D-8396-0D3369BB41D5}"/>
              </a:ext>
            </a:extLst>
          </p:cNvPr>
          <p:cNvPicPr>
            <a:picLocks noChangeAspect="1"/>
          </p:cNvPicPr>
          <p:nvPr/>
        </p:nvPicPr>
        <p:blipFill>
          <a:blip r:embed="rId2"/>
          <a:stretch>
            <a:fillRect/>
          </a:stretch>
        </p:blipFill>
        <p:spPr>
          <a:xfrm>
            <a:off x="96982" y="961084"/>
            <a:ext cx="11998036" cy="4285086"/>
          </a:xfrm>
          <a:prstGeom prst="rect">
            <a:avLst/>
          </a:prstGeom>
        </p:spPr>
      </p:pic>
    </p:spTree>
    <p:extLst>
      <p:ext uri="{BB962C8B-B14F-4D97-AF65-F5344CB8AC3E}">
        <p14:creationId xmlns:p14="http://schemas.microsoft.com/office/powerpoint/2010/main" val="34371259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9C4A84-9E01-4D40-9A43-DA812EB70955}"/>
              </a:ext>
            </a:extLst>
          </p:cNvPr>
          <p:cNvSpPr/>
          <p:nvPr/>
        </p:nvSpPr>
        <p:spPr>
          <a:xfrm>
            <a:off x="8259116" y="3318552"/>
            <a:ext cx="3836504" cy="1015663"/>
          </a:xfrm>
          <a:prstGeom prst="rect">
            <a:avLst/>
          </a:prstGeom>
        </p:spPr>
        <p:txBody>
          <a:bodyPr wrap="square">
            <a:spAutoFit/>
          </a:bodyPr>
          <a:lstStyle/>
          <a:p>
            <a:r>
              <a:rPr lang="en-US" sz="2000" dirty="0"/>
              <a:t>The results show AI models can accurately classify pilgrims' comments as positive or negative. </a:t>
            </a:r>
          </a:p>
        </p:txBody>
      </p:sp>
      <p:pic>
        <p:nvPicPr>
          <p:cNvPr id="3" name="Picture 2">
            <a:extLst>
              <a:ext uri="{FF2B5EF4-FFF2-40B4-BE49-F238E27FC236}">
                <a16:creationId xmlns:a16="http://schemas.microsoft.com/office/drawing/2014/main" id="{09C05317-9BDC-4816-A7AA-E209909C9560}"/>
              </a:ext>
            </a:extLst>
          </p:cNvPr>
          <p:cNvPicPr>
            <a:picLocks noChangeAspect="1"/>
          </p:cNvPicPr>
          <p:nvPr/>
        </p:nvPicPr>
        <p:blipFill>
          <a:blip r:embed="rId2"/>
          <a:stretch>
            <a:fillRect/>
          </a:stretch>
        </p:blipFill>
        <p:spPr>
          <a:xfrm>
            <a:off x="577742" y="1167865"/>
            <a:ext cx="7543946" cy="5011494"/>
          </a:xfrm>
          <a:prstGeom prst="rect">
            <a:avLst/>
          </a:prstGeom>
        </p:spPr>
      </p:pic>
      <p:sp>
        <p:nvSpPr>
          <p:cNvPr id="5" name="Rectangle 4">
            <a:extLst>
              <a:ext uri="{FF2B5EF4-FFF2-40B4-BE49-F238E27FC236}">
                <a16:creationId xmlns:a16="http://schemas.microsoft.com/office/drawing/2014/main" id="{8EE23D93-75B3-4A8B-AFF8-65CDCAA87E0F}"/>
              </a:ext>
            </a:extLst>
          </p:cNvPr>
          <p:cNvSpPr/>
          <p:nvPr/>
        </p:nvSpPr>
        <p:spPr>
          <a:xfrm>
            <a:off x="560729" y="569310"/>
            <a:ext cx="11395743" cy="707886"/>
          </a:xfrm>
          <a:prstGeom prst="rect">
            <a:avLst/>
          </a:prstGeom>
        </p:spPr>
        <p:txBody>
          <a:bodyPr wrap="square">
            <a:spAutoFit/>
          </a:bodyPr>
          <a:lstStyle/>
          <a:p>
            <a:r>
              <a:rPr lang="en-US" sz="2000" b="1" i="1" dirty="0"/>
              <a:t>Left: Counts of Model Confidence in Text Analysis and Classification, confidence is clustered around 90-100 percent. </a:t>
            </a:r>
          </a:p>
        </p:txBody>
      </p:sp>
    </p:spTree>
    <p:extLst>
      <p:ext uri="{BB962C8B-B14F-4D97-AF65-F5344CB8AC3E}">
        <p14:creationId xmlns:p14="http://schemas.microsoft.com/office/powerpoint/2010/main" val="24880046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CB619C2-1CA8-46BA-A707-69FFA6FF6937}"/>
              </a:ext>
            </a:extLst>
          </p:cNvPr>
          <p:cNvSpPr/>
          <p:nvPr/>
        </p:nvSpPr>
        <p:spPr>
          <a:xfrm>
            <a:off x="851452" y="866356"/>
            <a:ext cx="11622158" cy="400110"/>
          </a:xfrm>
          <a:prstGeom prst="rect">
            <a:avLst/>
          </a:prstGeom>
        </p:spPr>
        <p:txBody>
          <a:bodyPr wrap="square">
            <a:spAutoFit/>
          </a:bodyPr>
          <a:lstStyle/>
          <a:p>
            <a:r>
              <a:rPr lang="en-US" sz="2000" b="1" i="1" dirty="0"/>
              <a:t>Graphs: Counts of Sentiments By Classification Analysis, Pilgrims Experience is Mostly Positive. </a:t>
            </a:r>
          </a:p>
        </p:txBody>
      </p:sp>
      <p:sp>
        <p:nvSpPr>
          <p:cNvPr id="3" name="Rectangle 2">
            <a:extLst>
              <a:ext uri="{FF2B5EF4-FFF2-40B4-BE49-F238E27FC236}">
                <a16:creationId xmlns:a16="http://schemas.microsoft.com/office/drawing/2014/main" id="{D5B5C56E-F702-4756-AEA5-31E29E102462}"/>
              </a:ext>
            </a:extLst>
          </p:cNvPr>
          <p:cNvSpPr/>
          <p:nvPr/>
        </p:nvSpPr>
        <p:spPr>
          <a:xfrm>
            <a:off x="8728363" y="2025318"/>
            <a:ext cx="2784764" cy="3416320"/>
          </a:xfrm>
          <a:prstGeom prst="rect">
            <a:avLst/>
          </a:prstGeom>
        </p:spPr>
        <p:txBody>
          <a:bodyPr wrap="square">
            <a:spAutoFit/>
          </a:bodyPr>
          <a:lstStyle/>
          <a:p>
            <a:r>
              <a:rPr lang="en-US" dirty="0"/>
              <a:t>The model shows that most sentiments are positive, followed by neutral sentiments, and negative sentiments. The classification and analysis demonstrate that AI-powered models can potentially enhance customer service analysis in the Hajj and Umrah pilgrimages</a:t>
            </a:r>
          </a:p>
        </p:txBody>
      </p:sp>
      <p:pic>
        <p:nvPicPr>
          <p:cNvPr id="5" name="Picture 4">
            <a:extLst>
              <a:ext uri="{FF2B5EF4-FFF2-40B4-BE49-F238E27FC236}">
                <a16:creationId xmlns:a16="http://schemas.microsoft.com/office/drawing/2014/main" id="{4D8CF660-0E94-441F-BA8F-D1EDF1F10B0D}"/>
              </a:ext>
            </a:extLst>
          </p:cNvPr>
          <p:cNvPicPr>
            <a:picLocks noChangeAspect="1"/>
          </p:cNvPicPr>
          <p:nvPr/>
        </p:nvPicPr>
        <p:blipFill>
          <a:blip r:embed="rId2"/>
          <a:stretch>
            <a:fillRect/>
          </a:stretch>
        </p:blipFill>
        <p:spPr>
          <a:xfrm>
            <a:off x="924340" y="1419802"/>
            <a:ext cx="7463956" cy="4325015"/>
          </a:xfrm>
          <a:prstGeom prst="rect">
            <a:avLst/>
          </a:prstGeom>
        </p:spPr>
      </p:pic>
    </p:spTree>
    <p:extLst>
      <p:ext uri="{BB962C8B-B14F-4D97-AF65-F5344CB8AC3E}">
        <p14:creationId xmlns:p14="http://schemas.microsoft.com/office/powerpoint/2010/main" val="15477188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E06BA-85B1-4A20-878A-B7EACEF3AA02}"/>
              </a:ext>
            </a:extLst>
          </p:cNvPr>
          <p:cNvSpPr>
            <a:spLocks noGrp="1"/>
          </p:cNvSpPr>
          <p:nvPr>
            <p:ph type="title"/>
          </p:nvPr>
        </p:nvSpPr>
        <p:spPr>
          <a:xfrm>
            <a:off x="8676858" y="1055919"/>
            <a:ext cx="3515142" cy="589032"/>
          </a:xfrm>
        </p:spPr>
        <p:txBody>
          <a:bodyPr>
            <a:normAutofit fontScale="90000"/>
          </a:bodyPr>
          <a:lstStyle/>
          <a:p>
            <a:r>
              <a:rPr lang="en-US" b="1" dirty="0"/>
              <a:t>Comparative Analysis of Counts Per Department </a:t>
            </a:r>
          </a:p>
        </p:txBody>
      </p:sp>
      <p:sp>
        <p:nvSpPr>
          <p:cNvPr id="4" name="Rectangle 3">
            <a:extLst>
              <a:ext uri="{FF2B5EF4-FFF2-40B4-BE49-F238E27FC236}">
                <a16:creationId xmlns:a16="http://schemas.microsoft.com/office/drawing/2014/main" id="{B7B4B238-8199-4836-BF48-F66037C7349F}"/>
              </a:ext>
            </a:extLst>
          </p:cNvPr>
          <p:cNvSpPr/>
          <p:nvPr/>
        </p:nvSpPr>
        <p:spPr>
          <a:xfrm>
            <a:off x="8994912" y="2500901"/>
            <a:ext cx="3197087" cy="3785652"/>
          </a:xfrm>
          <a:prstGeom prst="rect">
            <a:avLst/>
          </a:prstGeom>
        </p:spPr>
        <p:txBody>
          <a:bodyPr wrap="square">
            <a:spAutoFit/>
          </a:bodyPr>
          <a:lstStyle/>
          <a:p>
            <a:r>
              <a:rPr lang="en-US" sz="2000" dirty="0"/>
              <a:t>The model shows that most sentiments are positive, followed by neutral sentiments, and negative sentiments. The classification and analysis demonstrate that AI-powered models can potentially enhance customer service analysis in the Hajj and Umrah pilgrimages</a:t>
            </a:r>
          </a:p>
        </p:txBody>
      </p:sp>
      <p:graphicFrame>
        <p:nvGraphicFramePr>
          <p:cNvPr id="6" name="Chart 5">
            <a:extLst>
              <a:ext uri="{FF2B5EF4-FFF2-40B4-BE49-F238E27FC236}">
                <a16:creationId xmlns:a16="http://schemas.microsoft.com/office/drawing/2014/main" id="{034AA5AE-0C31-42C2-94BE-CF5469A9EA5B}"/>
              </a:ext>
            </a:extLst>
          </p:cNvPr>
          <p:cNvGraphicFramePr>
            <a:graphicFrameLocks/>
          </p:cNvGraphicFramePr>
          <p:nvPr>
            <p:extLst>
              <p:ext uri="{D42A27DB-BD31-4B8C-83A1-F6EECF244321}">
                <p14:modId xmlns:p14="http://schemas.microsoft.com/office/powerpoint/2010/main" val="695437698"/>
              </p:ext>
            </p:extLst>
          </p:nvPr>
        </p:nvGraphicFramePr>
        <p:xfrm>
          <a:off x="0" y="0"/>
          <a:ext cx="8994912" cy="6083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363274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BF3EA-C299-4A07-B94A-1639EB6092F0}"/>
              </a:ext>
            </a:extLst>
          </p:cNvPr>
          <p:cNvSpPr>
            <a:spLocks noGrp="1"/>
          </p:cNvSpPr>
          <p:nvPr>
            <p:ph type="title"/>
          </p:nvPr>
        </p:nvSpPr>
        <p:spPr>
          <a:xfrm>
            <a:off x="8534399" y="1293676"/>
            <a:ext cx="3597636" cy="897145"/>
          </a:xfrm>
        </p:spPr>
        <p:txBody>
          <a:bodyPr>
            <a:normAutofit fontScale="90000"/>
          </a:bodyPr>
          <a:lstStyle/>
          <a:p>
            <a:pPr algn="ctr"/>
            <a:r>
              <a:rPr lang="en-US" b="1" dirty="0"/>
              <a:t>Comparative Analysis of Positive Counts Per Department </a:t>
            </a:r>
            <a:endParaRPr lang="en-US" dirty="0"/>
          </a:p>
        </p:txBody>
      </p:sp>
      <p:sp>
        <p:nvSpPr>
          <p:cNvPr id="6" name="Rectangle 5">
            <a:extLst>
              <a:ext uri="{FF2B5EF4-FFF2-40B4-BE49-F238E27FC236}">
                <a16:creationId xmlns:a16="http://schemas.microsoft.com/office/drawing/2014/main" id="{0D027373-58BD-40E2-A2E1-9D10C1A90977}"/>
              </a:ext>
            </a:extLst>
          </p:cNvPr>
          <p:cNvSpPr/>
          <p:nvPr/>
        </p:nvSpPr>
        <p:spPr>
          <a:xfrm>
            <a:off x="8534399" y="2917065"/>
            <a:ext cx="3518453" cy="3170099"/>
          </a:xfrm>
          <a:prstGeom prst="rect">
            <a:avLst/>
          </a:prstGeom>
        </p:spPr>
        <p:txBody>
          <a:bodyPr wrap="square">
            <a:spAutoFit/>
          </a:bodyPr>
          <a:lstStyle/>
          <a:p>
            <a:r>
              <a:rPr lang="en-US" sz="2000" dirty="0"/>
              <a:t>Graph shows customers express high levels to low levels of satisfaction in the order of transport and travel, staff attitude and support, general services, service efficiency and time management, food quality and dining, event and program organization, and hotel room conditions and cleanliness. </a:t>
            </a:r>
          </a:p>
        </p:txBody>
      </p:sp>
      <p:pic>
        <p:nvPicPr>
          <p:cNvPr id="5" name="Picture 4">
            <a:extLst>
              <a:ext uri="{FF2B5EF4-FFF2-40B4-BE49-F238E27FC236}">
                <a16:creationId xmlns:a16="http://schemas.microsoft.com/office/drawing/2014/main" id="{190A3779-E4C2-4026-B403-C0ED44CDE898}"/>
              </a:ext>
            </a:extLst>
          </p:cNvPr>
          <p:cNvPicPr>
            <a:picLocks noChangeAspect="1"/>
          </p:cNvPicPr>
          <p:nvPr/>
        </p:nvPicPr>
        <p:blipFill>
          <a:blip r:embed="rId2"/>
          <a:stretch>
            <a:fillRect/>
          </a:stretch>
        </p:blipFill>
        <p:spPr>
          <a:xfrm>
            <a:off x="139148" y="119270"/>
            <a:ext cx="8249147" cy="6107578"/>
          </a:xfrm>
          <a:prstGeom prst="rect">
            <a:avLst/>
          </a:prstGeom>
        </p:spPr>
      </p:pic>
    </p:spTree>
    <p:extLst>
      <p:ext uri="{BB962C8B-B14F-4D97-AF65-F5344CB8AC3E}">
        <p14:creationId xmlns:p14="http://schemas.microsoft.com/office/powerpoint/2010/main" val="21448218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F618A-B897-4051-80F1-96FBF27D18F1}"/>
              </a:ext>
            </a:extLst>
          </p:cNvPr>
          <p:cNvSpPr>
            <a:spLocks noGrp="1"/>
          </p:cNvSpPr>
          <p:nvPr>
            <p:ph type="title"/>
          </p:nvPr>
        </p:nvSpPr>
        <p:spPr>
          <a:xfrm>
            <a:off x="8265592" y="1537498"/>
            <a:ext cx="3588026" cy="1119946"/>
          </a:xfrm>
        </p:spPr>
        <p:txBody>
          <a:bodyPr>
            <a:normAutofit fontScale="90000"/>
          </a:bodyPr>
          <a:lstStyle/>
          <a:p>
            <a:pPr algn="ctr"/>
            <a:r>
              <a:rPr lang="en-US" b="1" dirty="0"/>
              <a:t>Comparative Analysis of Neutral Counts Per Department </a:t>
            </a:r>
            <a:endParaRPr lang="en-US" dirty="0"/>
          </a:p>
        </p:txBody>
      </p:sp>
      <p:sp>
        <p:nvSpPr>
          <p:cNvPr id="9" name="Rectangle 8">
            <a:extLst>
              <a:ext uri="{FF2B5EF4-FFF2-40B4-BE49-F238E27FC236}">
                <a16:creationId xmlns:a16="http://schemas.microsoft.com/office/drawing/2014/main" id="{3C9EA290-1E57-4ED1-A7FA-9B7B223A4DED}"/>
              </a:ext>
            </a:extLst>
          </p:cNvPr>
          <p:cNvSpPr/>
          <p:nvPr/>
        </p:nvSpPr>
        <p:spPr>
          <a:xfrm>
            <a:off x="8611052" y="3558209"/>
            <a:ext cx="3242566" cy="1323439"/>
          </a:xfrm>
          <a:prstGeom prst="rect">
            <a:avLst/>
          </a:prstGeom>
        </p:spPr>
        <p:txBody>
          <a:bodyPr wrap="square">
            <a:spAutoFit/>
          </a:bodyPr>
          <a:lstStyle/>
          <a:p>
            <a:r>
              <a:rPr lang="en-US" sz="2000" dirty="0"/>
              <a:t>Customers provided neutral sentiments in the following department and services, in the order of high to low</a:t>
            </a:r>
          </a:p>
        </p:txBody>
      </p:sp>
      <p:pic>
        <p:nvPicPr>
          <p:cNvPr id="5" name="Picture 4">
            <a:extLst>
              <a:ext uri="{FF2B5EF4-FFF2-40B4-BE49-F238E27FC236}">
                <a16:creationId xmlns:a16="http://schemas.microsoft.com/office/drawing/2014/main" id="{312F1824-5D8A-450B-8FE7-0960A9394C0D}"/>
              </a:ext>
            </a:extLst>
          </p:cNvPr>
          <p:cNvPicPr>
            <a:picLocks noChangeAspect="1"/>
          </p:cNvPicPr>
          <p:nvPr/>
        </p:nvPicPr>
        <p:blipFill>
          <a:blip r:embed="rId2"/>
          <a:stretch>
            <a:fillRect/>
          </a:stretch>
        </p:blipFill>
        <p:spPr>
          <a:xfrm>
            <a:off x="80960" y="159026"/>
            <a:ext cx="8069128" cy="5963478"/>
          </a:xfrm>
          <a:prstGeom prst="rect">
            <a:avLst/>
          </a:prstGeom>
        </p:spPr>
      </p:pic>
    </p:spTree>
    <p:extLst>
      <p:ext uri="{BB962C8B-B14F-4D97-AF65-F5344CB8AC3E}">
        <p14:creationId xmlns:p14="http://schemas.microsoft.com/office/powerpoint/2010/main" val="35001236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65633-0147-4881-BFB6-E8C1BCA70137}"/>
              </a:ext>
            </a:extLst>
          </p:cNvPr>
          <p:cNvSpPr>
            <a:spLocks noGrp="1"/>
          </p:cNvSpPr>
          <p:nvPr>
            <p:ph type="title"/>
          </p:nvPr>
        </p:nvSpPr>
        <p:spPr>
          <a:xfrm>
            <a:off x="203752" y="210382"/>
            <a:ext cx="11784495" cy="660835"/>
          </a:xfrm>
        </p:spPr>
        <p:txBody>
          <a:bodyPr>
            <a:normAutofit fontScale="90000"/>
          </a:bodyPr>
          <a:lstStyle/>
          <a:p>
            <a:pPr algn="ctr"/>
            <a:r>
              <a:rPr lang="en-US" b="1" dirty="0"/>
              <a:t>Comparative Analysis of Negative Counts Per Department </a:t>
            </a:r>
            <a:endParaRPr lang="en-US" dirty="0"/>
          </a:p>
        </p:txBody>
      </p:sp>
      <p:sp>
        <p:nvSpPr>
          <p:cNvPr id="6" name="Rectangle 5">
            <a:extLst>
              <a:ext uri="{FF2B5EF4-FFF2-40B4-BE49-F238E27FC236}">
                <a16:creationId xmlns:a16="http://schemas.microsoft.com/office/drawing/2014/main" id="{7008FBD8-FB28-4470-ADE1-5A6DB6909E11}"/>
              </a:ext>
            </a:extLst>
          </p:cNvPr>
          <p:cNvSpPr/>
          <p:nvPr/>
        </p:nvSpPr>
        <p:spPr>
          <a:xfrm>
            <a:off x="602974" y="5189444"/>
            <a:ext cx="11589026" cy="707886"/>
          </a:xfrm>
          <a:prstGeom prst="rect">
            <a:avLst/>
          </a:prstGeom>
        </p:spPr>
        <p:txBody>
          <a:bodyPr wrap="square">
            <a:spAutoFit/>
          </a:bodyPr>
          <a:lstStyle/>
          <a:p>
            <a:r>
              <a:rPr lang="en-US" sz="2000" b="1" dirty="0"/>
              <a:t>In regards to the negative sentiment, event and program organization, service efficiency and time management, transport and travel, and staff attitude and support had the most negative sentiments. </a:t>
            </a:r>
          </a:p>
        </p:txBody>
      </p:sp>
      <p:graphicFrame>
        <p:nvGraphicFramePr>
          <p:cNvPr id="5" name="Chart 4">
            <a:extLst>
              <a:ext uri="{FF2B5EF4-FFF2-40B4-BE49-F238E27FC236}">
                <a16:creationId xmlns:a16="http://schemas.microsoft.com/office/drawing/2014/main" id="{2DEA2616-2EBD-4271-853E-8949C67FF7DD}"/>
              </a:ext>
            </a:extLst>
          </p:cNvPr>
          <p:cNvGraphicFramePr>
            <a:graphicFrameLocks/>
          </p:cNvGraphicFramePr>
          <p:nvPr>
            <p:extLst>
              <p:ext uri="{D42A27DB-BD31-4B8C-83A1-F6EECF244321}">
                <p14:modId xmlns:p14="http://schemas.microsoft.com/office/powerpoint/2010/main" val="622345538"/>
              </p:ext>
            </p:extLst>
          </p:nvPr>
        </p:nvGraphicFramePr>
        <p:xfrm>
          <a:off x="203752" y="871217"/>
          <a:ext cx="11703326" cy="4416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513898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CE4E34-02C1-428F-B9E6-33EFD7ED309E}"/>
              </a:ext>
            </a:extLst>
          </p:cNvPr>
          <p:cNvSpPr/>
          <p:nvPr/>
        </p:nvSpPr>
        <p:spPr>
          <a:xfrm>
            <a:off x="606286" y="27595"/>
            <a:ext cx="11241157" cy="1323439"/>
          </a:xfrm>
          <a:prstGeom prst="rect">
            <a:avLst/>
          </a:prstGeom>
        </p:spPr>
        <p:txBody>
          <a:bodyPr wrap="square">
            <a:spAutoFit/>
          </a:bodyPr>
          <a:lstStyle/>
          <a:p>
            <a:pPr algn="ctr"/>
            <a:r>
              <a:rPr lang="en-US" sz="4000" b="1" u="sng" dirty="0"/>
              <a:t>Comparison Analysis: My Studies and Previous Studies  </a:t>
            </a:r>
          </a:p>
        </p:txBody>
      </p:sp>
      <p:graphicFrame>
        <p:nvGraphicFramePr>
          <p:cNvPr id="2" name="Table 1">
            <a:extLst>
              <a:ext uri="{FF2B5EF4-FFF2-40B4-BE49-F238E27FC236}">
                <a16:creationId xmlns:a16="http://schemas.microsoft.com/office/drawing/2014/main" id="{DE6F47F3-E461-4190-8C7E-8E18748CC99F}"/>
              </a:ext>
            </a:extLst>
          </p:cNvPr>
          <p:cNvGraphicFramePr>
            <a:graphicFrameLocks noGrp="1"/>
          </p:cNvGraphicFramePr>
          <p:nvPr>
            <p:extLst>
              <p:ext uri="{D42A27DB-BD31-4B8C-83A1-F6EECF244321}">
                <p14:modId xmlns:p14="http://schemas.microsoft.com/office/powerpoint/2010/main" val="34037629"/>
              </p:ext>
            </p:extLst>
          </p:nvPr>
        </p:nvGraphicFramePr>
        <p:xfrm>
          <a:off x="606286" y="1350346"/>
          <a:ext cx="10875619" cy="4910481"/>
        </p:xfrm>
        <a:graphic>
          <a:graphicData uri="http://schemas.openxmlformats.org/drawingml/2006/table">
            <a:tbl>
              <a:tblPr firstRow="1" bandRow="1">
                <a:tableStyleId>{5C22544A-7EE6-4342-B048-85BDC9FD1C3A}</a:tableStyleId>
              </a:tblPr>
              <a:tblGrid>
                <a:gridCol w="3257460">
                  <a:extLst>
                    <a:ext uri="{9D8B030D-6E8A-4147-A177-3AD203B41FA5}">
                      <a16:colId xmlns:a16="http://schemas.microsoft.com/office/drawing/2014/main" val="3456077265"/>
                    </a:ext>
                  </a:extLst>
                </a:gridCol>
                <a:gridCol w="7618159">
                  <a:extLst>
                    <a:ext uri="{9D8B030D-6E8A-4147-A177-3AD203B41FA5}">
                      <a16:colId xmlns:a16="http://schemas.microsoft.com/office/drawing/2014/main" val="901744971"/>
                    </a:ext>
                  </a:extLst>
                </a:gridCol>
              </a:tblGrid>
              <a:tr h="414521">
                <a:tc>
                  <a:txBody>
                    <a:bodyPr/>
                    <a:lstStyle/>
                    <a:p>
                      <a:pPr algn="ctr"/>
                      <a:r>
                        <a:rPr lang="en-US" sz="2000" dirty="0">
                          <a:solidFill>
                            <a:schemeClr val="tx1"/>
                          </a:solidFill>
                        </a:rPr>
                        <a:t>Authors and Year </a:t>
                      </a:r>
                    </a:p>
                  </a:txBody>
                  <a:tcPr/>
                </a:tc>
                <a:tc>
                  <a:txBody>
                    <a:bodyPr/>
                    <a:lstStyle/>
                    <a:p>
                      <a:pPr algn="ctr"/>
                      <a:r>
                        <a:rPr lang="en-US" sz="2000" dirty="0">
                          <a:solidFill>
                            <a:schemeClr val="tx1"/>
                          </a:solidFill>
                        </a:rPr>
                        <a:t>Title of Publication </a:t>
                      </a:r>
                    </a:p>
                  </a:txBody>
                  <a:tcPr/>
                </a:tc>
                <a:extLst>
                  <a:ext uri="{0D108BD9-81ED-4DB2-BD59-A6C34878D82A}">
                    <a16:rowId xmlns:a16="http://schemas.microsoft.com/office/drawing/2014/main" val="3857694044"/>
                  </a:ext>
                </a:extLst>
              </a:tr>
              <a:tr h="956587">
                <a:tc>
                  <a:txBody>
                    <a:bodyPr/>
                    <a:lstStyle/>
                    <a:p>
                      <a:r>
                        <a:rPr lang="en-US" sz="1800" dirty="0">
                          <a:solidFill>
                            <a:schemeClr val="tx1"/>
                          </a:solidFill>
                        </a:rPr>
                        <a:t>Subhan, A., Firdaus, A. F., &amp; Najib, M. (2023)</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The influence of Islamic service quality and trust on customer satisfaction and intention in reusing the services</a:t>
                      </a:r>
                    </a:p>
                  </a:txBody>
                  <a:tcPr/>
                </a:tc>
                <a:extLst>
                  <a:ext uri="{0D108BD9-81ED-4DB2-BD59-A6C34878D82A}">
                    <a16:rowId xmlns:a16="http://schemas.microsoft.com/office/drawing/2014/main" val="4121969637"/>
                  </a:ext>
                </a:extLst>
              </a:tr>
              <a:tr h="669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Shah, A. A. (2024). </a:t>
                      </a:r>
                    </a:p>
                    <a:p>
                      <a:endParaRPr lang="en-US" dirty="0">
                        <a:solidFill>
                          <a:schemeClr val="tx1"/>
                        </a:solidFill>
                      </a:endParaRPr>
                    </a:p>
                  </a:txBody>
                  <a:tcPr/>
                </a:tc>
                <a:tc>
                  <a:txBody>
                    <a:bodyPr/>
                    <a:lstStyle/>
                    <a:p>
                      <a:r>
                        <a:rPr lang="en-US" sz="1800" dirty="0">
                          <a:solidFill>
                            <a:schemeClr val="tx1"/>
                          </a:solidFill>
                        </a:rPr>
                        <a:t>Enhancing Hajj and Umrah rituals and crowd management through AI technologies: A comprehensive survey of applications and future directions. </a:t>
                      </a:r>
                      <a:endParaRPr lang="en-US" dirty="0">
                        <a:solidFill>
                          <a:schemeClr val="tx1"/>
                        </a:solidFill>
                      </a:endParaRPr>
                    </a:p>
                  </a:txBody>
                  <a:tcPr/>
                </a:tc>
                <a:extLst>
                  <a:ext uri="{0D108BD9-81ED-4DB2-BD59-A6C34878D82A}">
                    <a16:rowId xmlns:a16="http://schemas.microsoft.com/office/drawing/2014/main" val="1188366350"/>
                  </a:ext>
                </a:extLst>
              </a:tr>
              <a:tr h="12435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rPr>
                        <a:t>Chelloug</a:t>
                      </a:r>
                      <a:r>
                        <a:rPr lang="en-US" sz="1800" dirty="0">
                          <a:solidFill>
                            <a:schemeClr val="tx1"/>
                          </a:solidFill>
                        </a:rPr>
                        <a:t>, S. A., Muthanna, M. S., Jamil, F., Al-</a:t>
                      </a:r>
                      <a:r>
                        <a:rPr lang="en-US" sz="1800" dirty="0" err="1">
                          <a:solidFill>
                            <a:schemeClr val="tx1"/>
                          </a:solidFill>
                        </a:rPr>
                        <a:t>Gaashani</a:t>
                      </a:r>
                      <a:r>
                        <a:rPr lang="en-US" sz="1800" dirty="0">
                          <a:solidFill>
                            <a:schemeClr val="tx1"/>
                          </a:solidFill>
                        </a:rPr>
                        <a:t>, M. S., </a:t>
                      </a:r>
                      <a:r>
                        <a:rPr lang="en-US" sz="1800" dirty="0" err="1">
                          <a:solidFill>
                            <a:schemeClr val="tx1"/>
                          </a:solidFill>
                        </a:rPr>
                        <a:t>Alhelaly</a:t>
                      </a:r>
                      <a:r>
                        <a:rPr lang="en-US" sz="1800" dirty="0">
                          <a:solidFill>
                            <a:schemeClr val="tx1"/>
                          </a:solidFill>
                        </a:rPr>
                        <a:t>, S., Aziz, A., &amp; Muthanna, A. (2025). </a:t>
                      </a:r>
                    </a:p>
                  </a:txBody>
                  <a:tcPr/>
                </a:tc>
                <a:tc>
                  <a:txBody>
                    <a:bodyPr/>
                    <a:lstStyle/>
                    <a:p>
                      <a:r>
                        <a:rPr lang="en-US" sz="1800" dirty="0">
                          <a:solidFill>
                            <a:schemeClr val="tx1"/>
                          </a:solidFill>
                        </a:rPr>
                        <a:t>Enhancing Hajj and Umrah services through predictive social media classification. </a:t>
                      </a:r>
                      <a:endParaRPr lang="en-US" dirty="0">
                        <a:solidFill>
                          <a:schemeClr val="tx1"/>
                        </a:solidFill>
                      </a:endParaRPr>
                    </a:p>
                  </a:txBody>
                  <a:tcPr/>
                </a:tc>
                <a:extLst>
                  <a:ext uri="{0D108BD9-81ED-4DB2-BD59-A6C34878D82A}">
                    <a16:rowId xmlns:a16="http://schemas.microsoft.com/office/drawing/2014/main" val="3430360992"/>
                  </a:ext>
                </a:extLst>
              </a:tr>
              <a:tr h="956587">
                <a:tc>
                  <a:txBody>
                    <a:bodyPr/>
                    <a:lstStyle/>
                    <a:p>
                      <a:r>
                        <a:rPr lang="en-US" sz="1800" dirty="0" err="1">
                          <a:solidFill>
                            <a:schemeClr val="tx1"/>
                          </a:solidFill>
                        </a:rPr>
                        <a:t>Firdos</a:t>
                      </a:r>
                      <a:r>
                        <a:rPr lang="en-US" sz="1800" dirty="0">
                          <a:solidFill>
                            <a:schemeClr val="tx1"/>
                          </a:solidFill>
                        </a:rPr>
                        <a:t>, E., &amp; </a:t>
                      </a:r>
                      <a:r>
                        <a:rPr lang="en-US" sz="1800" dirty="0" err="1">
                          <a:solidFill>
                            <a:schemeClr val="tx1"/>
                          </a:solidFill>
                        </a:rPr>
                        <a:t>Dermawan</a:t>
                      </a:r>
                      <a:r>
                        <a:rPr lang="en-US" sz="1800" dirty="0">
                          <a:solidFill>
                            <a:schemeClr val="tx1"/>
                          </a:solidFill>
                        </a:rPr>
                        <a:t>, A. (2023). </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Building company image and trust of prospective Hajj and umrah pilgrims through public relations strategies. </a:t>
                      </a:r>
                      <a:r>
                        <a:rPr lang="en-US" sz="1800" dirty="0" err="1">
                          <a:solidFill>
                            <a:schemeClr val="tx1"/>
                          </a:solidFill>
                        </a:rPr>
                        <a:t>Multazam</a:t>
                      </a:r>
                      <a:r>
                        <a:rPr lang="en-US" sz="1800" dirty="0">
                          <a:solidFill>
                            <a:schemeClr val="tx1"/>
                          </a:solidFill>
                        </a:rPr>
                        <a:t> : </a:t>
                      </a:r>
                      <a:r>
                        <a:rPr lang="en-US" sz="1800" dirty="0" err="1">
                          <a:solidFill>
                            <a:schemeClr val="tx1"/>
                          </a:solidFill>
                        </a:rPr>
                        <a:t>Jurnal</a:t>
                      </a:r>
                      <a:r>
                        <a:rPr lang="en-US" sz="1800" dirty="0">
                          <a:solidFill>
                            <a:schemeClr val="tx1"/>
                          </a:solidFill>
                        </a:rPr>
                        <a:t> </a:t>
                      </a:r>
                      <a:r>
                        <a:rPr lang="en-US" sz="1800" dirty="0" err="1">
                          <a:solidFill>
                            <a:schemeClr val="tx1"/>
                          </a:solidFill>
                        </a:rPr>
                        <a:t>Manajemen</a:t>
                      </a:r>
                      <a:r>
                        <a:rPr lang="en-US" sz="1800" dirty="0">
                          <a:solidFill>
                            <a:schemeClr val="tx1"/>
                          </a:solidFill>
                        </a:rPr>
                        <a:t> Haji dan Umrah</a:t>
                      </a:r>
                    </a:p>
                  </a:txBody>
                  <a:tcPr/>
                </a:tc>
                <a:extLst>
                  <a:ext uri="{0D108BD9-81ED-4DB2-BD59-A6C34878D82A}">
                    <a16:rowId xmlns:a16="http://schemas.microsoft.com/office/drawing/2014/main" val="1284639076"/>
                  </a:ext>
                </a:extLst>
              </a:tr>
              <a:tr h="669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Bohn, J. (2018). </a:t>
                      </a:r>
                    </a:p>
                  </a:txBody>
                  <a:tcPr/>
                </a:tc>
                <a:tc>
                  <a:txBody>
                    <a:bodyPr/>
                    <a:lstStyle/>
                    <a:p>
                      <a:r>
                        <a:rPr lang="en-US" sz="1800" dirty="0">
                          <a:solidFill>
                            <a:schemeClr val="tx1"/>
                          </a:solidFill>
                        </a:rPr>
                        <a:t>Analysis of self-efficacy as a contributor to customer and managerial perceptions in customer service rep performance</a:t>
                      </a:r>
                      <a:endParaRPr lang="en-US" dirty="0">
                        <a:solidFill>
                          <a:schemeClr val="tx1"/>
                        </a:solidFill>
                      </a:endParaRPr>
                    </a:p>
                  </a:txBody>
                  <a:tcPr/>
                </a:tc>
                <a:extLst>
                  <a:ext uri="{0D108BD9-81ED-4DB2-BD59-A6C34878D82A}">
                    <a16:rowId xmlns:a16="http://schemas.microsoft.com/office/drawing/2014/main" val="2282003800"/>
                  </a:ext>
                </a:extLst>
              </a:tr>
            </a:tbl>
          </a:graphicData>
        </a:graphic>
      </p:graphicFrame>
    </p:spTree>
    <p:extLst>
      <p:ext uri="{BB962C8B-B14F-4D97-AF65-F5344CB8AC3E}">
        <p14:creationId xmlns:p14="http://schemas.microsoft.com/office/powerpoint/2010/main" val="7787425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CE4D0-556F-4B30-884A-6F65F2860E1C}"/>
              </a:ext>
            </a:extLst>
          </p:cNvPr>
          <p:cNvSpPr>
            <a:spLocks noGrp="1"/>
          </p:cNvSpPr>
          <p:nvPr>
            <p:ph type="title"/>
          </p:nvPr>
        </p:nvSpPr>
        <p:spPr>
          <a:xfrm>
            <a:off x="917713" y="1027906"/>
            <a:ext cx="10515600" cy="1325563"/>
          </a:xfrm>
        </p:spPr>
        <p:txBody>
          <a:bodyPr/>
          <a:lstStyle/>
          <a:p>
            <a:pPr algn="ctr"/>
            <a:r>
              <a:rPr lang="en-US" b="1" dirty="0"/>
              <a:t>About the studies </a:t>
            </a:r>
          </a:p>
        </p:txBody>
      </p:sp>
      <p:sp>
        <p:nvSpPr>
          <p:cNvPr id="3" name="Rectangle 2">
            <a:extLst>
              <a:ext uri="{FF2B5EF4-FFF2-40B4-BE49-F238E27FC236}">
                <a16:creationId xmlns:a16="http://schemas.microsoft.com/office/drawing/2014/main" id="{AE54A8FA-2E71-4970-BA4A-5C09DD54112C}"/>
              </a:ext>
            </a:extLst>
          </p:cNvPr>
          <p:cNvSpPr/>
          <p:nvPr/>
        </p:nvSpPr>
        <p:spPr>
          <a:xfrm>
            <a:off x="1838739" y="2469804"/>
            <a:ext cx="9163877" cy="2554545"/>
          </a:xfrm>
          <a:prstGeom prst="rect">
            <a:avLst/>
          </a:prstGeom>
        </p:spPr>
        <p:txBody>
          <a:bodyPr wrap="square">
            <a:spAutoFit/>
          </a:bodyPr>
          <a:lstStyle/>
          <a:p>
            <a:pPr marL="285750" indent="-285750">
              <a:buFont typeface="Wingdings" panose="05000000000000000000" pitchFamily="2" charset="2"/>
              <a:buChar char="q"/>
            </a:pPr>
            <a:r>
              <a:rPr lang="en-US" sz="2000" dirty="0"/>
              <a:t>Focused on AI models and natural language processing tasks </a:t>
            </a:r>
          </a:p>
          <a:p>
            <a:pPr marL="285750" indent="-285750">
              <a:buFont typeface="Wingdings" panose="05000000000000000000" pitchFamily="2" charset="2"/>
              <a:buChar char="q"/>
            </a:pPr>
            <a:r>
              <a:rPr lang="en-US" sz="2000" dirty="0"/>
              <a:t>These studies involve the evaluation of different models, most of which have been used in study in sentiment analysis and classification tasks.</a:t>
            </a:r>
          </a:p>
          <a:p>
            <a:pPr marL="285750" indent="-285750">
              <a:buFont typeface="Wingdings" panose="05000000000000000000" pitchFamily="2" charset="2"/>
              <a:buChar char="q"/>
            </a:pPr>
            <a:r>
              <a:rPr lang="en-US" sz="2000" dirty="0"/>
              <a:t> The nature of the studies is theoretical focusing on reviewing documentation and publication on AI models </a:t>
            </a:r>
          </a:p>
          <a:p>
            <a:pPr marL="285750" indent="-285750">
              <a:buFont typeface="Wingdings" panose="05000000000000000000" pitchFamily="2" charset="2"/>
              <a:buChar char="q"/>
            </a:pPr>
            <a:r>
              <a:rPr lang="en-US" sz="2000" dirty="0"/>
              <a:t>Studies qualitatively analyzed the  functions, architecture, and performance of the models. </a:t>
            </a:r>
          </a:p>
          <a:p>
            <a:pPr marL="285750" indent="-285750">
              <a:buFont typeface="Wingdings" panose="05000000000000000000" pitchFamily="2" charset="2"/>
              <a:buChar char="q"/>
            </a:pPr>
            <a:r>
              <a:rPr lang="en-US" sz="2000" dirty="0"/>
              <a:t>Studies were conducted between 2018 to 2025</a:t>
            </a:r>
          </a:p>
        </p:txBody>
      </p:sp>
    </p:spTree>
    <p:extLst>
      <p:ext uri="{BB962C8B-B14F-4D97-AF65-F5344CB8AC3E}">
        <p14:creationId xmlns:p14="http://schemas.microsoft.com/office/powerpoint/2010/main" val="36234466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9D56D6-8977-4C79-97E1-B8392BA5E087}"/>
              </a:ext>
            </a:extLst>
          </p:cNvPr>
          <p:cNvPicPr>
            <a:picLocks noChangeAspect="1"/>
          </p:cNvPicPr>
          <p:nvPr/>
        </p:nvPicPr>
        <p:blipFill rotWithShape="1">
          <a:blip r:embed="rId2"/>
          <a:srcRect t="31781"/>
          <a:stretch/>
        </p:blipFill>
        <p:spPr>
          <a:xfrm>
            <a:off x="398003" y="1828800"/>
            <a:ext cx="10851022" cy="4114799"/>
          </a:xfrm>
          <a:prstGeom prst="rect">
            <a:avLst/>
          </a:prstGeom>
        </p:spPr>
      </p:pic>
      <p:sp>
        <p:nvSpPr>
          <p:cNvPr id="4" name="Rectangle 3">
            <a:extLst>
              <a:ext uri="{FF2B5EF4-FFF2-40B4-BE49-F238E27FC236}">
                <a16:creationId xmlns:a16="http://schemas.microsoft.com/office/drawing/2014/main" id="{D11F84AC-6F98-4B1C-81CE-EE390B49A952}"/>
              </a:ext>
            </a:extLst>
          </p:cNvPr>
          <p:cNvSpPr/>
          <p:nvPr/>
        </p:nvSpPr>
        <p:spPr>
          <a:xfrm>
            <a:off x="2516675" y="285129"/>
            <a:ext cx="7158650" cy="1446550"/>
          </a:xfrm>
          <a:prstGeom prst="rect">
            <a:avLst/>
          </a:prstGeom>
        </p:spPr>
        <p:txBody>
          <a:bodyPr wrap="square">
            <a:spAutoFit/>
          </a:bodyPr>
          <a:lstStyle/>
          <a:p>
            <a:r>
              <a:rPr lang="en-US" sz="4400" b="1" dirty="0"/>
              <a:t>Comparison Summary: My Studies and Previous Studies  </a:t>
            </a:r>
          </a:p>
        </p:txBody>
      </p:sp>
    </p:spTree>
    <p:extLst>
      <p:ext uri="{BB962C8B-B14F-4D97-AF65-F5344CB8AC3E}">
        <p14:creationId xmlns:p14="http://schemas.microsoft.com/office/powerpoint/2010/main" val="24722178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5F7605-1D22-4BB7-A9CC-78E92BA0269B}"/>
              </a:ext>
            </a:extLst>
          </p:cNvPr>
          <p:cNvSpPr/>
          <p:nvPr/>
        </p:nvSpPr>
        <p:spPr>
          <a:xfrm>
            <a:off x="960782" y="1175393"/>
            <a:ext cx="10270436" cy="4524315"/>
          </a:xfrm>
          <a:prstGeom prst="rect">
            <a:avLst/>
          </a:prstGeom>
        </p:spPr>
        <p:txBody>
          <a:bodyPr wrap="square">
            <a:spAutoFit/>
          </a:bodyPr>
          <a:lstStyle/>
          <a:p>
            <a:pPr marL="342900" indent="-342900">
              <a:lnSpc>
                <a:spcPct val="150000"/>
              </a:lnSpc>
              <a:buFont typeface="Wingdings" panose="05000000000000000000" pitchFamily="2" charset="2"/>
              <a:buChar char="q"/>
            </a:pPr>
            <a:r>
              <a:rPr lang="en-US" sz="2000" dirty="0"/>
              <a:t>Similarly to the above studies, this study established that </a:t>
            </a:r>
          </a:p>
          <a:p>
            <a:pPr marL="746125" indent="-288925">
              <a:lnSpc>
                <a:spcPct val="150000"/>
              </a:lnSpc>
              <a:buFont typeface="Arial" panose="020B0604020202020204" pitchFamily="34" charset="0"/>
              <a:buChar char="•"/>
            </a:pPr>
            <a:r>
              <a:rPr lang="en-US" sz="2000" dirty="0"/>
              <a:t>Pre-</a:t>
            </a:r>
            <a:r>
              <a:rPr lang="en-US" sz="2000" dirty="0" err="1"/>
              <a:t>tained</a:t>
            </a:r>
            <a:r>
              <a:rPr lang="en-US" sz="2000" dirty="0"/>
              <a:t> transformers like BERT and </a:t>
            </a:r>
            <a:r>
              <a:rPr lang="en-US" sz="2000" dirty="0" err="1"/>
              <a:t>DistillBERT</a:t>
            </a:r>
            <a:r>
              <a:rPr lang="en-US" sz="2000" dirty="0"/>
              <a:t> t are accurate on sentiment and text analysis</a:t>
            </a:r>
          </a:p>
          <a:p>
            <a:pPr marL="746125" indent="-288925">
              <a:lnSpc>
                <a:spcPct val="150000"/>
              </a:lnSpc>
              <a:buFont typeface="Arial" panose="020B0604020202020204" pitchFamily="34" charset="0"/>
              <a:buChar char="•"/>
            </a:pPr>
            <a:r>
              <a:rPr lang="en-US" sz="2000" dirty="0"/>
              <a:t>BERT is generally good than </a:t>
            </a:r>
            <a:r>
              <a:rPr lang="en-US" sz="2000" dirty="0" err="1"/>
              <a:t>DistillBERT</a:t>
            </a:r>
            <a:r>
              <a:rPr lang="en-US" sz="2000" dirty="0"/>
              <a:t> due reasons highlighted in the next slide, as established in literature analysis </a:t>
            </a:r>
          </a:p>
          <a:p>
            <a:pPr marL="746125" indent="-288925">
              <a:lnSpc>
                <a:spcPct val="150000"/>
              </a:lnSpc>
              <a:buFont typeface="Arial" panose="020B0604020202020204" pitchFamily="34" charset="0"/>
              <a:buChar char="•"/>
            </a:pPr>
            <a:r>
              <a:rPr lang="en-US" sz="2000" dirty="0"/>
              <a:t>Modern and robust models are accurate, precise, and efficient in text classification and sentiment tasks</a:t>
            </a:r>
          </a:p>
          <a:p>
            <a:pPr marL="746125" indent="-288925">
              <a:lnSpc>
                <a:spcPct val="150000"/>
              </a:lnSpc>
              <a:buFont typeface="Arial" panose="020B0604020202020204" pitchFamily="34" charset="0"/>
              <a:buChar char="•"/>
            </a:pPr>
            <a:r>
              <a:rPr lang="en-US" sz="2000" dirty="0"/>
              <a:t> The accuracy of the models improves with model complexity. </a:t>
            </a:r>
          </a:p>
          <a:p>
            <a:pPr marL="746125" indent="-288925">
              <a:lnSpc>
                <a:spcPct val="150000"/>
              </a:lnSpc>
              <a:buFont typeface="Arial" panose="020B0604020202020204" pitchFamily="34" charset="0"/>
              <a:buChar char="•"/>
            </a:pPr>
            <a:r>
              <a:rPr lang="en-US" sz="2000" dirty="0"/>
              <a:t>There is a marginal alignment between AI-based analyses and expert analysis.</a:t>
            </a:r>
          </a:p>
          <a:p>
            <a:endParaRPr lang="en-US" dirty="0"/>
          </a:p>
        </p:txBody>
      </p:sp>
      <p:sp>
        <p:nvSpPr>
          <p:cNvPr id="3" name="Rectangle 2">
            <a:extLst>
              <a:ext uri="{FF2B5EF4-FFF2-40B4-BE49-F238E27FC236}">
                <a16:creationId xmlns:a16="http://schemas.microsoft.com/office/drawing/2014/main" id="{7B75811D-BDD0-479E-BD60-EF712975DCF1}"/>
              </a:ext>
            </a:extLst>
          </p:cNvPr>
          <p:cNvSpPr/>
          <p:nvPr/>
        </p:nvSpPr>
        <p:spPr>
          <a:xfrm>
            <a:off x="5135218" y="5342139"/>
            <a:ext cx="6096000" cy="830997"/>
          </a:xfrm>
          <a:prstGeom prst="rect">
            <a:avLst/>
          </a:prstGeom>
        </p:spPr>
        <p:txBody>
          <a:bodyPr>
            <a:spAutoFit/>
          </a:bodyPr>
          <a:lstStyle/>
          <a:p>
            <a:r>
              <a:rPr lang="en-US" sz="2400" b="1" dirty="0">
                <a:solidFill>
                  <a:schemeClr val="accent2">
                    <a:lumMod val="50000"/>
                  </a:schemeClr>
                </a:solidFill>
              </a:rPr>
              <a:t>The findings from AI-based analyses compare similar with previous studies</a:t>
            </a:r>
          </a:p>
        </p:txBody>
      </p:sp>
      <p:sp>
        <p:nvSpPr>
          <p:cNvPr id="4" name="Rectangle 3">
            <a:extLst>
              <a:ext uri="{FF2B5EF4-FFF2-40B4-BE49-F238E27FC236}">
                <a16:creationId xmlns:a16="http://schemas.microsoft.com/office/drawing/2014/main" id="{316D97B1-1DDA-4978-870E-1E6CE3064B89}"/>
              </a:ext>
            </a:extLst>
          </p:cNvPr>
          <p:cNvSpPr/>
          <p:nvPr/>
        </p:nvSpPr>
        <p:spPr>
          <a:xfrm>
            <a:off x="3812006" y="388011"/>
            <a:ext cx="4879413" cy="769441"/>
          </a:xfrm>
          <a:prstGeom prst="rect">
            <a:avLst/>
          </a:prstGeom>
        </p:spPr>
        <p:txBody>
          <a:bodyPr wrap="none">
            <a:spAutoFit/>
          </a:bodyPr>
          <a:lstStyle/>
          <a:p>
            <a:pPr algn="ctr"/>
            <a:r>
              <a:rPr lang="en-US" sz="4400" b="1" dirty="0">
                <a:latin typeface="+mj-lt"/>
              </a:rPr>
              <a:t>Comparison Analysis </a:t>
            </a:r>
          </a:p>
        </p:txBody>
      </p:sp>
    </p:spTree>
    <p:extLst>
      <p:ext uri="{BB962C8B-B14F-4D97-AF65-F5344CB8AC3E}">
        <p14:creationId xmlns:p14="http://schemas.microsoft.com/office/powerpoint/2010/main" val="9164731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B4C24B-FBE4-4D8E-933A-A93F4E1CFC74}"/>
              </a:ext>
            </a:extLst>
          </p:cNvPr>
          <p:cNvSpPr/>
          <p:nvPr/>
        </p:nvSpPr>
        <p:spPr>
          <a:xfrm>
            <a:off x="2950523" y="1465230"/>
            <a:ext cx="6290953" cy="769441"/>
          </a:xfrm>
          <a:prstGeom prst="rect">
            <a:avLst/>
          </a:prstGeom>
        </p:spPr>
        <p:txBody>
          <a:bodyPr wrap="none">
            <a:spAutoFit/>
          </a:bodyPr>
          <a:lstStyle/>
          <a:p>
            <a:pPr algn="ctr"/>
            <a:r>
              <a:rPr lang="en-US" sz="4400" b="1" u="sng" dirty="0">
                <a:latin typeface="+mj-lt"/>
              </a:rPr>
              <a:t>Roadblocks and Challenges</a:t>
            </a:r>
          </a:p>
        </p:txBody>
      </p:sp>
      <p:sp>
        <p:nvSpPr>
          <p:cNvPr id="3" name="Rectangle 2">
            <a:extLst>
              <a:ext uri="{FF2B5EF4-FFF2-40B4-BE49-F238E27FC236}">
                <a16:creationId xmlns:a16="http://schemas.microsoft.com/office/drawing/2014/main" id="{F88E1FA1-1DDE-4633-907F-1191F89FBDD3}"/>
              </a:ext>
            </a:extLst>
          </p:cNvPr>
          <p:cNvSpPr/>
          <p:nvPr/>
        </p:nvSpPr>
        <p:spPr>
          <a:xfrm>
            <a:off x="2064026" y="2698330"/>
            <a:ext cx="8282608" cy="1891287"/>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b="1" dirty="0"/>
              <a:t>Data quality issues</a:t>
            </a:r>
            <a:r>
              <a:rPr lang="en-US" sz="2000" dirty="0"/>
              <a:t>: Possible biases in translating multilingual comments </a:t>
            </a:r>
          </a:p>
          <a:p>
            <a:pPr marL="285750" indent="-285750">
              <a:lnSpc>
                <a:spcPct val="150000"/>
              </a:lnSpc>
              <a:buFont typeface="Wingdings" panose="05000000000000000000" pitchFamily="2" charset="2"/>
              <a:buChar char="q"/>
            </a:pPr>
            <a:r>
              <a:rPr lang="en-US" sz="2000" b="1" dirty="0"/>
              <a:t>Computational cost</a:t>
            </a:r>
            <a:r>
              <a:rPr lang="en-US" sz="2000" dirty="0"/>
              <a:t>: high-performance hardware is required for big data and real-time analysis</a:t>
            </a:r>
          </a:p>
          <a:p>
            <a:pPr marL="285750" indent="-285750">
              <a:lnSpc>
                <a:spcPct val="150000"/>
              </a:lnSpc>
              <a:buFont typeface="Wingdings" panose="05000000000000000000" pitchFamily="2" charset="2"/>
              <a:buChar char="q"/>
            </a:pPr>
            <a:r>
              <a:rPr lang="en-US" sz="2000" b="1" dirty="0"/>
              <a:t>Ethical concerns: </a:t>
            </a:r>
            <a:r>
              <a:rPr lang="en-US" sz="2000" dirty="0"/>
              <a:t>Model bias in analyzing neutral sentiments</a:t>
            </a:r>
          </a:p>
        </p:txBody>
      </p:sp>
    </p:spTree>
    <p:extLst>
      <p:ext uri="{BB962C8B-B14F-4D97-AF65-F5344CB8AC3E}">
        <p14:creationId xmlns:p14="http://schemas.microsoft.com/office/powerpoint/2010/main" val="2690918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7F869E-7346-4271-A318-1116B337F02D}"/>
              </a:ext>
            </a:extLst>
          </p:cNvPr>
          <p:cNvSpPr/>
          <p:nvPr/>
        </p:nvSpPr>
        <p:spPr>
          <a:xfrm>
            <a:off x="4254672" y="1137239"/>
            <a:ext cx="2714910" cy="769441"/>
          </a:xfrm>
          <a:prstGeom prst="rect">
            <a:avLst/>
          </a:prstGeom>
        </p:spPr>
        <p:txBody>
          <a:bodyPr wrap="none">
            <a:spAutoFit/>
          </a:bodyPr>
          <a:lstStyle/>
          <a:p>
            <a:pPr algn="ctr"/>
            <a:r>
              <a:rPr lang="en-US" sz="4400" b="1" u="sng" dirty="0">
                <a:latin typeface="+mj-lt"/>
              </a:rPr>
              <a:t>Limitations</a:t>
            </a:r>
          </a:p>
        </p:txBody>
      </p:sp>
      <p:sp>
        <p:nvSpPr>
          <p:cNvPr id="3" name="Rectangle 2">
            <a:extLst>
              <a:ext uri="{FF2B5EF4-FFF2-40B4-BE49-F238E27FC236}">
                <a16:creationId xmlns:a16="http://schemas.microsoft.com/office/drawing/2014/main" id="{3C82E527-C298-4512-8296-2A190BC1A14A}"/>
              </a:ext>
            </a:extLst>
          </p:cNvPr>
          <p:cNvSpPr/>
          <p:nvPr/>
        </p:nvSpPr>
        <p:spPr>
          <a:xfrm>
            <a:off x="1033670" y="2166804"/>
            <a:ext cx="10803835" cy="2954655"/>
          </a:xfrm>
          <a:prstGeom prst="rect">
            <a:avLst/>
          </a:prstGeom>
        </p:spPr>
        <p:txBody>
          <a:bodyPr wrap="square">
            <a:spAutoFit/>
          </a:bodyPr>
          <a:lstStyle/>
          <a:p>
            <a:pPr marL="285750" indent="-285750">
              <a:lnSpc>
                <a:spcPct val="150000"/>
              </a:lnSpc>
              <a:buFontTx/>
              <a:buChar char="-"/>
            </a:pPr>
            <a:r>
              <a:rPr lang="en-US" sz="2000" dirty="0"/>
              <a:t>Big data analysis and classification due computational costs. </a:t>
            </a:r>
          </a:p>
          <a:p>
            <a:pPr marL="285750" indent="-285750">
              <a:lnSpc>
                <a:spcPct val="150000"/>
              </a:lnSpc>
              <a:buFontTx/>
              <a:buChar char="-"/>
            </a:pPr>
            <a:r>
              <a:rPr lang="en-US" sz="2000" dirty="0"/>
              <a:t>Platform is limited to diverse validation because it relies on restricted data only applicable to the platform. </a:t>
            </a:r>
          </a:p>
          <a:p>
            <a:pPr marL="285750" indent="-285750">
              <a:lnSpc>
                <a:spcPct val="150000"/>
              </a:lnSpc>
              <a:buFontTx/>
              <a:buChar char="-"/>
            </a:pPr>
            <a:r>
              <a:rPr lang="en-US" sz="2000" dirty="0"/>
              <a:t>Analyzing neutral comments</a:t>
            </a:r>
          </a:p>
          <a:p>
            <a:pPr marL="285750" indent="-285750">
              <a:lnSpc>
                <a:spcPct val="150000"/>
              </a:lnSpc>
              <a:buFontTx/>
              <a:buChar char="-"/>
            </a:pPr>
            <a:r>
              <a:rPr lang="en-US" sz="2000" dirty="0"/>
              <a:t>Real-time analysis and classification </a:t>
            </a:r>
          </a:p>
          <a:p>
            <a:endParaRPr lang="en-US" dirty="0"/>
          </a:p>
          <a:p>
            <a:pPr marL="285750" indent="-285750">
              <a:buFontTx/>
              <a:buChar char="-"/>
            </a:pPr>
            <a:endParaRPr lang="en-US" dirty="0"/>
          </a:p>
        </p:txBody>
      </p:sp>
    </p:spTree>
    <p:extLst>
      <p:ext uri="{BB962C8B-B14F-4D97-AF65-F5344CB8AC3E}">
        <p14:creationId xmlns:p14="http://schemas.microsoft.com/office/powerpoint/2010/main" val="4166339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EE0190-78FB-4CDD-ADCA-7F1846499BEF}"/>
              </a:ext>
            </a:extLst>
          </p:cNvPr>
          <p:cNvSpPr/>
          <p:nvPr/>
        </p:nvSpPr>
        <p:spPr>
          <a:xfrm>
            <a:off x="2501347" y="1299507"/>
            <a:ext cx="6096000" cy="769441"/>
          </a:xfrm>
          <a:prstGeom prst="rect">
            <a:avLst/>
          </a:prstGeom>
        </p:spPr>
        <p:txBody>
          <a:bodyPr>
            <a:spAutoFit/>
          </a:bodyPr>
          <a:lstStyle/>
          <a:p>
            <a:pPr algn="ctr"/>
            <a:r>
              <a:rPr lang="en-US" sz="4400" b="1" u="sng" dirty="0"/>
              <a:t>Recommendations</a:t>
            </a:r>
            <a:r>
              <a:rPr lang="en-US" sz="4400" b="1" dirty="0"/>
              <a:t> </a:t>
            </a:r>
          </a:p>
        </p:txBody>
      </p:sp>
      <p:sp>
        <p:nvSpPr>
          <p:cNvPr id="3" name="Rectangle 2">
            <a:extLst>
              <a:ext uri="{FF2B5EF4-FFF2-40B4-BE49-F238E27FC236}">
                <a16:creationId xmlns:a16="http://schemas.microsoft.com/office/drawing/2014/main" id="{5DD61AB9-5408-443E-8F92-4850B7F4F1FD}"/>
              </a:ext>
            </a:extLst>
          </p:cNvPr>
          <p:cNvSpPr/>
          <p:nvPr/>
        </p:nvSpPr>
        <p:spPr>
          <a:xfrm>
            <a:off x="1726096" y="2483356"/>
            <a:ext cx="8362122" cy="1891287"/>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dirty="0"/>
              <a:t>Future projects to consider addressing issues of scalability by utilizing more advanced mechanisms and domain-specific embeddings </a:t>
            </a:r>
          </a:p>
          <a:p>
            <a:pPr marL="285750" indent="-285750">
              <a:lnSpc>
                <a:spcPct val="150000"/>
              </a:lnSpc>
              <a:buFont typeface="Wingdings" panose="05000000000000000000" pitchFamily="2" charset="2"/>
              <a:buChar char="q"/>
            </a:pPr>
            <a:r>
              <a:rPr lang="en-US" sz="2000" dirty="0"/>
              <a:t>Future projects integrate real-time analysis and use pretrained models like GPT</a:t>
            </a:r>
          </a:p>
        </p:txBody>
      </p:sp>
    </p:spTree>
    <p:extLst>
      <p:ext uri="{BB962C8B-B14F-4D97-AF65-F5344CB8AC3E}">
        <p14:creationId xmlns:p14="http://schemas.microsoft.com/office/powerpoint/2010/main" val="18305168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403D54-E5F0-4C52-A323-ABBCA705276B}"/>
              </a:ext>
            </a:extLst>
          </p:cNvPr>
          <p:cNvSpPr/>
          <p:nvPr/>
        </p:nvSpPr>
        <p:spPr>
          <a:xfrm>
            <a:off x="4257175" y="1529041"/>
            <a:ext cx="2882520" cy="769441"/>
          </a:xfrm>
          <a:prstGeom prst="rect">
            <a:avLst/>
          </a:prstGeom>
        </p:spPr>
        <p:txBody>
          <a:bodyPr wrap="none">
            <a:spAutoFit/>
          </a:bodyPr>
          <a:lstStyle/>
          <a:p>
            <a:r>
              <a:rPr lang="en-US" sz="4400" b="1" u="sng" dirty="0">
                <a:latin typeface="+mj-lt"/>
              </a:rPr>
              <a:t>Conclusions</a:t>
            </a:r>
          </a:p>
        </p:txBody>
      </p:sp>
      <p:sp>
        <p:nvSpPr>
          <p:cNvPr id="3" name="Rectangle 2">
            <a:extLst>
              <a:ext uri="{FF2B5EF4-FFF2-40B4-BE49-F238E27FC236}">
                <a16:creationId xmlns:a16="http://schemas.microsoft.com/office/drawing/2014/main" id="{1E992F5A-6585-4C5E-9CE6-85696A353216}"/>
              </a:ext>
            </a:extLst>
          </p:cNvPr>
          <p:cNvSpPr/>
          <p:nvPr/>
        </p:nvSpPr>
        <p:spPr>
          <a:xfrm>
            <a:off x="1182757" y="2714189"/>
            <a:ext cx="10098156" cy="2352952"/>
          </a:xfrm>
          <a:prstGeom prst="rect">
            <a:avLst/>
          </a:prstGeom>
        </p:spPr>
        <p:txBody>
          <a:bodyPr wrap="square">
            <a:spAutoFit/>
          </a:bodyPr>
          <a:lstStyle/>
          <a:p>
            <a:pPr marL="342900" indent="-342900">
              <a:lnSpc>
                <a:spcPct val="150000"/>
              </a:lnSpc>
              <a:buFont typeface="Wingdings" panose="05000000000000000000" pitchFamily="2" charset="2"/>
              <a:buChar char="§"/>
            </a:pPr>
            <a:r>
              <a:rPr lang="en-US" sz="2000" dirty="0"/>
              <a:t>Customer sentiments and feedback provide valuable insights to improve services, identify challenges, and address customer experience</a:t>
            </a:r>
          </a:p>
          <a:p>
            <a:pPr marL="342900" indent="-342900">
              <a:lnSpc>
                <a:spcPct val="150000"/>
              </a:lnSpc>
              <a:buFont typeface="Wingdings" panose="05000000000000000000" pitchFamily="2" charset="2"/>
              <a:buChar char="§"/>
            </a:pPr>
            <a:r>
              <a:rPr lang="en-US" sz="2000" dirty="0"/>
              <a:t>AI-Driven analysis of pilgrim experiences (using pretrained transformers like BERT or GPT) provide smart data insights that significantly can enhance accurately, effective, and efficient Hajj and Umrah services</a:t>
            </a:r>
          </a:p>
        </p:txBody>
      </p:sp>
    </p:spTree>
    <p:extLst>
      <p:ext uri="{BB962C8B-B14F-4D97-AF65-F5344CB8AC3E}">
        <p14:creationId xmlns:p14="http://schemas.microsoft.com/office/powerpoint/2010/main" val="26087881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B6D8D-E46A-4745-889D-A9A33E30FBBD}"/>
              </a:ext>
            </a:extLst>
          </p:cNvPr>
          <p:cNvSpPr>
            <a:spLocks noGrp="1"/>
          </p:cNvSpPr>
          <p:nvPr>
            <p:ph type="title"/>
          </p:nvPr>
        </p:nvSpPr>
        <p:spPr>
          <a:xfrm>
            <a:off x="838200" y="1567759"/>
            <a:ext cx="10515600" cy="1325563"/>
          </a:xfrm>
        </p:spPr>
        <p:txBody>
          <a:bodyPr/>
          <a:lstStyle/>
          <a:p>
            <a:pPr algn="ctr"/>
            <a:r>
              <a:rPr lang="en-US" b="1" u="sng" dirty="0"/>
              <a:t>References </a:t>
            </a:r>
          </a:p>
        </p:txBody>
      </p:sp>
      <p:sp>
        <p:nvSpPr>
          <p:cNvPr id="3" name="Rectangle 2">
            <a:extLst>
              <a:ext uri="{FF2B5EF4-FFF2-40B4-BE49-F238E27FC236}">
                <a16:creationId xmlns:a16="http://schemas.microsoft.com/office/drawing/2014/main" id="{B88B7514-B0B6-4B36-8F21-B64F4918825F}"/>
              </a:ext>
            </a:extLst>
          </p:cNvPr>
          <p:cNvSpPr/>
          <p:nvPr/>
        </p:nvSpPr>
        <p:spPr>
          <a:xfrm>
            <a:off x="2985708" y="2893322"/>
            <a:ext cx="6760633" cy="1429622"/>
          </a:xfrm>
          <a:prstGeom prst="rect">
            <a:avLst/>
          </a:prstGeom>
        </p:spPr>
        <p:txBody>
          <a:bodyPr wrap="none">
            <a:spAutoFit/>
          </a:bodyPr>
          <a:lstStyle/>
          <a:p>
            <a:pPr marL="285750" indent="-285750">
              <a:lnSpc>
                <a:spcPct val="150000"/>
              </a:lnSpc>
              <a:buFont typeface="Wingdings" panose="05000000000000000000" pitchFamily="2" charset="2"/>
              <a:buChar char="§"/>
            </a:pPr>
            <a:r>
              <a:rPr lang="en-US" sz="2000" dirty="0"/>
              <a:t>Publications on AI, text classification, and sentiment analysis</a:t>
            </a:r>
          </a:p>
          <a:p>
            <a:pPr marL="285750" indent="-285750">
              <a:lnSpc>
                <a:spcPct val="150000"/>
              </a:lnSpc>
              <a:buFont typeface="Wingdings" panose="05000000000000000000" pitchFamily="2" charset="2"/>
              <a:buChar char="§"/>
            </a:pPr>
            <a:r>
              <a:rPr lang="en-US" sz="2000" dirty="0"/>
              <a:t>Previous studies on model accuracy</a:t>
            </a:r>
          </a:p>
          <a:p>
            <a:pPr marL="285750" indent="-285750">
              <a:lnSpc>
                <a:spcPct val="150000"/>
              </a:lnSpc>
              <a:buFont typeface="Wingdings" panose="05000000000000000000" pitchFamily="2" charset="2"/>
              <a:buChar char="§"/>
            </a:pPr>
            <a:r>
              <a:rPr lang="en-US" sz="2000" dirty="0"/>
              <a:t>Resources and dataset utilized in this study  </a:t>
            </a:r>
          </a:p>
        </p:txBody>
      </p:sp>
    </p:spTree>
    <p:extLst>
      <p:ext uri="{BB962C8B-B14F-4D97-AF65-F5344CB8AC3E}">
        <p14:creationId xmlns:p14="http://schemas.microsoft.com/office/powerpoint/2010/main" val="42277100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7A57B-C93A-4C92-9F2B-B4D2148519AE}"/>
              </a:ext>
            </a:extLst>
          </p:cNvPr>
          <p:cNvSpPr>
            <a:spLocks noGrp="1"/>
          </p:cNvSpPr>
          <p:nvPr>
            <p:ph type="title"/>
          </p:nvPr>
        </p:nvSpPr>
        <p:spPr>
          <a:xfrm>
            <a:off x="838200" y="9939"/>
            <a:ext cx="10515600" cy="917022"/>
          </a:xfrm>
        </p:spPr>
        <p:txBody>
          <a:bodyPr/>
          <a:lstStyle/>
          <a:p>
            <a:pPr algn="ctr"/>
            <a:r>
              <a:rPr lang="en-US" b="1" dirty="0"/>
              <a:t>Appendix</a:t>
            </a:r>
          </a:p>
        </p:txBody>
      </p:sp>
      <p:pic>
        <p:nvPicPr>
          <p:cNvPr id="3" name="Picture 2">
            <a:extLst>
              <a:ext uri="{FF2B5EF4-FFF2-40B4-BE49-F238E27FC236}">
                <a16:creationId xmlns:a16="http://schemas.microsoft.com/office/drawing/2014/main" id="{4C469755-3BB2-4512-BF7D-66DCF36687E0}"/>
              </a:ext>
            </a:extLst>
          </p:cNvPr>
          <p:cNvPicPr>
            <a:picLocks noChangeAspect="1"/>
          </p:cNvPicPr>
          <p:nvPr/>
        </p:nvPicPr>
        <p:blipFill>
          <a:blip r:embed="rId2"/>
          <a:stretch>
            <a:fillRect/>
          </a:stretch>
        </p:blipFill>
        <p:spPr>
          <a:xfrm>
            <a:off x="351183" y="926961"/>
            <a:ext cx="11002617" cy="5704207"/>
          </a:xfrm>
          <a:prstGeom prst="rect">
            <a:avLst/>
          </a:prstGeom>
        </p:spPr>
      </p:pic>
    </p:spTree>
    <p:extLst>
      <p:ext uri="{BB962C8B-B14F-4D97-AF65-F5344CB8AC3E}">
        <p14:creationId xmlns:p14="http://schemas.microsoft.com/office/powerpoint/2010/main" val="15924194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F9405B-B309-4218-8B84-F970ECD762FC}"/>
              </a:ext>
            </a:extLst>
          </p:cNvPr>
          <p:cNvPicPr>
            <a:picLocks noChangeAspect="1"/>
          </p:cNvPicPr>
          <p:nvPr/>
        </p:nvPicPr>
        <p:blipFill>
          <a:blip r:embed="rId2"/>
          <a:stretch>
            <a:fillRect/>
          </a:stretch>
        </p:blipFill>
        <p:spPr>
          <a:xfrm>
            <a:off x="1205517" y="2027583"/>
            <a:ext cx="10144556" cy="2693504"/>
          </a:xfrm>
          <a:prstGeom prst="rect">
            <a:avLst/>
          </a:prstGeom>
        </p:spPr>
      </p:pic>
      <p:sp>
        <p:nvSpPr>
          <p:cNvPr id="3" name="Rectangle 2">
            <a:extLst>
              <a:ext uri="{FF2B5EF4-FFF2-40B4-BE49-F238E27FC236}">
                <a16:creationId xmlns:a16="http://schemas.microsoft.com/office/drawing/2014/main" id="{0D5F2655-BD2C-4E6B-B016-345EFCB2011B}"/>
              </a:ext>
            </a:extLst>
          </p:cNvPr>
          <p:cNvSpPr/>
          <p:nvPr/>
        </p:nvSpPr>
        <p:spPr>
          <a:xfrm>
            <a:off x="2986269" y="1326082"/>
            <a:ext cx="5300875" cy="400110"/>
          </a:xfrm>
          <a:prstGeom prst="rect">
            <a:avLst/>
          </a:prstGeom>
        </p:spPr>
        <p:txBody>
          <a:bodyPr wrap="none">
            <a:spAutoFit/>
          </a:bodyPr>
          <a:lstStyle/>
          <a:p>
            <a:r>
              <a:rPr lang="en-US" sz="2000" b="1" dirty="0"/>
              <a:t>Cross-entropy Function For Model Optimization </a:t>
            </a:r>
          </a:p>
        </p:txBody>
      </p:sp>
    </p:spTree>
    <p:extLst>
      <p:ext uri="{BB962C8B-B14F-4D97-AF65-F5344CB8AC3E}">
        <p14:creationId xmlns:p14="http://schemas.microsoft.com/office/powerpoint/2010/main" val="24276807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881cbc62-9c94-4650-91c8-fbcdad032e96">65M42YJNURMD-241562491-15</_dlc_DocId>
    <_dlc_DocIdUrl xmlns="881cbc62-9c94-4650-91c8-fbcdad032e96">
      <Url>https://www.findlay.edu/offices/marketing-communication/_layouts/15/DocIdRedir.aspx?ID=65M42YJNURMD-241562491-15</Url>
      <Description>65M42YJNURMD-241562491-15</Description>
    </_dlc_DocIdUrl>
    <_dlc_DocIdPersistId xmlns="881cbc62-9c94-4650-91c8-fbcdad032e96">false</_dlc_DocIdPersistId>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8F6E503ACCA46442BFF61DFBA1C6F8EC" ma:contentTypeVersion="5" ma:contentTypeDescription="Create a new document." ma:contentTypeScope="" ma:versionID="3166e219251c1128606b532e38cb2061">
  <xsd:schema xmlns:xsd="http://www.w3.org/2001/XMLSchema" xmlns:xs="http://www.w3.org/2001/XMLSchema" xmlns:p="http://schemas.microsoft.com/office/2006/metadata/properties" xmlns:ns1="http://schemas.microsoft.com/sharepoint/v3" xmlns:ns2="881cbc62-9c94-4650-91c8-fbcdad032e96" targetNamespace="http://schemas.microsoft.com/office/2006/metadata/properties" ma:root="true" ma:fieldsID="f114224510ac45b4fd4df78dc3c11c2b" ns1:_="" ns2:_="">
    <xsd:import namespace="http://schemas.microsoft.com/sharepoint/v3"/>
    <xsd:import namespace="881cbc62-9c94-4650-91c8-fbcdad032e96"/>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4" nillable="true" ma:displayName="Scheduling Start Date" ma:description="" ma:internalName="PublishingStartDate">
      <xsd:simpleType>
        <xsd:restriction base="dms:Unknown"/>
      </xsd:simpleType>
    </xsd:element>
    <xsd:element name="PublishingExpirationDate" ma:index="5" nillable="true" ma:displayName="Scheduling End Date" ma:description=""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1cbc62-9c94-4650-91c8-fbcdad032e96" elementFormDefault="qualified">
    <xsd:import namespace="http://schemas.microsoft.com/office/2006/documentManagement/types"/>
    <xsd:import namespace="http://schemas.microsoft.com/office/infopath/2007/PartnerControls"/>
    <xsd:element name="_dlc_DocId" ma:index="10" nillable="true" ma:displayName="Document ID Value" ma:description="The value of the document ID assigned to this item." ma:internalName="_dlc_DocId" ma:readOnly="true">
      <xsd:simpleType>
        <xsd:restriction base="dms:Text"/>
      </xsd:simpleType>
    </xsd:element>
    <xsd:element name="_dlc_DocIdUrl" ma:index="11"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Persist ID" ma:description="Keep ID on add." ma:hidden="true" ma:internalName="_dlc_DocIdPersistId" ma:readOnly="true">
      <xsd:simpleType>
        <xsd:restriction base="dms:Boolean"/>
      </xsd:simpleType>
    </xsd:element>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CEF9D8-DB07-4E69-A7C7-35DC9B4CA80B}">
  <ds:schemaRefs>
    <ds:schemaRef ds:uri="http://schemas.microsoft.com/sharepoint/v3/contenttype/forms"/>
  </ds:schemaRefs>
</ds:datastoreItem>
</file>

<file path=customXml/itemProps2.xml><?xml version="1.0" encoding="utf-8"?>
<ds:datastoreItem xmlns:ds="http://schemas.openxmlformats.org/officeDocument/2006/customXml" ds:itemID="{99DD4746-56AF-4145-9A74-25411276E35C}">
  <ds:schemaRefs>
    <ds:schemaRef ds:uri="http://schemas.microsoft.com/sharepoint/events"/>
  </ds:schemaRefs>
</ds:datastoreItem>
</file>

<file path=customXml/itemProps3.xml><?xml version="1.0" encoding="utf-8"?>
<ds:datastoreItem xmlns:ds="http://schemas.openxmlformats.org/officeDocument/2006/customXml" ds:itemID="{C0EC0F82-6197-43B4-BA0C-7FB8700BD24D}">
  <ds:schemaRefs>
    <ds:schemaRef ds:uri="http://schemas.microsoft.com/office/2006/documentManagement/types"/>
    <ds:schemaRef ds:uri="http://schemas.microsoft.com/sharepoint/v3"/>
    <ds:schemaRef ds:uri="http://www.w3.org/XML/1998/namespace"/>
    <ds:schemaRef ds:uri="http://schemas.microsoft.com/office/infopath/2007/PartnerControls"/>
    <ds:schemaRef ds:uri="881cbc62-9c94-4650-91c8-fbcdad032e96"/>
    <ds:schemaRef ds:uri="http://purl.org/dc/elements/1.1/"/>
    <ds:schemaRef ds:uri="http://schemas.openxmlformats.org/package/2006/metadata/core-properties"/>
    <ds:schemaRef ds:uri="http://purl.org/dc/terms/"/>
    <ds:schemaRef ds:uri="http://purl.org/dc/dcmitype/"/>
    <ds:schemaRef ds:uri="http://schemas.microsoft.com/office/2006/metadata/properties"/>
  </ds:schemaRefs>
</ds:datastoreItem>
</file>

<file path=customXml/itemProps4.xml><?xml version="1.0" encoding="utf-8"?>
<ds:datastoreItem xmlns:ds="http://schemas.openxmlformats.org/officeDocument/2006/customXml" ds:itemID="{B821E71C-6C16-44B9-AA8B-A6381AEACD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81cbc62-9c94-4650-91c8-fbcdad032e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5426</TotalTime>
  <Words>3428</Words>
  <Application>Microsoft Office PowerPoint</Application>
  <PresentationFormat>Widescreen</PresentationFormat>
  <Paragraphs>356</Paragraphs>
  <Slides>57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Calibri</vt:lpstr>
      <vt:lpstr>Calibri Light</vt:lpstr>
      <vt:lpstr>Courier New</vt:lpstr>
      <vt:lpstr>Times New Roman</vt:lpstr>
      <vt:lpstr>Wingdings</vt:lpstr>
      <vt:lpstr>Office Theme</vt:lpstr>
      <vt:lpstr>AI-Driven Analysis of Pilgrim Experiences: Enhancing Hajj and Umrah Services Through Smart Data Insights </vt:lpstr>
      <vt:lpstr>Abstract</vt:lpstr>
      <vt:lpstr>Introduction</vt:lpstr>
      <vt:lpstr>Project objectives</vt:lpstr>
      <vt:lpstr>Beneficiaries</vt:lpstr>
      <vt:lpstr>Research Questions</vt:lpstr>
      <vt:lpstr>Structural Design and Architecture:</vt:lpstr>
      <vt:lpstr>Terminologies </vt:lpstr>
      <vt:lpstr>Trained models in this project </vt:lpstr>
      <vt:lpstr>Literature Review </vt:lpstr>
      <vt:lpstr>Research Gaps </vt:lpstr>
      <vt:lpstr>PowerPoint Presentation</vt:lpstr>
      <vt:lpstr>PowerPoint Presentation</vt:lpstr>
      <vt:lpstr>Data Description </vt:lpstr>
      <vt:lpstr> Data Understanding: Statistical Description Formulas are displayed in the Appendix  </vt:lpstr>
      <vt:lpstr>PowerPoint Presentation</vt:lpstr>
      <vt:lpstr>Interpretations of Data Distribution National and Gender Variables </vt:lpstr>
      <vt:lpstr>Data Description: Age Variable </vt:lpstr>
      <vt:lpstr>Age Data Distribution </vt:lpstr>
      <vt:lpstr>Interpretation of Age Distribution</vt:lpstr>
      <vt:lpstr>PowerPoint Presentation</vt:lpstr>
      <vt:lpstr>Data Mining/Cleaning/Preprocessing</vt:lpstr>
      <vt:lpstr>Themes Extracted from TF-IDF Output Terms</vt:lpstr>
      <vt:lpstr>Feature Engineering and Analysis </vt:lpstr>
      <vt:lpstr>Some of the Visualizations from Feature Engineering </vt:lpstr>
      <vt:lpstr>PowerPoint Presentation</vt:lpstr>
      <vt:lpstr>PowerPoint Presentation</vt:lpstr>
      <vt:lpstr>Features Used for Modelling and Analysis </vt:lpstr>
      <vt:lpstr>PowerPoint Presentation</vt:lpstr>
      <vt:lpstr> Summary: Main Tools Used in the Project  Environment Configuration and Tech Stacks</vt:lpstr>
      <vt:lpstr>PowerPoint Presentation</vt:lpstr>
      <vt:lpstr>Results: Model Performances </vt:lpstr>
      <vt:lpstr>PowerPoint Presentation</vt:lpstr>
      <vt:lpstr>PowerPoint Presentation</vt:lpstr>
      <vt:lpstr>PowerPoint Presentation</vt:lpstr>
      <vt:lpstr>Interpretation of Model Performance </vt:lpstr>
      <vt:lpstr>DistilledBERT versus BERT Models Performance  </vt:lpstr>
      <vt:lpstr>Optimal Performance by Epoch</vt:lpstr>
      <vt:lpstr>Difference between BERT and DistillBERT</vt:lpstr>
      <vt:lpstr>PowerPoint Presentation</vt:lpstr>
      <vt:lpstr>PowerPoint Presentation</vt:lpstr>
      <vt:lpstr>PowerPoint Presentation</vt:lpstr>
      <vt:lpstr>Comparative Analysis of Counts Per Department </vt:lpstr>
      <vt:lpstr>Comparative Analysis of Positive Counts Per Department </vt:lpstr>
      <vt:lpstr>Comparative Analysis of Neutral Counts Per Department </vt:lpstr>
      <vt:lpstr>Comparative Analysis of Negative Counts Per Department </vt:lpstr>
      <vt:lpstr>PowerPoint Presentation</vt:lpstr>
      <vt:lpstr>About the studies </vt:lpstr>
      <vt:lpstr>PowerPoint Presentation</vt:lpstr>
      <vt:lpstr>PowerPoint Presentation</vt:lpstr>
      <vt:lpstr>PowerPoint Presentation</vt:lpstr>
      <vt:lpstr>PowerPoint Presentation</vt:lpstr>
      <vt:lpstr>PowerPoint Presentation</vt:lpstr>
      <vt:lpstr>PowerPoint Presentation</vt:lpstr>
      <vt:lpstr>References </vt:lpstr>
      <vt:lpstr>Appendix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Kevin Collert</dc:creator>
  <cp:lastModifiedBy>hp</cp:lastModifiedBy>
  <cp:revision>139</cp:revision>
  <dcterms:created xsi:type="dcterms:W3CDTF">2016-02-10T20:28:14Z</dcterms:created>
  <dcterms:modified xsi:type="dcterms:W3CDTF">2025-10-26T20:03:30Z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0x0101008F6E503ACCA46442BFF61DFBA1C6F8EC</vt:lpwstr>
  </property>
  <property fmtid="{D5CDD505-2E9C-101B-9397-08002B2CF9AE}" pid="3" name="_dlc_DocIdItemGuid">
    <vt:lpwstr>bf7524d7-e67d-41d3-b11d-2db1d2cfe6b7</vt:lpwstr>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TemplateUrl">
    <vt:lpwstr/>
  </property>
  <property fmtid="{D5CDD505-2E9C-101B-9397-08002B2CF9AE}" pid="9" name="MSIP_Label_d63c5794-6d4d-407c-86a4-17c953004b3a_Enabled">
    <vt:lpwstr>true</vt:lpwstr>
  </property>
  <property fmtid="{D5CDD505-2E9C-101B-9397-08002B2CF9AE}" pid="10" name="MSIP_Label_d63c5794-6d4d-407c-86a4-17c953004b3a_SetDate">
    <vt:lpwstr>2025-03-20T00:45:53Z</vt:lpwstr>
  </property>
  <property fmtid="{D5CDD505-2E9C-101B-9397-08002B2CF9AE}" pid="11" name="MSIP_Label_d63c5794-6d4d-407c-86a4-17c953004b3a_Method">
    <vt:lpwstr>Standard</vt:lpwstr>
  </property>
  <property fmtid="{D5CDD505-2E9C-101B-9397-08002B2CF9AE}" pid="12" name="MSIP_Label_d63c5794-6d4d-407c-86a4-17c953004b3a_Name">
    <vt:lpwstr>General</vt:lpwstr>
  </property>
  <property fmtid="{D5CDD505-2E9C-101B-9397-08002B2CF9AE}" pid="13" name="MSIP_Label_d63c5794-6d4d-407c-86a4-17c953004b3a_SiteId">
    <vt:lpwstr>52fc8687-bfac-4666-bc68-89801a5a3e78</vt:lpwstr>
  </property>
  <property fmtid="{D5CDD505-2E9C-101B-9397-08002B2CF9AE}" pid="14" name="MSIP_Label_d63c5794-6d4d-407c-86a4-17c953004b3a_ActionId">
    <vt:lpwstr>da26d456-0b9c-43e5-96e2-c1c638772162</vt:lpwstr>
  </property>
  <property fmtid="{D5CDD505-2E9C-101B-9397-08002B2CF9AE}" pid="15" name="MSIP_Label_d63c5794-6d4d-407c-86a4-17c953004b3a_ContentBits">
    <vt:lpwstr>0</vt:lpwstr>
  </property>
</Properties>
</file>