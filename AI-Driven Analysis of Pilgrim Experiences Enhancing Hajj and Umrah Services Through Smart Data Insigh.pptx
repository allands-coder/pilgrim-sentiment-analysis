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5"/>
  </p:sldMasterIdLst>
  <p:sldIdLst>
    <p:sldId id="256" r:id="rId6"/>
    <p:sldId id="258" r:id="rId7"/>
    <p:sldId id="259" r:id="rId8"/>
    <p:sldId id="260" r:id="rId9"/>
    <p:sldId id="261" r:id="rId10"/>
    <p:sldId id="271" r:id="rId11"/>
    <p:sldId id="262" r:id="rId12"/>
    <p:sldId id="270" r:id="rId13"/>
    <p:sldId id="263" r:id="rId14"/>
    <p:sldId id="264" r:id="rId15"/>
    <p:sldId id="265" r:id="rId16"/>
    <p:sldId id="272" r:id="rId17"/>
    <p:sldId id="266" r:id="rId18"/>
    <p:sldId id="274" r:id="rId19"/>
    <p:sldId id="275" r:id="rId20"/>
    <p:sldId id="276" r:id="rId21"/>
    <p:sldId id="273" r:id="rId22"/>
    <p:sldId id="267" r:id="rId23"/>
    <p:sldId id="268" r:id="rId24"/>
    <p:sldId id="277" r:id="rId25"/>
    <p:sldId id="269" r:id="rId26"/>
    <p:sldId id="27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D8"/>
    <a:srgbClr val="FF8200"/>
    <a:srgbClr val="FF7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243"/>
    <p:restoredTop sz="94674"/>
  </p:normalViewPr>
  <p:slideViewPr>
    <p:cSldViewPr snapToGrid="0" snapToObjects="1">
      <p:cViewPr varScale="1">
        <p:scale>
          <a:sx n="64" d="100"/>
          <a:sy n="64" d="100"/>
        </p:scale>
        <p:origin x="51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5" Type="http://schemas.openxmlformats.org/officeDocument/2006/relationships/slideMaster" Target="slideMasters/slideMaster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tableStyles" Target="tableStyles.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16399C4-83FD-8846-B8FF-C8A5E1CCA776}" type="datetimeFigureOut">
              <a:rPr lang="en-US" smtClean="0"/>
              <a:t>9/19/2025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D23E2-BA1B-8049-8B7E-58F2712DF32D}" type="slidenum">
              <a:rPr lang="en-US" smtClean="0"/>
              <a:t>‹#›</a:t>
            </a:fld>
            <a:endParaRPr lang="en-US"/>
          </a:p>
        </p:txBody>
      </p:sp>
    </p:spTree>
    <p:extLst>
      <p:ext uri="{BB962C8B-B14F-4D97-AF65-F5344CB8AC3E}">
        <p14:creationId xmlns:p14="http://schemas.microsoft.com/office/powerpoint/2010/main" val="8027875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399C4-83FD-8846-B8FF-C8A5E1CCA776}" type="datetimeFigureOut">
              <a:rPr lang="en-US" smtClean="0"/>
              <a:t>9/19/2025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D23E2-BA1B-8049-8B7E-58F2712DF32D}" type="slidenum">
              <a:rPr lang="en-US" smtClean="0"/>
              <a:t>‹#›</a:t>
            </a:fld>
            <a:endParaRPr lang="en-US"/>
          </a:p>
        </p:txBody>
      </p:sp>
    </p:spTree>
    <p:extLst>
      <p:ext uri="{BB962C8B-B14F-4D97-AF65-F5344CB8AC3E}">
        <p14:creationId xmlns:p14="http://schemas.microsoft.com/office/powerpoint/2010/main" val="19576454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16399C4-83FD-8846-B8FF-C8A5E1CCA776}" type="datetimeFigureOut">
              <a:rPr lang="en-US" smtClean="0"/>
              <a:t>9/19/2025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D23E2-BA1B-8049-8B7E-58F2712DF32D}" type="slidenum">
              <a:rPr lang="en-US" smtClean="0"/>
              <a:t>‹#›</a:t>
            </a:fld>
            <a:endParaRPr lang="en-US"/>
          </a:p>
        </p:txBody>
      </p:sp>
    </p:spTree>
    <p:extLst>
      <p:ext uri="{BB962C8B-B14F-4D97-AF65-F5344CB8AC3E}">
        <p14:creationId xmlns:p14="http://schemas.microsoft.com/office/powerpoint/2010/main" val="5495174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16399C4-83FD-8846-B8FF-C8A5E1CCA776}" type="datetimeFigureOut">
              <a:rPr lang="en-US" smtClean="0"/>
              <a:t>9/19/2025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D23E2-BA1B-8049-8B7E-58F2712DF32D}" type="slidenum">
              <a:rPr lang="en-US" smtClean="0"/>
              <a:t>‹#›</a:t>
            </a:fld>
            <a:endParaRPr lang="en-US"/>
          </a:p>
        </p:txBody>
      </p:sp>
    </p:spTree>
    <p:extLst>
      <p:ext uri="{BB962C8B-B14F-4D97-AF65-F5344CB8AC3E}">
        <p14:creationId xmlns:p14="http://schemas.microsoft.com/office/powerpoint/2010/main" val="155944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16399C4-83FD-8846-B8FF-C8A5E1CCA776}" type="datetimeFigureOut">
              <a:rPr lang="en-US" smtClean="0"/>
              <a:t>9/19/2025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DD23E2-BA1B-8049-8B7E-58F2712DF32D}" type="slidenum">
              <a:rPr lang="en-US" smtClean="0"/>
              <a:t>‹#›</a:t>
            </a:fld>
            <a:endParaRPr lang="en-US"/>
          </a:p>
        </p:txBody>
      </p:sp>
    </p:spTree>
    <p:extLst>
      <p:ext uri="{BB962C8B-B14F-4D97-AF65-F5344CB8AC3E}">
        <p14:creationId xmlns:p14="http://schemas.microsoft.com/office/powerpoint/2010/main" val="16945776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16399C4-83FD-8846-B8FF-C8A5E1CCA776}" type="datetimeFigureOut">
              <a:rPr lang="en-US" smtClean="0"/>
              <a:t>9/19/2025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DD23E2-BA1B-8049-8B7E-58F2712DF32D}" type="slidenum">
              <a:rPr lang="en-US" smtClean="0"/>
              <a:t>‹#›</a:t>
            </a:fld>
            <a:endParaRPr lang="en-US"/>
          </a:p>
        </p:txBody>
      </p:sp>
    </p:spTree>
    <p:extLst>
      <p:ext uri="{BB962C8B-B14F-4D97-AF65-F5344CB8AC3E}">
        <p14:creationId xmlns:p14="http://schemas.microsoft.com/office/powerpoint/2010/main" val="83845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6399C4-83FD-8846-B8FF-C8A5E1CCA776}" type="datetimeFigureOut">
              <a:rPr lang="en-US" smtClean="0"/>
              <a:t>9/19/2025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DD23E2-BA1B-8049-8B7E-58F2712DF32D}" type="slidenum">
              <a:rPr lang="en-US" smtClean="0"/>
              <a:t>‹#›</a:t>
            </a:fld>
            <a:endParaRPr lang="en-US"/>
          </a:p>
        </p:txBody>
      </p:sp>
    </p:spTree>
    <p:extLst>
      <p:ext uri="{BB962C8B-B14F-4D97-AF65-F5344CB8AC3E}">
        <p14:creationId xmlns:p14="http://schemas.microsoft.com/office/powerpoint/2010/main" val="1060476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399C4-83FD-8846-B8FF-C8A5E1CCA776}" type="datetimeFigureOut">
              <a:rPr lang="en-US" smtClean="0"/>
              <a:t>9/19/2025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D23E2-BA1B-8049-8B7E-58F2712DF32D}" type="slidenum">
              <a:rPr lang="en-US" smtClean="0"/>
              <a:t>‹#›</a:t>
            </a:fld>
            <a:endParaRPr lang="en-US"/>
          </a:p>
        </p:txBody>
      </p:sp>
    </p:spTree>
    <p:extLst>
      <p:ext uri="{BB962C8B-B14F-4D97-AF65-F5344CB8AC3E}">
        <p14:creationId xmlns:p14="http://schemas.microsoft.com/office/powerpoint/2010/main" val="20795320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399C4-83FD-8846-B8FF-C8A5E1CCA776}" type="datetimeFigureOut">
              <a:rPr lang="en-US" smtClean="0"/>
              <a:t>9/19/2025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D23E2-BA1B-8049-8B7E-58F2712DF32D}" type="slidenum">
              <a:rPr lang="en-US" smtClean="0"/>
              <a:t>‹#›</a:t>
            </a:fld>
            <a:endParaRPr lang="en-US"/>
          </a:p>
        </p:txBody>
      </p:sp>
    </p:spTree>
    <p:extLst>
      <p:ext uri="{BB962C8B-B14F-4D97-AF65-F5344CB8AC3E}">
        <p14:creationId xmlns:p14="http://schemas.microsoft.com/office/powerpoint/2010/main" val="3987421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399C4-83FD-8846-B8FF-C8A5E1CCA776}" type="datetimeFigureOut">
              <a:rPr lang="en-US" smtClean="0"/>
              <a:t>9/19/2025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D23E2-BA1B-8049-8B7E-58F2712DF32D}" type="slidenum">
              <a:rPr lang="en-US" smtClean="0"/>
              <a:t>‹#›</a:t>
            </a:fld>
            <a:endParaRPr lang="en-US"/>
          </a:p>
        </p:txBody>
      </p:sp>
    </p:spTree>
    <p:extLst>
      <p:ext uri="{BB962C8B-B14F-4D97-AF65-F5344CB8AC3E}">
        <p14:creationId xmlns:p14="http://schemas.microsoft.com/office/powerpoint/2010/main" val="1511126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399C4-83FD-8846-B8FF-C8A5E1CCA776}" type="datetimeFigureOut">
              <a:rPr lang="en-US" smtClean="0"/>
              <a:t>9/19/2025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D23E2-BA1B-8049-8B7E-58F2712DF32D}" type="slidenum">
              <a:rPr lang="en-US" smtClean="0"/>
              <a:t>‹#›</a:t>
            </a:fld>
            <a:endParaRPr lang="en-US"/>
          </a:p>
        </p:txBody>
      </p:sp>
    </p:spTree>
    <p:extLst>
      <p:ext uri="{BB962C8B-B14F-4D97-AF65-F5344CB8AC3E}">
        <p14:creationId xmlns:p14="http://schemas.microsoft.com/office/powerpoint/2010/main" val="1358770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16399C4-83FD-8846-B8FF-C8A5E1CCA776}" type="datetimeFigureOut">
              <a:rPr lang="en-US" smtClean="0"/>
              <a:t>9/19/2025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DD23E2-BA1B-8049-8B7E-58F2712DF32D}" type="slidenum">
              <a:rPr lang="en-US" smtClean="0"/>
              <a:t>‹#›</a:t>
            </a:fld>
            <a:endParaRPr lang="en-US"/>
          </a:p>
        </p:txBody>
      </p:sp>
    </p:spTree>
    <p:extLst>
      <p:ext uri="{BB962C8B-B14F-4D97-AF65-F5344CB8AC3E}">
        <p14:creationId xmlns:p14="http://schemas.microsoft.com/office/powerpoint/2010/main" val="60198716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p:cNvSpPr>
            <a:spLocks noGrp="1"/>
          </p:cNvSpPr>
          <p:nvPr>
            <p:ph type="ctrTitle"/>
          </p:nvPr>
        </p:nvSpPr>
        <p:spPr>
          <a:xfrm>
            <a:off x="1072661" y="0"/>
            <a:ext cx="10322169" cy="5838092"/>
          </a:xfrm>
        </p:spPr>
        <p:txBody>
          <a:bodyPr>
            <a:normAutofit/>
          </a:bodyPr>
          <a:lstStyle/>
          <a:p>
            <a:r>
              <a:rPr lang="en-US" dirty="0"/>
              <a:t>AI-Driven Analysis of Pilgrim Experiences: Enhancing Hajj and Umrah Services Through Smart Data Insights</a:t>
            </a:r>
            <a:br>
              <a:rPr lang="en-US" sz="6000" dirty="0">
                <a:solidFill>
                  <a:srgbClr val="000000"/>
                </a:solidFill>
                <a:effectLst/>
                <a:latin typeface="Calibri Light" panose="020F0302020204030204" pitchFamily="34" charset="0"/>
              </a:rPr>
            </a:br>
            <a:endParaRPr lang="en-US" dirty="0"/>
          </a:p>
        </p:txBody>
      </p:sp>
    </p:spTree>
    <p:extLst>
      <p:ext uri="{BB962C8B-B14F-4D97-AF65-F5344CB8AC3E}">
        <p14:creationId xmlns:p14="http://schemas.microsoft.com/office/powerpoint/2010/main" val="15953366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2505" y="98681"/>
            <a:ext cx="10515600" cy="1150455"/>
          </a:xfrm>
        </p:spPr>
        <p:txBody>
          <a:bodyPr/>
          <a:lstStyle/>
          <a:p>
            <a:r>
              <a:rPr lang="en-US" b="1" dirty="0"/>
              <a:t>Abstract</a:t>
            </a:r>
            <a:endParaRPr lang="en-US" dirty="0"/>
          </a:p>
        </p:txBody>
      </p:sp>
      <p:sp>
        <p:nvSpPr>
          <p:cNvPr id="3" name="Content Placeholder 2"/>
          <p:cNvSpPr>
            <a:spLocks noGrp="1"/>
          </p:cNvSpPr>
          <p:nvPr>
            <p:ph idx="1"/>
          </p:nvPr>
        </p:nvSpPr>
        <p:spPr>
          <a:xfrm>
            <a:off x="838200" y="1453243"/>
            <a:ext cx="10515600" cy="4723720"/>
          </a:xfrm>
        </p:spPr>
        <p:txBody>
          <a:bodyPr>
            <a:normAutofit/>
          </a:bodyPr>
          <a:lstStyle/>
          <a:p>
            <a:r>
              <a:rPr lang="en-US" sz="2000" dirty="0"/>
              <a:t>The Hajj and Umrah pilgrimage sectors struggle to process and extract valuable insights from the vast amount of feedback they receive—around 30 million comments each year in more than 27 languages. The high volume and linguistic diversity of these reviews make it challenging for authorities to sort and address recurring concerns systematically. </a:t>
            </a:r>
          </a:p>
          <a:p>
            <a:r>
              <a:rPr lang="en-US" sz="2000" dirty="0"/>
              <a:t>This project aims to introduce an AI-powered solution using pre-trained transformer models, such as GPT, to analyze pilgrim feedback efficiently. The system will categorize comments into key service areas, including immigration, accommodation, transportation, and public services, while also assessing sentiment to determine overall satisfaction levels. </a:t>
            </a:r>
          </a:p>
          <a:p>
            <a:r>
              <a:rPr lang="en-US" sz="2000" dirty="0"/>
              <a:t>Furthermore, the AI model’s performance will be measured using accuracy, precision, recall, and F1-score metrics to ensure its reliability. By adopting this approach, authorities can obtain data-driven insights to enhance the pilgrimage experience, improve service quality, and make more informed decisions.</a:t>
            </a:r>
            <a:endParaRPr lang="en-US" sz="2000" dirty="0">
              <a:cs typeface="+mj-cs"/>
            </a:endParaRPr>
          </a:p>
          <a:p>
            <a:pPr marL="0" indent="0">
              <a:buNone/>
            </a:pPr>
            <a:endParaRPr lang="en-US" sz="2000" dirty="0">
              <a:cs typeface="+mj-cs"/>
            </a:endParaRPr>
          </a:p>
        </p:txBody>
      </p:sp>
    </p:spTree>
    <p:extLst>
      <p:ext uri="{BB962C8B-B14F-4D97-AF65-F5344CB8AC3E}">
        <p14:creationId xmlns:p14="http://schemas.microsoft.com/office/powerpoint/2010/main" val="376158797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407E0-1C3D-E56F-B1F5-CA7299FE6552}"/>
              </a:ext>
            </a:extLst>
          </p:cNvPr>
          <p:cNvSpPr>
            <a:spLocks noGrp="1"/>
          </p:cNvSpPr>
          <p:nvPr>
            <p:ph type="title"/>
          </p:nvPr>
        </p:nvSpPr>
        <p:spPr/>
        <p:txBody>
          <a:bodyPr/>
          <a:lstStyle/>
          <a:p>
            <a:r>
              <a:rPr lang="en-US" b="1" dirty="0"/>
              <a:t>Project Description</a:t>
            </a:r>
            <a:endParaRPr lang="en-US" dirty="0"/>
          </a:p>
        </p:txBody>
      </p:sp>
      <p:sp>
        <p:nvSpPr>
          <p:cNvPr id="3" name="Content Placeholder 2">
            <a:extLst>
              <a:ext uri="{FF2B5EF4-FFF2-40B4-BE49-F238E27FC236}">
                <a16:creationId xmlns:a16="http://schemas.microsoft.com/office/drawing/2014/main" id="{BDC3CE6D-BEC5-27E9-ECD7-C685204BF24A}"/>
              </a:ext>
            </a:extLst>
          </p:cNvPr>
          <p:cNvSpPr>
            <a:spLocks noGrp="1"/>
          </p:cNvSpPr>
          <p:nvPr>
            <p:ph idx="1"/>
          </p:nvPr>
        </p:nvSpPr>
        <p:spPr>
          <a:xfrm>
            <a:off x="838200" y="2079653"/>
            <a:ext cx="10515600" cy="4097310"/>
          </a:xfrm>
        </p:spPr>
        <p:txBody>
          <a:bodyPr>
            <a:normAutofit/>
          </a:bodyPr>
          <a:lstStyle/>
          <a:p>
            <a:r>
              <a:rPr lang="en-US" sz="2000" dirty="0"/>
              <a:t>The proposed project aims to develop an AI-powered analytics system capable of processing and categorizing large-scale pilgrim feedback data. The primary objective is to leverage Natural Language Processing (NLP) and pre-trained transformer models to analyze text-based reviews and identify key areas that require service enhancements. </a:t>
            </a:r>
          </a:p>
        </p:txBody>
      </p:sp>
    </p:spTree>
    <p:extLst>
      <p:ext uri="{BB962C8B-B14F-4D97-AF65-F5344CB8AC3E}">
        <p14:creationId xmlns:p14="http://schemas.microsoft.com/office/powerpoint/2010/main" val="17997429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E4ACC-9880-74D8-736E-7DC131D01580}"/>
              </a:ext>
            </a:extLst>
          </p:cNvPr>
          <p:cNvSpPr>
            <a:spLocks noGrp="1"/>
          </p:cNvSpPr>
          <p:nvPr>
            <p:ph type="title"/>
          </p:nvPr>
        </p:nvSpPr>
        <p:spPr/>
        <p:txBody>
          <a:bodyPr/>
          <a:lstStyle/>
          <a:p>
            <a:r>
              <a:rPr lang="en-US" b="1" dirty="0"/>
              <a:t>Beneficiaries</a:t>
            </a:r>
            <a:endParaRPr lang="en-US" dirty="0"/>
          </a:p>
        </p:txBody>
      </p:sp>
      <p:sp>
        <p:nvSpPr>
          <p:cNvPr id="3" name="Content Placeholder 2">
            <a:extLst>
              <a:ext uri="{FF2B5EF4-FFF2-40B4-BE49-F238E27FC236}">
                <a16:creationId xmlns:a16="http://schemas.microsoft.com/office/drawing/2014/main" id="{7369039B-C261-BB42-4DB6-9C95B5537DE4}"/>
              </a:ext>
            </a:extLst>
          </p:cNvPr>
          <p:cNvSpPr>
            <a:spLocks noGrp="1"/>
          </p:cNvSpPr>
          <p:nvPr>
            <p:ph idx="1"/>
          </p:nvPr>
        </p:nvSpPr>
        <p:spPr/>
        <p:txBody>
          <a:bodyPr>
            <a:normAutofit/>
          </a:bodyPr>
          <a:lstStyle/>
          <a:p>
            <a:r>
              <a:rPr lang="en-US" sz="2000" b="1" dirty="0"/>
              <a:t>Pilgrims</a:t>
            </a:r>
            <a:r>
              <a:rPr lang="en-US" sz="2000" dirty="0"/>
              <a:t> – Improved services based on data-driven enhancements will lead to a more seamless and satisfactory pilgrimage experience.</a:t>
            </a:r>
          </a:p>
          <a:p>
            <a:r>
              <a:rPr lang="en-US" sz="2000" b="1" dirty="0"/>
              <a:t>Ministry of Hajj and Umrah</a:t>
            </a:r>
            <a:r>
              <a:rPr lang="en-US" sz="2000" dirty="0"/>
              <a:t> – Access to AI-generated insights will allow for informed decision-making and targeted service improvements.</a:t>
            </a:r>
          </a:p>
          <a:p>
            <a:r>
              <a:rPr lang="en-US" sz="2000" b="1" dirty="0"/>
              <a:t>Service Providers</a:t>
            </a:r>
            <a:r>
              <a:rPr lang="en-US" sz="2000" dirty="0"/>
              <a:t> – Hotels, transportation companies, and healthcare services can refine their offerings based on real-time feedback analysis.</a:t>
            </a:r>
          </a:p>
          <a:p>
            <a:r>
              <a:rPr lang="en-US" sz="2000" b="1" dirty="0"/>
              <a:t>AI &amp; Data Science Researchers</a:t>
            </a:r>
            <a:r>
              <a:rPr lang="en-US" sz="2000" dirty="0"/>
              <a:t> – The project will provide a case study on applying AI to large-scale multilingual sentiment and topic classification.</a:t>
            </a:r>
          </a:p>
          <a:p>
            <a:pPr marL="0" indent="0">
              <a:buNone/>
            </a:pPr>
            <a:endParaRPr lang="en-US" dirty="0"/>
          </a:p>
        </p:txBody>
      </p:sp>
    </p:spTree>
    <p:extLst>
      <p:ext uri="{BB962C8B-B14F-4D97-AF65-F5344CB8AC3E}">
        <p14:creationId xmlns:p14="http://schemas.microsoft.com/office/powerpoint/2010/main" val="9260541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E52CB-260C-2C31-8D0F-FABCD9BADDBE}"/>
              </a:ext>
            </a:extLst>
          </p:cNvPr>
          <p:cNvSpPr>
            <a:spLocks noGrp="1"/>
          </p:cNvSpPr>
          <p:nvPr>
            <p:ph type="title"/>
          </p:nvPr>
        </p:nvSpPr>
        <p:spPr/>
        <p:txBody>
          <a:bodyPr/>
          <a:lstStyle/>
          <a:p>
            <a:r>
              <a:rPr lang="en-US" b="1" dirty="0"/>
              <a:t>Research Questions</a:t>
            </a:r>
            <a:endParaRPr lang="en-US" dirty="0"/>
          </a:p>
        </p:txBody>
      </p:sp>
      <p:sp>
        <p:nvSpPr>
          <p:cNvPr id="3" name="Content Placeholder 2">
            <a:extLst>
              <a:ext uri="{FF2B5EF4-FFF2-40B4-BE49-F238E27FC236}">
                <a16:creationId xmlns:a16="http://schemas.microsoft.com/office/drawing/2014/main" id="{783DA518-8327-1854-81B9-07092337AD7E}"/>
              </a:ext>
            </a:extLst>
          </p:cNvPr>
          <p:cNvSpPr>
            <a:spLocks noGrp="1"/>
          </p:cNvSpPr>
          <p:nvPr>
            <p:ph idx="1"/>
          </p:nvPr>
        </p:nvSpPr>
        <p:spPr/>
        <p:txBody>
          <a:bodyPr>
            <a:normAutofit/>
          </a:bodyPr>
          <a:lstStyle/>
          <a:p>
            <a:pPr marL="342900" marR="0" lvl="0" indent="-342900" algn="l" rtl="0">
              <a:lnSpc>
                <a:spcPct val="100000"/>
              </a:lnSpc>
              <a:spcBef>
                <a:spcPts val="0"/>
              </a:spcBef>
              <a:spcAft>
                <a:spcPts val="800"/>
              </a:spcAft>
              <a:buFont typeface="+mj-lt"/>
              <a:buAutoNum type="arabicPeriod"/>
            </a:pPr>
            <a:r>
              <a:rPr lang="en-US" sz="2000" kern="100" dirty="0">
                <a:effectLst/>
                <a:ea typeface="Times New Roman" panose="02020603050405020304" pitchFamily="18" charset="0"/>
                <a:cs typeface="+mj-cs"/>
              </a:rPr>
              <a:t>How can pre-trained transformer models, like GPT, analyze reviews from pilgrims to identify the main challenges they face?</a:t>
            </a:r>
            <a:endParaRPr lang="en-US" sz="2000" kern="100" dirty="0">
              <a:ea typeface="Times New Roman" panose="02020603050405020304" pitchFamily="18" charset="0"/>
              <a:cs typeface="+mj-cs"/>
            </a:endParaRPr>
          </a:p>
          <a:p>
            <a:pPr marL="342900" marR="0" lvl="0" indent="-342900" algn="l" rtl="0">
              <a:lnSpc>
                <a:spcPct val="100000"/>
              </a:lnSpc>
              <a:spcBef>
                <a:spcPts val="0"/>
              </a:spcBef>
              <a:spcAft>
                <a:spcPts val="800"/>
              </a:spcAft>
              <a:buFont typeface="+mj-lt"/>
              <a:buAutoNum type="arabicPeriod"/>
            </a:pPr>
            <a:r>
              <a:rPr lang="en-US" sz="2000" kern="100" dirty="0">
                <a:effectLst/>
                <a:ea typeface="Times New Roman" panose="02020603050405020304" pitchFamily="18" charset="0"/>
                <a:cs typeface="+mj-cs"/>
              </a:rPr>
              <a:t>How accurately can AI models classify pilgrims' comments as positive or negative?</a:t>
            </a:r>
            <a:endParaRPr lang="en-US" sz="2000" kern="100" dirty="0">
              <a:effectLst/>
              <a:ea typeface="Calibri" panose="020F0502020204030204" pitchFamily="34" charset="0"/>
              <a:cs typeface="+mj-cs"/>
            </a:endParaRPr>
          </a:p>
          <a:p>
            <a:pPr marL="342900" marR="0" lvl="0" indent="-342900" algn="l" rtl="0">
              <a:lnSpc>
                <a:spcPct val="100000"/>
              </a:lnSpc>
              <a:spcBef>
                <a:spcPts val="0"/>
              </a:spcBef>
              <a:spcAft>
                <a:spcPts val="0"/>
              </a:spcAft>
              <a:buFont typeface="+mj-lt"/>
              <a:buAutoNum type="arabicPeriod"/>
            </a:pPr>
            <a:r>
              <a:rPr lang="en-US" sz="2000" kern="100" dirty="0">
                <a:effectLst/>
                <a:ea typeface="Times New Roman" panose="02020603050405020304" pitchFamily="18" charset="0"/>
                <a:cs typeface="+mj-cs"/>
              </a:rPr>
              <a:t>What are the most common challenges pilgrims face based on AI-driven sentiment analysis, and which service areas require improvement? </a:t>
            </a:r>
            <a:endParaRPr lang="en-US" sz="2000" kern="100" dirty="0">
              <a:effectLst/>
              <a:ea typeface="Calibri" panose="020F0502020204030204" pitchFamily="34" charset="0"/>
              <a:cs typeface="+mj-cs"/>
            </a:endParaRPr>
          </a:p>
          <a:p>
            <a:pPr marL="342900" marR="0" lvl="0" indent="-342900" algn="l" rtl="0">
              <a:lnSpc>
                <a:spcPct val="107000"/>
              </a:lnSpc>
              <a:spcBef>
                <a:spcPts val="0"/>
              </a:spcBef>
              <a:spcAft>
                <a:spcPts val="0"/>
              </a:spcAft>
              <a:buFont typeface="+mj-lt"/>
              <a:buAutoNum type="arabicPeriod"/>
            </a:pPr>
            <a:r>
              <a:rPr lang="en-US" sz="2000" kern="100" dirty="0">
                <a:effectLst/>
                <a:ea typeface="Times New Roman" panose="02020603050405020304" pitchFamily="18" charset="0"/>
                <a:cs typeface="+mj-cs"/>
              </a:rPr>
              <a:t>How do the findings from AI-based analyses compare with previous studies regarding model accuracy?</a:t>
            </a:r>
            <a:endParaRPr lang="en-US" sz="2000" kern="100" dirty="0">
              <a:effectLst/>
              <a:ea typeface="Calibri" panose="020F0502020204030204" pitchFamily="34" charset="0"/>
              <a:cs typeface="+mj-cs"/>
            </a:endParaRPr>
          </a:p>
        </p:txBody>
      </p:sp>
    </p:spTree>
    <p:extLst>
      <p:ext uri="{BB962C8B-B14F-4D97-AF65-F5344CB8AC3E}">
        <p14:creationId xmlns:p14="http://schemas.microsoft.com/office/powerpoint/2010/main" val="12596554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B63BDE6-5A42-4372-B011-6F9AF4B0F14F}"/>
              </a:ext>
            </a:extLst>
          </p:cNvPr>
          <p:cNvSpPr/>
          <p:nvPr/>
        </p:nvSpPr>
        <p:spPr>
          <a:xfrm>
            <a:off x="2206701" y="0"/>
            <a:ext cx="7236725" cy="1323439"/>
          </a:xfrm>
          <a:prstGeom prst="rect">
            <a:avLst/>
          </a:prstGeom>
        </p:spPr>
        <p:txBody>
          <a:bodyPr wrap="none">
            <a:spAutoFit/>
          </a:bodyPr>
          <a:lstStyle/>
          <a:p>
            <a:pPr algn="ctr"/>
            <a:r>
              <a:rPr lang="en-US" sz="4000" b="1" u="sng" dirty="0">
                <a:latin typeface="+mj-lt"/>
              </a:rPr>
              <a:t>Project Methodology</a:t>
            </a:r>
          </a:p>
          <a:p>
            <a:pPr algn="ctr"/>
            <a:r>
              <a:rPr lang="en-US" sz="4000" b="1" u="sng" dirty="0">
                <a:latin typeface="+mj-lt"/>
              </a:rPr>
              <a:t>Structural Design and Architecture </a:t>
            </a:r>
          </a:p>
        </p:txBody>
      </p:sp>
      <p:pic>
        <p:nvPicPr>
          <p:cNvPr id="3" name="Picture 2">
            <a:extLst>
              <a:ext uri="{FF2B5EF4-FFF2-40B4-BE49-F238E27FC236}">
                <a16:creationId xmlns:a16="http://schemas.microsoft.com/office/drawing/2014/main" id="{FAC86A47-CD78-4EE6-9D44-CA89C11F63E1}"/>
              </a:ext>
            </a:extLst>
          </p:cNvPr>
          <p:cNvPicPr>
            <a:picLocks noChangeAspect="1"/>
          </p:cNvPicPr>
          <p:nvPr/>
        </p:nvPicPr>
        <p:blipFill>
          <a:blip r:embed="rId2"/>
          <a:stretch>
            <a:fillRect/>
          </a:stretch>
        </p:blipFill>
        <p:spPr>
          <a:xfrm>
            <a:off x="2729382" y="1353257"/>
            <a:ext cx="7040783" cy="4626800"/>
          </a:xfrm>
          <a:prstGeom prst="rect">
            <a:avLst/>
          </a:prstGeom>
        </p:spPr>
      </p:pic>
    </p:spTree>
    <p:extLst>
      <p:ext uri="{BB962C8B-B14F-4D97-AF65-F5344CB8AC3E}">
        <p14:creationId xmlns:p14="http://schemas.microsoft.com/office/powerpoint/2010/main" val="28010494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EDE0CD-5636-4372-BE2C-E27AEFEAF5BD}"/>
              </a:ext>
            </a:extLst>
          </p:cNvPr>
          <p:cNvSpPr/>
          <p:nvPr/>
        </p:nvSpPr>
        <p:spPr>
          <a:xfrm>
            <a:off x="3261666" y="1775933"/>
            <a:ext cx="5668668" cy="769441"/>
          </a:xfrm>
          <a:prstGeom prst="rect">
            <a:avLst/>
          </a:prstGeom>
        </p:spPr>
        <p:txBody>
          <a:bodyPr wrap="none">
            <a:spAutoFit/>
          </a:bodyPr>
          <a:lstStyle/>
          <a:p>
            <a:r>
              <a:rPr lang="en-US" sz="4400" b="1" u="sng" dirty="0">
                <a:latin typeface="+mj-lt"/>
              </a:rPr>
              <a:t>Datasets/Data Collection</a:t>
            </a:r>
          </a:p>
        </p:txBody>
      </p:sp>
      <p:sp>
        <p:nvSpPr>
          <p:cNvPr id="6" name="Rectangle 5">
            <a:extLst>
              <a:ext uri="{FF2B5EF4-FFF2-40B4-BE49-F238E27FC236}">
                <a16:creationId xmlns:a16="http://schemas.microsoft.com/office/drawing/2014/main" id="{C27E72B3-436C-4684-B4DB-7191CF5921DD}"/>
              </a:ext>
            </a:extLst>
          </p:cNvPr>
          <p:cNvSpPr/>
          <p:nvPr/>
        </p:nvSpPr>
        <p:spPr>
          <a:xfrm>
            <a:off x="3025464" y="3045552"/>
            <a:ext cx="6515181" cy="967957"/>
          </a:xfrm>
          <a:prstGeom prst="rect">
            <a:avLst/>
          </a:prstGeom>
        </p:spPr>
        <p:txBody>
          <a:bodyPr wrap="none">
            <a:spAutoFit/>
          </a:bodyPr>
          <a:lstStyle/>
          <a:p>
            <a:pPr marL="285750" indent="-285750">
              <a:lnSpc>
                <a:spcPct val="150000"/>
              </a:lnSpc>
              <a:buFont typeface="Wingdings" panose="05000000000000000000" pitchFamily="2" charset="2"/>
              <a:buChar char="§"/>
            </a:pPr>
            <a:r>
              <a:rPr lang="en-US" sz="2000" b="1" dirty="0"/>
              <a:t>Dataset Used: </a:t>
            </a:r>
            <a:r>
              <a:rPr lang="en-US" sz="2000" dirty="0"/>
              <a:t>Comments and Feedback from Pilgrimages </a:t>
            </a:r>
          </a:p>
          <a:p>
            <a:pPr marL="285750" indent="-285750">
              <a:lnSpc>
                <a:spcPct val="150000"/>
              </a:lnSpc>
              <a:buFont typeface="Wingdings" panose="05000000000000000000" pitchFamily="2" charset="2"/>
              <a:buChar char="§"/>
            </a:pPr>
            <a:r>
              <a:rPr lang="en-US" sz="2000" b="1" dirty="0"/>
              <a:t>Data Collection: </a:t>
            </a:r>
            <a:r>
              <a:rPr lang="en-US" sz="2000" dirty="0"/>
              <a:t>from database </a:t>
            </a:r>
          </a:p>
        </p:txBody>
      </p:sp>
    </p:spTree>
    <p:extLst>
      <p:ext uri="{BB962C8B-B14F-4D97-AF65-F5344CB8AC3E}">
        <p14:creationId xmlns:p14="http://schemas.microsoft.com/office/powerpoint/2010/main" val="38502109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68576-D54A-4D5A-9DD7-38ED5818827B}"/>
              </a:ext>
            </a:extLst>
          </p:cNvPr>
          <p:cNvSpPr>
            <a:spLocks noGrp="1"/>
          </p:cNvSpPr>
          <p:nvPr>
            <p:ph type="title"/>
          </p:nvPr>
        </p:nvSpPr>
        <p:spPr>
          <a:xfrm>
            <a:off x="704309" y="438577"/>
            <a:ext cx="10515600" cy="991064"/>
          </a:xfrm>
        </p:spPr>
        <p:txBody>
          <a:bodyPr/>
          <a:lstStyle/>
          <a:p>
            <a:pPr algn="ctr"/>
            <a:r>
              <a:rPr lang="en-US" b="1" u="sng" dirty="0"/>
              <a:t>Data Description </a:t>
            </a:r>
          </a:p>
        </p:txBody>
      </p:sp>
      <p:pic>
        <p:nvPicPr>
          <p:cNvPr id="10" name="Content Placeholder 9">
            <a:extLst>
              <a:ext uri="{FF2B5EF4-FFF2-40B4-BE49-F238E27FC236}">
                <a16:creationId xmlns:a16="http://schemas.microsoft.com/office/drawing/2014/main" id="{B689201B-5863-4643-8CED-2AB9874CD5E4}"/>
              </a:ext>
            </a:extLst>
          </p:cNvPr>
          <p:cNvPicPr>
            <a:picLocks noGrp="1" noChangeAspect="1"/>
          </p:cNvPicPr>
          <p:nvPr>
            <p:ph sz="half" idx="2"/>
          </p:nvPr>
        </p:nvPicPr>
        <p:blipFill>
          <a:blip r:embed="rId2"/>
          <a:stretch>
            <a:fillRect/>
          </a:stretch>
        </p:blipFill>
        <p:spPr>
          <a:xfrm>
            <a:off x="6267236" y="1598925"/>
            <a:ext cx="4952674" cy="3120265"/>
          </a:xfrm>
          <a:prstGeom prst="rect">
            <a:avLst/>
          </a:prstGeom>
        </p:spPr>
      </p:pic>
      <p:pic>
        <p:nvPicPr>
          <p:cNvPr id="11" name="Content Placeholder 10">
            <a:extLst>
              <a:ext uri="{FF2B5EF4-FFF2-40B4-BE49-F238E27FC236}">
                <a16:creationId xmlns:a16="http://schemas.microsoft.com/office/drawing/2014/main" id="{D09AFFFE-8917-48A6-A640-2E95144EC6DB}"/>
              </a:ext>
            </a:extLst>
          </p:cNvPr>
          <p:cNvPicPr>
            <a:picLocks noGrp="1" noChangeAspect="1"/>
          </p:cNvPicPr>
          <p:nvPr>
            <p:ph sz="half" idx="1"/>
          </p:nvPr>
        </p:nvPicPr>
        <p:blipFill>
          <a:blip r:embed="rId3"/>
          <a:stretch>
            <a:fillRect/>
          </a:stretch>
        </p:blipFill>
        <p:spPr>
          <a:xfrm>
            <a:off x="577840" y="1861808"/>
            <a:ext cx="5210658" cy="2857382"/>
          </a:xfrm>
          <a:prstGeom prst="rect">
            <a:avLst/>
          </a:prstGeom>
        </p:spPr>
      </p:pic>
      <p:sp>
        <p:nvSpPr>
          <p:cNvPr id="12" name="Rectangle 11">
            <a:extLst>
              <a:ext uri="{FF2B5EF4-FFF2-40B4-BE49-F238E27FC236}">
                <a16:creationId xmlns:a16="http://schemas.microsoft.com/office/drawing/2014/main" id="{DA4B162B-0CA8-46B1-9B87-F5F1CD50EA79}"/>
              </a:ext>
            </a:extLst>
          </p:cNvPr>
          <p:cNvSpPr/>
          <p:nvPr/>
        </p:nvSpPr>
        <p:spPr>
          <a:xfrm>
            <a:off x="1077898" y="4907093"/>
            <a:ext cx="10275902" cy="707886"/>
          </a:xfrm>
          <a:prstGeom prst="rect">
            <a:avLst/>
          </a:prstGeom>
        </p:spPr>
        <p:txBody>
          <a:bodyPr wrap="square">
            <a:spAutoFit/>
          </a:bodyPr>
          <a:lstStyle/>
          <a:p>
            <a:r>
              <a:rPr lang="en-US" sz="2000" b="1" i="1" dirty="0"/>
              <a:t>The tables shows the basic data description including what each column represents, data type, number of observations, and memory usage</a:t>
            </a:r>
          </a:p>
        </p:txBody>
      </p:sp>
    </p:spTree>
    <p:extLst>
      <p:ext uri="{BB962C8B-B14F-4D97-AF65-F5344CB8AC3E}">
        <p14:creationId xmlns:p14="http://schemas.microsoft.com/office/powerpoint/2010/main" val="35687080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482D415-4BD3-40FE-9758-B98E7C7A2504}"/>
              </a:ext>
            </a:extLst>
          </p:cNvPr>
          <p:cNvSpPr/>
          <p:nvPr/>
        </p:nvSpPr>
        <p:spPr>
          <a:xfrm>
            <a:off x="1930083" y="421621"/>
            <a:ext cx="8331833" cy="769441"/>
          </a:xfrm>
          <a:prstGeom prst="rect">
            <a:avLst/>
          </a:prstGeom>
        </p:spPr>
        <p:txBody>
          <a:bodyPr wrap="none">
            <a:spAutoFit/>
          </a:bodyPr>
          <a:lstStyle/>
          <a:p>
            <a:r>
              <a:rPr lang="en-US" sz="4400" b="1" u="sng" dirty="0">
                <a:latin typeface="+mj-lt"/>
              </a:rPr>
              <a:t>Data Mining/Cleaning/Preprocessing</a:t>
            </a:r>
          </a:p>
        </p:txBody>
      </p:sp>
      <p:sp>
        <p:nvSpPr>
          <p:cNvPr id="3" name="Rectangle 2">
            <a:extLst>
              <a:ext uri="{FF2B5EF4-FFF2-40B4-BE49-F238E27FC236}">
                <a16:creationId xmlns:a16="http://schemas.microsoft.com/office/drawing/2014/main" id="{9BFF5933-264A-4B8B-A696-432480E7E22E}"/>
              </a:ext>
            </a:extLst>
          </p:cNvPr>
          <p:cNvSpPr/>
          <p:nvPr/>
        </p:nvSpPr>
        <p:spPr>
          <a:xfrm>
            <a:off x="680118" y="1286326"/>
            <a:ext cx="10831761" cy="4467057"/>
          </a:xfrm>
          <a:prstGeom prst="rect">
            <a:avLst/>
          </a:prstGeom>
        </p:spPr>
        <p:txBody>
          <a:bodyPr wrap="square">
            <a:spAutoFit/>
          </a:bodyPr>
          <a:lstStyle/>
          <a:p>
            <a:pPr marL="285750" indent="-285750">
              <a:lnSpc>
                <a:spcPct val="150000"/>
              </a:lnSpc>
              <a:buFont typeface="Arial" panose="020B0604020202020204" pitchFamily="34" charset="0"/>
              <a:buChar char="•"/>
            </a:pPr>
            <a:r>
              <a:rPr lang="en-US" sz="2400" b="1" dirty="0"/>
              <a:t>Normalization: </a:t>
            </a:r>
            <a:r>
              <a:rPr lang="en-US" sz="2400" dirty="0"/>
              <a:t>Long sentence comments segmentation to enhance readability, capitalization, and punctuation </a:t>
            </a:r>
          </a:p>
          <a:p>
            <a:pPr marL="285750" indent="-285750">
              <a:lnSpc>
                <a:spcPct val="150000"/>
              </a:lnSpc>
              <a:buFont typeface="Arial" panose="020B0604020202020204" pitchFamily="34" charset="0"/>
              <a:buChar char="•"/>
            </a:pPr>
            <a:r>
              <a:rPr lang="en-US" sz="2400" b="1" dirty="0"/>
              <a:t>Tokenization: </a:t>
            </a:r>
            <a:r>
              <a:rPr lang="en-US" sz="2400" dirty="0"/>
              <a:t>Sentence comments segmentation to fundamental units; words, tokens</a:t>
            </a:r>
          </a:p>
          <a:p>
            <a:pPr marL="285750" indent="-285750">
              <a:lnSpc>
                <a:spcPct val="150000"/>
              </a:lnSpc>
              <a:buFont typeface="Arial" panose="020B0604020202020204" pitchFamily="34" charset="0"/>
              <a:buChar char="•"/>
            </a:pPr>
            <a:r>
              <a:rPr lang="en-US" sz="2400" b="1" dirty="0"/>
              <a:t>Stop word removal: </a:t>
            </a:r>
            <a:r>
              <a:rPr lang="en-US" sz="2400" dirty="0"/>
              <a:t>removing common and useless words </a:t>
            </a:r>
          </a:p>
          <a:p>
            <a:pPr marL="285750" indent="-285750">
              <a:lnSpc>
                <a:spcPct val="150000"/>
              </a:lnSpc>
              <a:buFont typeface="Arial" panose="020B0604020202020204" pitchFamily="34" charset="0"/>
              <a:buChar char="•"/>
            </a:pPr>
            <a:r>
              <a:rPr lang="en-US" sz="2400" b="1" dirty="0"/>
              <a:t>Thematic extraction: </a:t>
            </a:r>
            <a:r>
              <a:rPr lang="en-US" sz="2400" dirty="0"/>
              <a:t>Generating service categories from comments </a:t>
            </a:r>
          </a:p>
          <a:p>
            <a:pPr marL="285750" indent="-285750">
              <a:lnSpc>
                <a:spcPct val="150000"/>
              </a:lnSpc>
              <a:buFont typeface="Arial" panose="020B0604020202020204" pitchFamily="34" charset="0"/>
              <a:buChar char="•"/>
            </a:pPr>
            <a:r>
              <a:rPr lang="en-US" sz="2400" b="1" dirty="0"/>
              <a:t>Feature Engineering and Transformation</a:t>
            </a:r>
            <a:r>
              <a:rPr lang="en-US" sz="2400" dirty="0"/>
              <a:t>: Variables isolation into a new dataset with demographic variables</a:t>
            </a:r>
          </a:p>
        </p:txBody>
      </p:sp>
    </p:spTree>
    <p:extLst>
      <p:ext uri="{BB962C8B-B14F-4D97-AF65-F5344CB8AC3E}">
        <p14:creationId xmlns:p14="http://schemas.microsoft.com/office/powerpoint/2010/main" val="5238611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551D48A-94F5-4557-82D9-1EF1B0F2A5C3}"/>
              </a:ext>
            </a:extLst>
          </p:cNvPr>
          <p:cNvSpPr/>
          <p:nvPr/>
        </p:nvSpPr>
        <p:spPr>
          <a:xfrm>
            <a:off x="3769145" y="312291"/>
            <a:ext cx="4653710" cy="769441"/>
          </a:xfrm>
          <a:prstGeom prst="rect">
            <a:avLst/>
          </a:prstGeom>
        </p:spPr>
        <p:txBody>
          <a:bodyPr wrap="none">
            <a:spAutoFit/>
          </a:bodyPr>
          <a:lstStyle/>
          <a:p>
            <a:r>
              <a:rPr lang="en-US" sz="4400" b="1" u="sng" dirty="0">
                <a:latin typeface="+mj-lt"/>
              </a:rPr>
              <a:t>Analytic Techniques</a:t>
            </a:r>
          </a:p>
        </p:txBody>
      </p:sp>
      <p:sp>
        <p:nvSpPr>
          <p:cNvPr id="3" name="Rectangle 2">
            <a:extLst>
              <a:ext uri="{FF2B5EF4-FFF2-40B4-BE49-F238E27FC236}">
                <a16:creationId xmlns:a16="http://schemas.microsoft.com/office/drawing/2014/main" id="{D9B32AF9-E741-493F-9C1C-9D2B25611560}"/>
              </a:ext>
            </a:extLst>
          </p:cNvPr>
          <p:cNvSpPr/>
          <p:nvPr/>
        </p:nvSpPr>
        <p:spPr>
          <a:xfrm>
            <a:off x="1398933" y="1131427"/>
            <a:ext cx="9394134" cy="4985980"/>
          </a:xfrm>
          <a:prstGeom prst="rect">
            <a:avLst/>
          </a:prstGeom>
        </p:spPr>
        <p:txBody>
          <a:bodyPr wrap="square">
            <a:spAutoFit/>
          </a:bodyPr>
          <a:lstStyle/>
          <a:p>
            <a:pPr marL="285750" indent="-285750">
              <a:lnSpc>
                <a:spcPct val="150000"/>
              </a:lnSpc>
              <a:buFont typeface="Arial" panose="020B0604020202020204" pitchFamily="34" charset="0"/>
              <a:buChar char="•"/>
            </a:pPr>
            <a:r>
              <a:rPr lang="en-US" sz="2000" b="1" dirty="0"/>
              <a:t>Machine Learning Models:</a:t>
            </a:r>
          </a:p>
          <a:p>
            <a:pPr marL="285750" indent="3175">
              <a:lnSpc>
                <a:spcPct val="150000"/>
              </a:lnSpc>
              <a:buFont typeface="Wingdings" panose="05000000000000000000" pitchFamily="2" charset="2"/>
              <a:buChar char="v"/>
            </a:pPr>
            <a:r>
              <a:rPr lang="en-US" sz="2000" dirty="0"/>
              <a:t> </a:t>
            </a:r>
            <a:r>
              <a:rPr lang="en-US" sz="2000" dirty="0" err="1"/>
              <a:t>Gensim</a:t>
            </a:r>
            <a:r>
              <a:rPr lang="en-US" sz="2000" dirty="0"/>
              <a:t> Models </a:t>
            </a:r>
          </a:p>
          <a:p>
            <a:pPr marL="804863" indent="-119063">
              <a:lnSpc>
                <a:spcPct val="150000"/>
              </a:lnSpc>
              <a:buFont typeface="Courier New" panose="02070309020205020404" pitchFamily="49" charset="0"/>
              <a:buChar char="o"/>
            </a:pPr>
            <a:r>
              <a:rPr lang="en-US" sz="2000" dirty="0"/>
              <a:t> LDA, Latent Dirichlet Allocation</a:t>
            </a:r>
          </a:p>
          <a:p>
            <a:pPr marL="804863" indent="-119063">
              <a:lnSpc>
                <a:spcPct val="150000"/>
              </a:lnSpc>
              <a:buFont typeface="Courier New" panose="02070309020205020404" pitchFamily="49" charset="0"/>
              <a:buChar char="o"/>
            </a:pPr>
            <a:r>
              <a:rPr lang="en-US" sz="2000" dirty="0"/>
              <a:t> </a:t>
            </a:r>
            <a:r>
              <a:rPr lang="en-US" sz="2000" dirty="0" err="1"/>
              <a:t>CoherenceModel</a:t>
            </a:r>
            <a:endParaRPr lang="en-US" sz="2000" dirty="0"/>
          </a:p>
          <a:p>
            <a:pPr marL="285750" indent="-285750">
              <a:lnSpc>
                <a:spcPct val="150000"/>
              </a:lnSpc>
              <a:buFont typeface="Arial" panose="020B0604020202020204" pitchFamily="34" charset="0"/>
              <a:buChar char="•"/>
            </a:pPr>
            <a:r>
              <a:rPr lang="en-US" sz="2000" b="1" dirty="0"/>
              <a:t>Deep Learning Models: </a:t>
            </a:r>
            <a:endParaRPr lang="en-US" sz="2000" dirty="0"/>
          </a:p>
          <a:p>
            <a:pPr marL="517525" indent="-228600">
              <a:lnSpc>
                <a:spcPct val="150000"/>
              </a:lnSpc>
              <a:buFont typeface="Wingdings" panose="05000000000000000000" pitchFamily="2" charset="2"/>
              <a:buChar char="v"/>
            </a:pPr>
            <a:r>
              <a:rPr lang="en-US" sz="2000" dirty="0" err="1"/>
              <a:t>AutomodelForSequenceClassifications</a:t>
            </a:r>
            <a:r>
              <a:rPr lang="en-US" sz="2000" dirty="0"/>
              <a:t> </a:t>
            </a:r>
          </a:p>
          <a:p>
            <a:pPr marL="804863" indent="-119063">
              <a:lnSpc>
                <a:spcPct val="150000"/>
              </a:lnSpc>
              <a:buFont typeface="Courier New" panose="02070309020205020404" pitchFamily="49" charset="0"/>
              <a:buChar char="o"/>
            </a:pPr>
            <a:r>
              <a:rPr lang="en-US" sz="2000" dirty="0"/>
              <a:t>Distilbert-base-uncased-finetuned-sst-2-English </a:t>
            </a:r>
          </a:p>
          <a:p>
            <a:pPr marL="804863" indent="-119063">
              <a:lnSpc>
                <a:spcPct val="150000"/>
              </a:lnSpc>
              <a:buFont typeface="Courier New" panose="02070309020205020404" pitchFamily="49" charset="0"/>
              <a:buChar char="o"/>
            </a:pPr>
            <a:r>
              <a:rPr lang="en-US" sz="2000" dirty="0"/>
              <a:t>Bert-base-uncased</a:t>
            </a:r>
          </a:p>
          <a:p>
            <a:pPr marL="285750" indent="-285750">
              <a:lnSpc>
                <a:spcPct val="150000"/>
              </a:lnSpc>
              <a:buFont typeface="Arial" panose="020B0604020202020204" pitchFamily="34" charset="0"/>
              <a:buChar char="•"/>
            </a:pPr>
            <a:r>
              <a:rPr lang="en-US" sz="2000" b="1" dirty="0"/>
              <a:t>Comparison Metrics</a:t>
            </a:r>
            <a:r>
              <a:rPr lang="en-US" sz="2000" dirty="0"/>
              <a:t>: Evaluation of performance using Precision, Recall, F1-score, and Accuracy scores</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4431090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C70AC33-B2FC-4689-8348-5B5C165720A2}"/>
              </a:ext>
            </a:extLst>
          </p:cNvPr>
          <p:cNvSpPr/>
          <p:nvPr/>
        </p:nvSpPr>
        <p:spPr>
          <a:xfrm>
            <a:off x="2877715" y="670098"/>
            <a:ext cx="6210033" cy="769441"/>
          </a:xfrm>
          <a:prstGeom prst="rect">
            <a:avLst/>
          </a:prstGeom>
        </p:spPr>
        <p:txBody>
          <a:bodyPr wrap="none">
            <a:spAutoFit/>
          </a:bodyPr>
          <a:lstStyle/>
          <a:p>
            <a:r>
              <a:rPr lang="en-US" sz="4400" b="1" dirty="0">
                <a:latin typeface="+mj-lt"/>
              </a:rPr>
              <a:t>Statistics and Visualizations</a:t>
            </a:r>
          </a:p>
        </p:txBody>
      </p:sp>
      <p:sp>
        <p:nvSpPr>
          <p:cNvPr id="3" name="Rectangle 2">
            <a:extLst>
              <a:ext uri="{FF2B5EF4-FFF2-40B4-BE49-F238E27FC236}">
                <a16:creationId xmlns:a16="http://schemas.microsoft.com/office/drawing/2014/main" id="{771F2A41-1036-46A3-8C64-6AACF1D90D9D}"/>
              </a:ext>
            </a:extLst>
          </p:cNvPr>
          <p:cNvSpPr/>
          <p:nvPr/>
        </p:nvSpPr>
        <p:spPr>
          <a:xfrm>
            <a:off x="1311967" y="1560027"/>
            <a:ext cx="10525537" cy="3737946"/>
          </a:xfrm>
          <a:prstGeom prst="rect">
            <a:avLst/>
          </a:prstGeom>
        </p:spPr>
        <p:txBody>
          <a:bodyPr wrap="square">
            <a:spAutoFit/>
          </a:bodyPr>
          <a:lstStyle/>
          <a:p>
            <a:pPr marL="285750" indent="-285750">
              <a:lnSpc>
                <a:spcPct val="150000"/>
              </a:lnSpc>
              <a:buFont typeface="Arial" panose="020B0604020202020204" pitchFamily="34" charset="0"/>
              <a:buChar char="•"/>
            </a:pPr>
            <a:r>
              <a:rPr lang="en-US" sz="2000" b="1" dirty="0"/>
              <a:t>Describe method: </a:t>
            </a:r>
            <a:r>
              <a:rPr lang="en-US" sz="2000" dirty="0"/>
              <a:t>statistical summary of the dataset</a:t>
            </a:r>
          </a:p>
          <a:p>
            <a:pPr marL="285750" indent="-285750">
              <a:lnSpc>
                <a:spcPct val="150000"/>
              </a:lnSpc>
              <a:buFont typeface="Arial" panose="020B0604020202020204" pitchFamily="34" charset="0"/>
              <a:buChar char="•"/>
            </a:pPr>
            <a:r>
              <a:rPr lang="en-US" sz="2000" b="1" dirty="0"/>
              <a:t>Line graph </a:t>
            </a:r>
            <a:r>
              <a:rPr lang="en-US" sz="2000" dirty="0"/>
              <a:t>showing Age demographic analysis with statistical markers </a:t>
            </a:r>
          </a:p>
          <a:p>
            <a:pPr marL="285750" indent="-285750">
              <a:lnSpc>
                <a:spcPct val="150000"/>
              </a:lnSpc>
              <a:buFont typeface="Arial" panose="020B0604020202020204" pitchFamily="34" charset="0"/>
              <a:buChar char="•"/>
            </a:pPr>
            <a:r>
              <a:rPr lang="en-US" sz="2000" b="1" dirty="0"/>
              <a:t>Interactive line graph </a:t>
            </a:r>
            <a:r>
              <a:rPr lang="en-US" sz="2000" dirty="0"/>
              <a:t>showing age distribution </a:t>
            </a:r>
          </a:p>
          <a:p>
            <a:pPr marL="285750" indent="-285750">
              <a:lnSpc>
                <a:spcPct val="150000"/>
              </a:lnSpc>
              <a:buFont typeface="Arial" panose="020B0604020202020204" pitchFamily="34" charset="0"/>
              <a:buChar char="•"/>
            </a:pPr>
            <a:r>
              <a:rPr lang="en-US" sz="2000" b="1" dirty="0"/>
              <a:t>Bubble maps </a:t>
            </a:r>
            <a:r>
              <a:rPr lang="en-US" sz="2000" dirty="0"/>
              <a:t>showing nationality and gender by mean age</a:t>
            </a:r>
          </a:p>
          <a:p>
            <a:pPr marL="285750" indent="-285750">
              <a:lnSpc>
                <a:spcPct val="150000"/>
              </a:lnSpc>
              <a:buFont typeface="Arial" panose="020B0604020202020204" pitchFamily="34" charset="0"/>
              <a:buChar char="•"/>
            </a:pPr>
            <a:r>
              <a:rPr lang="en-US" sz="2000" b="1" dirty="0"/>
              <a:t>Histogram </a:t>
            </a:r>
            <a:r>
              <a:rPr lang="en-US" sz="2000" dirty="0"/>
              <a:t>showing demographics of nationality by gender </a:t>
            </a:r>
          </a:p>
          <a:p>
            <a:pPr marL="285750" indent="-285750">
              <a:lnSpc>
                <a:spcPct val="150000"/>
              </a:lnSpc>
              <a:buFont typeface="Arial" panose="020B0604020202020204" pitchFamily="34" charset="0"/>
              <a:buChar char="•"/>
            </a:pPr>
            <a:r>
              <a:rPr lang="en-US" sz="2000" b="1" dirty="0"/>
              <a:t>Interactive histogram </a:t>
            </a:r>
            <a:r>
              <a:rPr lang="en-US" sz="2000" dirty="0"/>
              <a:t>showing demographic characteristics of age, gender, and nationality </a:t>
            </a:r>
          </a:p>
          <a:p>
            <a:pPr marL="285750" indent="-285750">
              <a:lnSpc>
                <a:spcPct val="150000"/>
              </a:lnSpc>
              <a:buFont typeface="Arial" panose="020B0604020202020204" pitchFamily="34" charset="0"/>
              <a:buChar char="•"/>
            </a:pPr>
            <a:r>
              <a:rPr lang="en-US" sz="2000" b="1" dirty="0"/>
              <a:t>Scatter plot </a:t>
            </a:r>
            <a:r>
              <a:rPr lang="en-US" sz="2000" dirty="0"/>
              <a:t>showing distribution of confidence of sentimental analysis </a:t>
            </a:r>
          </a:p>
          <a:p>
            <a:pPr marL="285750" indent="-285750">
              <a:lnSpc>
                <a:spcPct val="150000"/>
              </a:lnSpc>
              <a:buFont typeface="Arial" panose="020B0604020202020204" pitchFamily="34" charset="0"/>
              <a:buChar char="•"/>
            </a:pPr>
            <a:r>
              <a:rPr lang="en-US" sz="2000" b="1" dirty="0"/>
              <a:t>Bar graph </a:t>
            </a:r>
            <a:r>
              <a:rPr lang="en-US" sz="2000" dirty="0"/>
              <a:t>showing negative sentiments per department and service category </a:t>
            </a:r>
          </a:p>
        </p:txBody>
      </p:sp>
    </p:spTree>
    <p:extLst>
      <p:ext uri="{BB962C8B-B14F-4D97-AF65-F5344CB8AC3E}">
        <p14:creationId xmlns:p14="http://schemas.microsoft.com/office/powerpoint/2010/main" val="1285519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0522B-206B-431A-8C29-5C29DCC52EC1}"/>
              </a:ext>
            </a:extLst>
          </p:cNvPr>
          <p:cNvSpPr>
            <a:spLocks noGrp="1"/>
          </p:cNvSpPr>
          <p:nvPr>
            <p:ph type="title"/>
          </p:nvPr>
        </p:nvSpPr>
        <p:spPr>
          <a:xfrm>
            <a:off x="838200" y="394944"/>
            <a:ext cx="10515600" cy="817632"/>
          </a:xfrm>
        </p:spPr>
        <p:txBody>
          <a:bodyPr>
            <a:normAutofit fontScale="90000"/>
          </a:bodyPr>
          <a:lstStyle/>
          <a:p>
            <a:pPr algn="ctr"/>
            <a:br>
              <a:rPr lang="en-US" b="1" dirty="0"/>
            </a:br>
            <a:r>
              <a:rPr lang="en-US" b="1" u="sng" dirty="0"/>
              <a:t>Summary: Main Tools Used in the Project </a:t>
            </a:r>
            <a:br>
              <a:rPr lang="en-US" dirty="0"/>
            </a:br>
            <a:endParaRPr lang="en-US" dirty="0"/>
          </a:p>
        </p:txBody>
      </p:sp>
      <p:sp>
        <p:nvSpPr>
          <p:cNvPr id="3" name="Rectangle 2">
            <a:extLst>
              <a:ext uri="{FF2B5EF4-FFF2-40B4-BE49-F238E27FC236}">
                <a16:creationId xmlns:a16="http://schemas.microsoft.com/office/drawing/2014/main" id="{FB0F26D7-CDF8-4C4E-B07E-484B9EF6C93A}"/>
              </a:ext>
            </a:extLst>
          </p:cNvPr>
          <p:cNvSpPr/>
          <p:nvPr/>
        </p:nvSpPr>
        <p:spPr>
          <a:xfrm>
            <a:off x="1391476" y="1096431"/>
            <a:ext cx="9839739" cy="4678204"/>
          </a:xfrm>
          <a:prstGeom prst="rect">
            <a:avLst/>
          </a:prstGeom>
        </p:spPr>
        <p:txBody>
          <a:bodyPr wrap="square">
            <a:spAutoFit/>
          </a:bodyPr>
          <a:lstStyle/>
          <a:p>
            <a:r>
              <a:rPr lang="en-US" dirty="0"/>
              <a:t>	</a:t>
            </a:r>
            <a:r>
              <a:rPr lang="en-US" sz="2000" dirty="0"/>
              <a:t>________________________________________</a:t>
            </a:r>
          </a:p>
          <a:p>
            <a:r>
              <a:rPr lang="en-US" sz="2000" dirty="0"/>
              <a:t> 	 </a:t>
            </a:r>
            <a:r>
              <a:rPr lang="en-US" sz="2000" b="1" dirty="0"/>
              <a:t>FUNCTIONS                                  MAIN TOOLS</a:t>
            </a:r>
          </a:p>
          <a:p>
            <a:r>
              <a:rPr lang="en-US" sz="2000" dirty="0"/>
              <a:t>	________________________________________</a:t>
            </a:r>
          </a:p>
          <a:p>
            <a:endParaRPr lang="en-US" sz="2000" dirty="0"/>
          </a:p>
          <a:p>
            <a:r>
              <a:rPr lang="en-US" sz="2000" dirty="0"/>
              <a:t>	Programming                                  Python 3.10 </a:t>
            </a:r>
          </a:p>
          <a:p>
            <a:r>
              <a:rPr lang="en-US" sz="2000" dirty="0"/>
              <a:t>	Data Processing	                          </a:t>
            </a:r>
            <a:r>
              <a:rPr lang="en-US" sz="2000" dirty="0" err="1"/>
              <a:t>Scikit</a:t>
            </a:r>
            <a:r>
              <a:rPr lang="en-US" sz="2000" dirty="0"/>
              <a:t>-Learn, Pandas, </a:t>
            </a:r>
            <a:r>
              <a:rPr lang="en-US" sz="2000" dirty="0" err="1"/>
              <a:t>Numpy</a:t>
            </a:r>
            <a:r>
              <a:rPr lang="en-US" sz="2000" dirty="0"/>
              <a:t>, </a:t>
            </a:r>
          </a:p>
          <a:p>
            <a:r>
              <a:rPr lang="en-US" sz="2000" dirty="0"/>
              <a:t>	Visualization	                          Seaborn, Matplotlib, </a:t>
            </a:r>
            <a:r>
              <a:rPr lang="en-US" sz="2000" dirty="0" err="1"/>
              <a:t>Plotly</a:t>
            </a:r>
            <a:r>
              <a:rPr lang="en-US" sz="2000" dirty="0"/>
              <a:t>			                      </a:t>
            </a:r>
          </a:p>
          <a:p>
            <a:r>
              <a:rPr lang="en-US" sz="2000" dirty="0"/>
              <a:t>	Machine Learning                          </a:t>
            </a:r>
            <a:r>
              <a:rPr lang="en-US" sz="2000" dirty="0" err="1"/>
              <a:t>Scikit</a:t>
            </a:r>
            <a:r>
              <a:rPr lang="en-US" sz="2000" dirty="0"/>
              <a:t>-Learn </a:t>
            </a:r>
          </a:p>
          <a:p>
            <a:r>
              <a:rPr lang="en-US" sz="2000" dirty="0"/>
              <a:t>	Deep Learning                                Hugging Face Transformer </a:t>
            </a:r>
          </a:p>
          <a:p>
            <a:r>
              <a:rPr lang="en-US" sz="2000" dirty="0"/>
              <a:t>	Model Evaluation                           </a:t>
            </a:r>
            <a:r>
              <a:rPr lang="en-US" sz="2000" dirty="0" err="1"/>
              <a:t>scikit</a:t>
            </a:r>
            <a:r>
              <a:rPr lang="en-US" sz="2000" dirty="0"/>
              <a:t>-Learn, Torch</a:t>
            </a:r>
          </a:p>
          <a:p>
            <a:r>
              <a:rPr lang="en-US" sz="2000" dirty="0"/>
              <a:t>	Text Analysis and Translation       </a:t>
            </a:r>
            <a:r>
              <a:rPr lang="en-US" sz="2000" dirty="0" err="1"/>
              <a:t>Nltk</a:t>
            </a:r>
            <a:r>
              <a:rPr lang="en-US" sz="2000" dirty="0"/>
              <a:t>, Deep Translator, </a:t>
            </a:r>
            <a:r>
              <a:rPr lang="en-US" sz="2000" dirty="0" err="1"/>
              <a:t>Gensim</a:t>
            </a:r>
            <a:r>
              <a:rPr lang="en-US" sz="2000" dirty="0"/>
              <a:t>, Collections</a:t>
            </a:r>
          </a:p>
          <a:p>
            <a:r>
              <a:rPr lang="en-US" sz="2000" dirty="0"/>
              <a:t>	Deployment 		           </a:t>
            </a:r>
            <a:r>
              <a:rPr lang="en-US" sz="2000" dirty="0" err="1"/>
              <a:t>Streamlit</a:t>
            </a:r>
            <a:r>
              <a:rPr lang="en-US" sz="2000" dirty="0"/>
              <a:t> Cloud Community </a:t>
            </a:r>
          </a:p>
          <a:p>
            <a:r>
              <a:rPr lang="en-US" sz="2000" dirty="0"/>
              <a:t>	Collaboration 		           Git Bash and Git Hub </a:t>
            </a:r>
          </a:p>
          <a:p>
            <a:r>
              <a:rPr lang="en-US" sz="2000" dirty="0"/>
              <a:t>	Further Analysis	                           Pivotal Table in Excel Spreadsheet</a:t>
            </a:r>
          </a:p>
          <a:p>
            <a:r>
              <a:rPr lang="en-US" dirty="0"/>
              <a:t>	________________________________________</a:t>
            </a:r>
          </a:p>
        </p:txBody>
      </p:sp>
    </p:spTree>
    <p:extLst>
      <p:ext uri="{BB962C8B-B14F-4D97-AF65-F5344CB8AC3E}">
        <p14:creationId xmlns:p14="http://schemas.microsoft.com/office/powerpoint/2010/main" val="2049013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917FCC8-E16E-4FF3-A389-F5C324CC6541}"/>
              </a:ext>
            </a:extLst>
          </p:cNvPr>
          <p:cNvSpPr/>
          <p:nvPr/>
        </p:nvSpPr>
        <p:spPr>
          <a:xfrm>
            <a:off x="4817572" y="729734"/>
            <a:ext cx="1819409" cy="769441"/>
          </a:xfrm>
          <a:prstGeom prst="rect">
            <a:avLst/>
          </a:prstGeom>
        </p:spPr>
        <p:txBody>
          <a:bodyPr wrap="none">
            <a:spAutoFit/>
          </a:bodyPr>
          <a:lstStyle/>
          <a:p>
            <a:r>
              <a:rPr lang="en-US" sz="4400" b="1" u="sng" dirty="0">
                <a:latin typeface="+mj-lt"/>
              </a:rPr>
              <a:t>Results</a:t>
            </a:r>
          </a:p>
        </p:txBody>
      </p:sp>
      <p:sp>
        <p:nvSpPr>
          <p:cNvPr id="3" name="Rectangle 2">
            <a:extLst>
              <a:ext uri="{FF2B5EF4-FFF2-40B4-BE49-F238E27FC236}">
                <a16:creationId xmlns:a16="http://schemas.microsoft.com/office/drawing/2014/main" id="{F7C7D942-B0E9-48E4-B59A-F9661B2E5AFF}"/>
              </a:ext>
            </a:extLst>
          </p:cNvPr>
          <p:cNvSpPr/>
          <p:nvPr/>
        </p:nvSpPr>
        <p:spPr>
          <a:xfrm>
            <a:off x="1470398" y="1560027"/>
            <a:ext cx="9251204" cy="3737946"/>
          </a:xfrm>
          <a:prstGeom prst="rect">
            <a:avLst/>
          </a:prstGeom>
        </p:spPr>
        <p:txBody>
          <a:bodyPr wrap="square">
            <a:spAutoFit/>
          </a:bodyPr>
          <a:lstStyle/>
          <a:p>
            <a:pPr marL="285750" indent="-285750">
              <a:lnSpc>
                <a:spcPct val="150000"/>
              </a:lnSpc>
              <a:buFont typeface="Wingdings" panose="05000000000000000000" pitchFamily="2" charset="2"/>
              <a:buChar char="§"/>
            </a:pPr>
            <a:r>
              <a:rPr lang="en-US" sz="2000" dirty="0"/>
              <a:t>Summary Of Model Evaluation Performance Metrics</a:t>
            </a:r>
          </a:p>
          <a:p>
            <a:pPr marL="285750" indent="-285750">
              <a:lnSpc>
                <a:spcPct val="150000"/>
              </a:lnSpc>
              <a:buFont typeface="Wingdings" panose="05000000000000000000" pitchFamily="2" charset="2"/>
              <a:buChar char="§"/>
            </a:pPr>
            <a:r>
              <a:rPr lang="en-US" sz="2000" dirty="0"/>
              <a:t>Text Classification And Sentimental  Analysis Of The Model</a:t>
            </a:r>
          </a:p>
          <a:p>
            <a:pPr marL="285750" indent="-285750">
              <a:lnSpc>
                <a:spcPct val="150000"/>
              </a:lnSpc>
              <a:buFont typeface="Wingdings" panose="05000000000000000000" pitchFamily="2" charset="2"/>
              <a:buChar char="§"/>
            </a:pPr>
            <a:r>
              <a:rPr lang="en-US" sz="2000" dirty="0"/>
              <a:t>Visual Of Confidence Distribution Showing Accuracy Of Model In Classification And Analysis</a:t>
            </a:r>
          </a:p>
          <a:p>
            <a:pPr marL="285750" indent="-285750">
              <a:lnSpc>
                <a:spcPct val="150000"/>
              </a:lnSpc>
              <a:buFont typeface="Wingdings" panose="05000000000000000000" pitchFamily="2" charset="2"/>
              <a:buChar char="§"/>
            </a:pPr>
            <a:r>
              <a:rPr lang="en-US" sz="2000" dirty="0"/>
              <a:t>Bar Graph Of Negative Sentiment Distribution Showing Departments Facing Most Challenges </a:t>
            </a:r>
          </a:p>
          <a:p>
            <a:pPr marL="285750" indent="-285750">
              <a:lnSpc>
                <a:spcPct val="150000"/>
              </a:lnSpc>
              <a:buFont typeface="Wingdings" panose="05000000000000000000" pitchFamily="2" charset="2"/>
              <a:buChar char="§"/>
            </a:pPr>
            <a:r>
              <a:rPr lang="en-US" sz="2000" dirty="0"/>
              <a:t>Theoretical Analysis Of The Correlation Between Previous Studies (Expert Analysis) And Model Accuracy</a:t>
            </a:r>
          </a:p>
        </p:txBody>
      </p:sp>
    </p:spTree>
    <p:extLst>
      <p:ext uri="{BB962C8B-B14F-4D97-AF65-F5344CB8AC3E}">
        <p14:creationId xmlns:p14="http://schemas.microsoft.com/office/powerpoint/2010/main" val="3144211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958809-A22B-4A23-9899-B6E65F406F86}"/>
              </a:ext>
            </a:extLst>
          </p:cNvPr>
          <p:cNvPicPr>
            <a:picLocks noChangeAspect="1"/>
          </p:cNvPicPr>
          <p:nvPr/>
        </p:nvPicPr>
        <p:blipFill>
          <a:blip r:embed="rId2"/>
          <a:stretch>
            <a:fillRect/>
          </a:stretch>
        </p:blipFill>
        <p:spPr>
          <a:xfrm>
            <a:off x="85725" y="900412"/>
            <a:ext cx="12020550" cy="3990975"/>
          </a:xfrm>
          <a:prstGeom prst="rect">
            <a:avLst/>
          </a:prstGeom>
        </p:spPr>
      </p:pic>
      <p:sp>
        <p:nvSpPr>
          <p:cNvPr id="4" name="Rectangle 3">
            <a:extLst>
              <a:ext uri="{FF2B5EF4-FFF2-40B4-BE49-F238E27FC236}">
                <a16:creationId xmlns:a16="http://schemas.microsoft.com/office/drawing/2014/main" id="{430F9B5F-BBE7-459E-AA93-73F2003F0383}"/>
              </a:ext>
            </a:extLst>
          </p:cNvPr>
          <p:cNvSpPr/>
          <p:nvPr/>
        </p:nvSpPr>
        <p:spPr>
          <a:xfrm>
            <a:off x="4283051" y="4967314"/>
            <a:ext cx="8260132" cy="1323439"/>
          </a:xfrm>
          <a:prstGeom prst="rect">
            <a:avLst/>
          </a:prstGeom>
        </p:spPr>
        <p:txBody>
          <a:bodyPr wrap="square">
            <a:spAutoFit/>
          </a:bodyPr>
          <a:lstStyle/>
          <a:p>
            <a:r>
              <a:rPr lang="en-US" sz="2000" b="1" i="1" dirty="0">
                <a:solidFill>
                  <a:schemeClr val="accent2">
                    <a:lumMod val="50000"/>
                  </a:schemeClr>
                </a:solidFill>
              </a:rPr>
              <a:t>The output from the platform demonstrated pre-trained transformer models, like BERT, can analyze reviews from pilgrims, classify comments into service categories, and analyze the comments to identify the main challenges they face</a:t>
            </a:r>
          </a:p>
        </p:txBody>
      </p:sp>
      <p:sp>
        <p:nvSpPr>
          <p:cNvPr id="5" name="Rectangle 4">
            <a:extLst>
              <a:ext uri="{FF2B5EF4-FFF2-40B4-BE49-F238E27FC236}">
                <a16:creationId xmlns:a16="http://schemas.microsoft.com/office/drawing/2014/main" id="{EFAA79A2-5E07-46F1-B182-5644B09C9F8A}"/>
              </a:ext>
            </a:extLst>
          </p:cNvPr>
          <p:cNvSpPr/>
          <p:nvPr/>
        </p:nvSpPr>
        <p:spPr>
          <a:xfrm>
            <a:off x="3871033" y="367192"/>
            <a:ext cx="2880918" cy="400110"/>
          </a:xfrm>
          <a:prstGeom prst="rect">
            <a:avLst/>
          </a:prstGeom>
        </p:spPr>
        <p:txBody>
          <a:bodyPr wrap="none">
            <a:spAutoFit/>
          </a:bodyPr>
          <a:lstStyle/>
          <a:p>
            <a:pPr algn="ctr"/>
            <a:r>
              <a:rPr lang="en-US" sz="2000" b="1" i="1" dirty="0"/>
              <a:t>Output of Model Analysis</a:t>
            </a:r>
          </a:p>
        </p:txBody>
      </p:sp>
    </p:spTree>
    <p:extLst>
      <p:ext uri="{BB962C8B-B14F-4D97-AF65-F5344CB8AC3E}">
        <p14:creationId xmlns:p14="http://schemas.microsoft.com/office/powerpoint/2010/main" val="34371259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9C4A84-9E01-4D40-9A43-DA812EB70955}"/>
              </a:ext>
            </a:extLst>
          </p:cNvPr>
          <p:cNvSpPr/>
          <p:nvPr/>
        </p:nvSpPr>
        <p:spPr>
          <a:xfrm>
            <a:off x="4724399" y="5276561"/>
            <a:ext cx="6993835" cy="830997"/>
          </a:xfrm>
          <a:prstGeom prst="rect">
            <a:avLst/>
          </a:prstGeom>
        </p:spPr>
        <p:txBody>
          <a:bodyPr wrap="square">
            <a:spAutoFit/>
          </a:bodyPr>
          <a:lstStyle/>
          <a:p>
            <a:r>
              <a:rPr lang="en-US" sz="2400" b="1" dirty="0">
                <a:solidFill>
                  <a:schemeClr val="accent2">
                    <a:lumMod val="50000"/>
                  </a:schemeClr>
                </a:solidFill>
              </a:rPr>
              <a:t>The results show AI models can accurately classify pilgrims' comments as positive or negative. </a:t>
            </a:r>
          </a:p>
        </p:txBody>
      </p:sp>
      <p:pic>
        <p:nvPicPr>
          <p:cNvPr id="3" name="Picture 2">
            <a:extLst>
              <a:ext uri="{FF2B5EF4-FFF2-40B4-BE49-F238E27FC236}">
                <a16:creationId xmlns:a16="http://schemas.microsoft.com/office/drawing/2014/main" id="{09C05317-9BDC-4816-A7AA-E209909C9560}"/>
              </a:ext>
            </a:extLst>
          </p:cNvPr>
          <p:cNvPicPr>
            <a:picLocks noChangeAspect="1"/>
          </p:cNvPicPr>
          <p:nvPr/>
        </p:nvPicPr>
        <p:blipFill>
          <a:blip r:embed="rId2"/>
          <a:stretch>
            <a:fillRect/>
          </a:stretch>
        </p:blipFill>
        <p:spPr>
          <a:xfrm>
            <a:off x="235528" y="1738017"/>
            <a:ext cx="4318289" cy="3519203"/>
          </a:xfrm>
          <a:prstGeom prst="rect">
            <a:avLst/>
          </a:prstGeom>
        </p:spPr>
      </p:pic>
      <p:pic>
        <p:nvPicPr>
          <p:cNvPr id="4" name="Picture 3">
            <a:extLst>
              <a:ext uri="{FF2B5EF4-FFF2-40B4-BE49-F238E27FC236}">
                <a16:creationId xmlns:a16="http://schemas.microsoft.com/office/drawing/2014/main" id="{2F20CC79-B42B-4FE6-919D-7BDC6F46C6CD}"/>
              </a:ext>
            </a:extLst>
          </p:cNvPr>
          <p:cNvPicPr>
            <a:picLocks noChangeAspect="1"/>
          </p:cNvPicPr>
          <p:nvPr/>
        </p:nvPicPr>
        <p:blipFill>
          <a:blip r:embed="rId3"/>
          <a:stretch>
            <a:fillRect/>
          </a:stretch>
        </p:blipFill>
        <p:spPr>
          <a:xfrm>
            <a:off x="4553818" y="1857826"/>
            <a:ext cx="6834618" cy="3399394"/>
          </a:xfrm>
          <a:prstGeom prst="rect">
            <a:avLst/>
          </a:prstGeom>
        </p:spPr>
      </p:pic>
      <p:sp>
        <p:nvSpPr>
          <p:cNvPr id="5" name="Rectangle 4">
            <a:extLst>
              <a:ext uri="{FF2B5EF4-FFF2-40B4-BE49-F238E27FC236}">
                <a16:creationId xmlns:a16="http://schemas.microsoft.com/office/drawing/2014/main" id="{8EE23D93-75B3-4A8B-AFF8-65CDCAA87E0F}"/>
              </a:ext>
            </a:extLst>
          </p:cNvPr>
          <p:cNvSpPr/>
          <p:nvPr/>
        </p:nvSpPr>
        <p:spPr>
          <a:xfrm>
            <a:off x="560729" y="569310"/>
            <a:ext cx="11395743" cy="1015663"/>
          </a:xfrm>
          <a:prstGeom prst="rect">
            <a:avLst/>
          </a:prstGeom>
        </p:spPr>
        <p:txBody>
          <a:bodyPr wrap="square">
            <a:spAutoFit/>
          </a:bodyPr>
          <a:lstStyle/>
          <a:p>
            <a:r>
              <a:rPr lang="en-US" sz="2000" b="1" i="1" dirty="0"/>
              <a:t>Left: Counts of Model Confidence in Text Analysis and Classification, confidence is clustered around 90-100 percent. Right:  Summary of Precision, Recall, F1-Score, and Accuracy scores, the model is accurate with macro and average weights of at least 90 percent</a:t>
            </a:r>
          </a:p>
        </p:txBody>
      </p:sp>
    </p:spTree>
    <p:extLst>
      <p:ext uri="{BB962C8B-B14F-4D97-AF65-F5344CB8AC3E}">
        <p14:creationId xmlns:p14="http://schemas.microsoft.com/office/powerpoint/2010/main" val="24880046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15D50CB-D526-436C-AF42-B14D3AFF2882}"/>
              </a:ext>
            </a:extLst>
          </p:cNvPr>
          <p:cNvSpPr/>
          <p:nvPr/>
        </p:nvSpPr>
        <p:spPr>
          <a:xfrm>
            <a:off x="3604592" y="5133056"/>
            <a:ext cx="8587408" cy="1200329"/>
          </a:xfrm>
          <a:prstGeom prst="rect">
            <a:avLst/>
          </a:prstGeom>
        </p:spPr>
        <p:txBody>
          <a:bodyPr wrap="square">
            <a:spAutoFit/>
          </a:bodyPr>
          <a:lstStyle/>
          <a:p>
            <a:r>
              <a:rPr lang="en-US" sz="2400" b="1" dirty="0">
                <a:solidFill>
                  <a:schemeClr val="accent2">
                    <a:lumMod val="50000"/>
                  </a:schemeClr>
                </a:solidFill>
              </a:rPr>
              <a:t>The size of bars shows the most common challenges (order of largest to smallest) pilgrims face based on AI-driven sentiment analysis and Service Areas requiring improvements. </a:t>
            </a:r>
          </a:p>
        </p:txBody>
      </p:sp>
      <p:pic>
        <p:nvPicPr>
          <p:cNvPr id="3" name="Picture 2">
            <a:extLst>
              <a:ext uri="{FF2B5EF4-FFF2-40B4-BE49-F238E27FC236}">
                <a16:creationId xmlns:a16="http://schemas.microsoft.com/office/drawing/2014/main" id="{125F1465-F2AF-4C64-9371-85D82FE4C4DF}"/>
              </a:ext>
            </a:extLst>
          </p:cNvPr>
          <p:cNvPicPr>
            <a:picLocks noChangeAspect="1"/>
          </p:cNvPicPr>
          <p:nvPr/>
        </p:nvPicPr>
        <p:blipFill>
          <a:blip r:embed="rId2"/>
          <a:stretch>
            <a:fillRect/>
          </a:stretch>
        </p:blipFill>
        <p:spPr>
          <a:xfrm>
            <a:off x="4144617" y="1355612"/>
            <a:ext cx="7106479" cy="3673689"/>
          </a:xfrm>
          <a:prstGeom prst="rect">
            <a:avLst/>
          </a:prstGeom>
        </p:spPr>
      </p:pic>
      <p:sp>
        <p:nvSpPr>
          <p:cNvPr id="4" name="Rectangle 3">
            <a:extLst>
              <a:ext uri="{FF2B5EF4-FFF2-40B4-BE49-F238E27FC236}">
                <a16:creationId xmlns:a16="http://schemas.microsoft.com/office/drawing/2014/main" id="{BCB619C2-1CA8-46BA-A707-69FFA6FF6937}"/>
              </a:ext>
            </a:extLst>
          </p:cNvPr>
          <p:cNvSpPr/>
          <p:nvPr/>
        </p:nvSpPr>
        <p:spPr>
          <a:xfrm>
            <a:off x="284921" y="349521"/>
            <a:ext cx="11622158" cy="1015663"/>
          </a:xfrm>
          <a:prstGeom prst="rect">
            <a:avLst/>
          </a:prstGeom>
        </p:spPr>
        <p:txBody>
          <a:bodyPr wrap="square">
            <a:spAutoFit/>
          </a:bodyPr>
          <a:lstStyle/>
          <a:p>
            <a:r>
              <a:rPr lang="en-US" sz="2000" b="1" i="1" dirty="0"/>
              <a:t>Graphs: Counts of Sentiments By Classification Analysis, From Left Pilgrims Experience is Mostly Positive. </a:t>
            </a:r>
          </a:p>
          <a:p>
            <a:r>
              <a:rPr lang="en-US" sz="2000" b="1" i="1" dirty="0"/>
              <a:t>Right: Negative Analysis of Sentiments Shows Transport and Travel Services are the Most Common Challenges Faced by Pilgrims </a:t>
            </a:r>
          </a:p>
        </p:txBody>
      </p:sp>
      <p:pic>
        <p:nvPicPr>
          <p:cNvPr id="5" name="Picture 4">
            <a:extLst>
              <a:ext uri="{FF2B5EF4-FFF2-40B4-BE49-F238E27FC236}">
                <a16:creationId xmlns:a16="http://schemas.microsoft.com/office/drawing/2014/main" id="{87A554E4-1E9F-4EFE-B8FE-2739B058530B}"/>
              </a:ext>
            </a:extLst>
          </p:cNvPr>
          <p:cNvPicPr>
            <a:picLocks noChangeAspect="1"/>
          </p:cNvPicPr>
          <p:nvPr/>
        </p:nvPicPr>
        <p:blipFill>
          <a:blip r:embed="rId3"/>
          <a:stretch>
            <a:fillRect/>
          </a:stretch>
        </p:blipFill>
        <p:spPr>
          <a:xfrm>
            <a:off x="284921" y="1365184"/>
            <a:ext cx="3742275" cy="3670230"/>
          </a:xfrm>
          <a:prstGeom prst="rect">
            <a:avLst/>
          </a:prstGeom>
        </p:spPr>
      </p:pic>
    </p:spTree>
    <p:extLst>
      <p:ext uri="{BB962C8B-B14F-4D97-AF65-F5344CB8AC3E}">
        <p14:creationId xmlns:p14="http://schemas.microsoft.com/office/powerpoint/2010/main" val="15477188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9835965-6AE2-4A8B-AB1C-1313956710A6}"/>
              </a:ext>
            </a:extLst>
          </p:cNvPr>
          <p:cNvSpPr/>
          <p:nvPr/>
        </p:nvSpPr>
        <p:spPr>
          <a:xfrm>
            <a:off x="5059017" y="5354959"/>
            <a:ext cx="7015025" cy="830997"/>
          </a:xfrm>
          <a:prstGeom prst="rect">
            <a:avLst/>
          </a:prstGeom>
        </p:spPr>
        <p:txBody>
          <a:bodyPr wrap="square">
            <a:spAutoFit/>
          </a:bodyPr>
          <a:lstStyle/>
          <a:p>
            <a:r>
              <a:rPr lang="en-US" sz="2400" b="1" dirty="0">
                <a:solidFill>
                  <a:schemeClr val="accent2">
                    <a:lumMod val="50000"/>
                  </a:schemeClr>
                </a:solidFill>
              </a:rPr>
              <a:t>The findings from AI-based analyses compare similar with previous studies regarding model accuracy</a:t>
            </a:r>
          </a:p>
        </p:txBody>
      </p:sp>
      <p:sp>
        <p:nvSpPr>
          <p:cNvPr id="4" name="Rectangle 3">
            <a:extLst>
              <a:ext uri="{FF2B5EF4-FFF2-40B4-BE49-F238E27FC236}">
                <a16:creationId xmlns:a16="http://schemas.microsoft.com/office/drawing/2014/main" id="{64CE4E34-02C1-428F-B9E6-33EFD7ED309E}"/>
              </a:ext>
            </a:extLst>
          </p:cNvPr>
          <p:cNvSpPr/>
          <p:nvPr/>
        </p:nvSpPr>
        <p:spPr>
          <a:xfrm>
            <a:off x="606286" y="405282"/>
            <a:ext cx="11241157" cy="1446550"/>
          </a:xfrm>
          <a:prstGeom prst="rect">
            <a:avLst/>
          </a:prstGeom>
        </p:spPr>
        <p:txBody>
          <a:bodyPr wrap="square">
            <a:spAutoFit/>
          </a:bodyPr>
          <a:lstStyle/>
          <a:p>
            <a:r>
              <a:rPr lang="en-US" sz="4400" b="1" u="sng" dirty="0"/>
              <a:t>Comparison of Model Accuracy with Previous Studies  </a:t>
            </a:r>
          </a:p>
        </p:txBody>
      </p:sp>
      <p:sp>
        <p:nvSpPr>
          <p:cNvPr id="5" name="Rectangle 4">
            <a:extLst>
              <a:ext uri="{FF2B5EF4-FFF2-40B4-BE49-F238E27FC236}">
                <a16:creationId xmlns:a16="http://schemas.microsoft.com/office/drawing/2014/main" id="{8D679F2A-05FF-499F-9365-BE6A85C54819}"/>
              </a:ext>
            </a:extLst>
          </p:cNvPr>
          <p:cNvSpPr/>
          <p:nvPr/>
        </p:nvSpPr>
        <p:spPr>
          <a:xfrm>
            <a:off x="475421" y="1981696"/>
            <a:ext cx="11241157" cy="3276282"/>
          </a:xfrm>
          <a:prstGeom prst="rect">
            <a:avLst/>
          </a:prstGeom>
        </p:spPr>
        <p:txBody>
          <a:bodyPr wrap="square">
            <a:spAutoFit/>
          </a:bodyPr>
          <a:lstStyle/>
          <a:p>
            <a:pPr marL="285750" indent="-285750">
              <a:lnSpc>
                <a:spcPct val="150000"/>
              </a:lnSpc>
              <a:buFont typeface="Arial" panose="020B0604020202020204" pitchFamily="34" charset="0"/>
              <a:buChar char="•"/>
            </a:pPr>
            <a:r>
              <a:rPr lang="en-US" sz="2000" dirty="0"/>
              <a:t>Findings similar to studies by </a:t>
            </a:r>
            <a:r>
              <a:rPr lang="en-US" sz="2000" dirty="0" err="1"/>
              <a:t>Chelloug</a:t>
            </a:r>
            <a:r>
              <a:rPr lang="en-US" sz="2000" dirty="0"/>
              <a:t> et al. (2025), </a:t>
            </a:r>
            <a:r>
              <a:rPr lang="en-US" sz="2000" dirty="0" err="1"/>
              <a:t>Firdos</a:t>
            </a:r>
            <a:r>
              <a:rPr lang="en-US" sz="2000" dirty="0"/>
              <a:t> &amp; </a:t>
            </a:r>
            <a:r>
              <a:rPr lang="en-US" sz="2000" dirty="0" err="1"/>
              <a:t>Dermawan</a:t>
            </a:r>
            <a:r>
              <a:rPr lang="en-US" sz="2000" dirty="0"/>
              <a:t> (2023), Bohn (2018), </a:t>
            </a:r>
            <a:r>
              <a:rPr lang="en-US" sz="2000" dirty="0" err="1"/>
              <a:t>Bala</a:t>
            </a:r>
            <a:r>
              <a:rPr lang="en-US" sz="2000" dirty="0"/>
              <a:t> (2022), Shah (2024), Subhan et al. (2023), and </a:t>
            </a:r>
            <a:r>
              <a:rPr lang="en-US" sz="2000" dirty="0" err="1"/>
              <a:t>Amanah</a:t>
            </a:r>
            <a:r>
              <a:rPr lang="en-US" sz="2000" dirty="0"/>
              <a:t> et al. (2021)</a:t>
            </a:r>
          </a:p>
          <a:p>
            <a:pPr marL="285750" indent="-285750">
              <a:lnSpc>
                <a:spcPct val="150000"/>
              </a:lnSpc>
              <a:buFont typeface="Arial" panose="020B0604020202020204" pitchFamily="34" charset="0"/>
              <a:buChar char="•"/>
            </a:pPr>
            <a:r>
              <a:rPr lang="en-US" sz="2000" dirty="0"/>
              <a:t>GPTs are better at generating content  and transformers like BERT are accurate on sentiment and text analysis</a:t>
            </a:r>
          </a:p>
          <a:p>
            <a:pPr marL="285750" indent="-285750">
              <a:lnSpc>
                <a:spcPct val="150000"/>
              </a:lnSpc>
              <a:buFont typeface="Arial" panose="020B0604020202020204" pitchFamily="34" charset="0"/>
              <a:buChar char="•"/>
            </a:pPr>
            <a:r>
              <a:rPr lang="en-US" sz="2000" dirty="0"/>
              <a:t>modern and robust models are accurate, precise, and efficient in text classification and sentiment tasks</a:t>
            </a:r>
          </a:p>
          <a:p>
            <a:pPr marL="285750" indent="-285750">
              <a:lnSpc>
                <a:spcPct val="150000"/>
              </a:lnSpc>
              <a:buFont typeface="Arial" panose="020B0604020202020204" pitchFamily="34" charset="0"/>
              <a:buChar char="•"/>
            </a:pPr>
            <a:r>
              <a:rPr lang="en-US" sz="2000" dirty="0"/>
              <a:t> the accuracy of the models improves with model complexity. </a:t>
            </a:r>
          </a:p>
          <a:p>
            <a:pPr marL="285750" indent="-285750">
              <a:lnSpc>
                <a:spcPct val="150000"/>
              </a:lnSpc>
              <a:buFont typeface="Arial" panose="020B0604020202020204" pitchFamily="34" charset="0"/>
              <a:buChar char="•"/>
            </a:pPr>
            <a:r>
              <a:rPr lang="en-US" sz="2000" dirty="0"/>
              <a:t>There is a marginal alignment between AI-based analyses and expert analysis.</a:t>
            </a:r>
          </a:p>
        </p:txBody>
      </p:sp>
    </p:spTree>
    <p:extLst>
      <p:ext uri="{BB962C8B-B14F-4D97-AF65-F5344CB8AC3E}">
        <p14:creationId xmlns:p14="http://schemas.microsoft.com/office/powerpoint/2010/main" val="7787425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B4C24B-FBE4-4D8E-933A-A93F4E1CFC74}"/>
              </a:ext>
            </a:extLst>
          </p:cNvPr>
          <p:cNvSpPr/>
          <p:nvPr/>
        </p:nvSpPr>
        <p:spPr>
          <a:xfrm>
            <a:off x="2950523" y="1465230"/>
            <a:ext cx="6290953" cy="769441"/>
          </a:xfrm>
          <a:prstGeom prst="rect">
            <a:avLst/>
          </a:prstGeom>
        </p:spPr>
        <p:txBody>
          <a:bodyPr wrap="none">
            <a:spAutoFit/>
          </a:bodyPr>
          <a:lstStyle/>
          <a:p>
            <a:pPr algn="ctr"/>
            <a:r>
              <a:rPr lang="en-US" sz="4400" b="1" u="sng" dirty="0">
                <a:latin typeface="+mj-lt"/>
              </a:rPr>
              <a:t>Roadblocks and Challenges</a:t>
            </a:r>
          </a:p>
        </p:txBody>
      </p:sp>
      <p:sp>
        <p:nvSpPr>
          <p:cNvPr id="3" name="Rectangle 2">
            <a:extLst>
              <a:ext uri="{FF2B5EF4-FFF2-40B4-BE49-F238E27FC236}">
                <a16:creationId xmlns:a16="http://schemas.microsoft.com/office/drawing/2014/main" id="{F88E1FA1-1DDE-4633-907F-1191F89FBDD3}"/>
              </a:ext>
            </a:extLst>
          </p:cNvPr>
          <p:cNvSpPr/>
          <p:nvPr/>
        </p:nvSpPr>
        <p:spPr>
          <a:xfrm>
            <a:off x="2064026" y="2698330"/>
            <a:ext cx="8282608" cy="1891287"/>
          </a:xfrm>
          <a:prstGeom prst="rect">
            <a:avLst/>
          </a:prstGeom>
        </p:spPr>
        <p:txBody>
          <a:bodyPr wrap="square">
            <a:spAutoFit/>
          </a:bodyPr>
          <a:lstStyle/>
          <a:p>
            <a:pPr marL="285750" indent="-285750">
              <a:lnSpc>
                <a:spcPct val="150000"/>
              </a:lnSpc>
              <a:buFont typeface="Wingdings" panose="05000000000000000000" pitchFamily="2" charset="2"/>
              <a:buChar char="q"/>
            </a:pPr>
            <a:r>
              <a:rPr lang="en-US" sz="2000" b="1" dirty="0"/>
              <a:t>Data quality issues</a:t>
            </a:r>
            <a:r>
              <a:rPr lang="en-US" sz="2000" dirty="0"/>
              <a:t>: Possible biases in translating multilingual comments </a:t>
            </a:r>
          </a:p>
          <a:p>
            <a:pPr marL="285750" indent="-285750">
              <a:lnSpc>
                <a:spcPct val="150000"/>
              </a:lnSpc>
              <a:buFont typeface="Wingdings" panose="05000000000000000000" pitchFamily="2" charset="2"/>
              <a:buChar char="q"/>
            </a:pPr>
            <a:r>
              <a:rPr lang="en-US" sz="2000" b="1" dirty="0"/>
              <a:t>Computational cost</a:t>
            </a:r>
            <a:r>
              <a:rPr lang="en-US" sz="2000" dirty="0"/>
              <a:t>: high-performance hardware is required for big data and real-time analysis</a:t>
            </a:r>
          </a:p>
          <a:p>
            <a:pPr marL="285750" indent="-285750">
              <a:lnSpc>
                <a:spcPct val="150000"/>
              </a:lnSpc>
              <a:buFont typeface="Wingdings" panose="05000000000000000000" pitchFamily="2" charset="2"/>
              <a:buChar char="q"/>
            </a:pPr>
            <a:r>
              <a:rPr lang="en-US" sz="2000" b="1" dirty="0"/>
              <a:t>Ethical concerns: </a:t>
            </a:r>
            <a:r>
              <a:rPr lang="en-US" sz="2000" dirty="0"/>
              <a:t>Model bias in analyzing neutral sentiments</a:t>
            </a:r>
          </a:p>
        </p:txBody>
      </p:sp>
    </p:spTree>
    <p:extLst>
      <p:ext uri="{BB962C8B-B14F-4D97-AF65-F5344CB8AC3E}">
        <p14:creationId xmlns:p14="http://schemas.microsoft.com/office/powerpoint/2010/main" val="2690918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67F869E-7346-4271-A318-1116B337F02D}"/>
              </a:ext>
            </a:extLst>
          </p:cNvPr>
          <p:cNvSpPr/>
          <p:nvPr/>
        </p:nvSpPr>
        <p:spPr>
          <a:xfrm>
            <a:off x="4254672" y="1137239"/>
            <a:ext cx="2714910" cy="769441"/>
          </a:xfrm>
          <a:prstGeom prst="rect">
            <a:avLst/>
          </a:prstGeom>
        </p:spPr>
        <p:txBody>
          <a:bodyPr wrap="none">
            <a:spAutoFit/>
          </a:bodyPr>
          <a:lstStyle/>
          <a:p>
            <a:pPr algn="ctr"/>
            <a:r>
              <a:rPr lang="en-US" sz="4400" b="1" u="sng" dirty="0">
                <a:latin typeface="+mj-lt"/>
              </a:rPr>
              <a:t>Limitations</a:t>
            </a:r>
          </a:p>
        </p:txBody>
      </p:sp>
      <p:sp>
        <p:nvSpPr>
          <p:cNvPr id="3" name="Rectangle 2">
            <a:extLst>
              <a:ext uri="{FF2B5EF4-FFF2-40B4-BE49-F238E27FC236}">
                <a16:creationId xmlns:a16="http://schemas.microsoft.com/office/drawing/2014/main" id="{3C82E527-C298-4512-8296-2A190BC1A14A}"/>
              </a:ext>
            </a:extLst>
          </p:cNvPr>
          <p:cNvSpPr/>
          <p:nvPr/>
        </p:nvSpPr>
        <p:spPr>
          <a:xfrm>
            <a:off x="1033670" y="2166804"/>
            <a:ext cx="10803835" cy="2954655"/>
          </a:xfrm>
          <a:prstGeom prst="rect">
            <a:avLst/>
          </a:prstGeom>
        </p:spPr>
        <p:txBody>
          <a:bodyPr wrap="square">
            <a:spAutoFit/>
          </a:bodyPr>
          <a:lstStyle/>
          <a:p>
            <a:pPr marL="285750" indent="-285750">
              <a:lnSpc>
                <a:spcPct val="150000"/>
              </a:lnSpc>
              <a:buFontTx/>
              <a:buChar char="-"/>
            </a:pPr>
            <a:r>
              <a:rPr lang="en-US" sz="2000" dirty="0"/>
              <a:t>Big data analysis and classification due computational costs. </a:t>
            </a:r>
          </a:p>
          <a:p>
            <a:pPr marL="285750" indent="-285750">
              <a:lnSpc>
                <a:spcPct val="150000"/>
              </a:lnSpc>
              <a:buFontTx/>
              <a:buChar char="-"/>
            </a:pPr>
            <a:r>
              <a:rPr lang="en-US" sz="2000" dirty="0"/>
              <a:t>Platform is limited to diverse validation because it relies on restricted data only applicable to the platform. </a:t>
            </a:r>
          </a:p>
          <a:p>
            <a:pPr marL="285750" indent="-285750">
              <a:lnSpc>
                <a:spcPct val="150000"/>
              </a:lnSpc>
              <a:buFontTx/>
              <a:buChar char="-"/>
            </a:pPr>
            <a:r>
              <a:rPr lang="en-US" sz="2000" dirty="0"/>
              <a:t>Analyzing neutral comments</a:t>
            </a:r>
          </a:p>
          <a:p>
            <a:pPr marL="285750" indent="-285750">
              <a:lnSpc>
                <a:spcPct val="150000"/>
              </a:lnSpc>
              <a:buFontTx/>
              <a:buChar char="-"/>
            </a:pPr>
            <a:r>
              <a:rPr lang="en-US" sz="2000" dirty="0"/>
              <a:t>Real-time analysis and classification </a:t>
            </a:r>
          </a:p>
          <a:p>
            <a:endParaRPr lang="en-US" dirty="0"/>
          </a:p>
          <a:p>
            <a:pPr marL="285750" indent="-285750">
              <a:buFontTx/>
              <a:buChar char="-"/>
            </a:pPr>
            <a:endParaRPr lang="en-US" dirty="0"/>
          </a:p>
        </p:txBody>
      </p:sp>
    </p:spTree>
    <p:extLst>
      <p:ext uri="{BB962C8B-B14F-4D97-AF65-F5344CB8AC3E}">
        <p14:creationId xmlns:p14="http://schemas.microsoft.com/office/powerpoint/2010/main" val="4166339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5EE0190-78FB-4CDD-ADCA-7F1846499BEF}"/>
              </a:ext>
            </a:extLst>
          </p:cNvPr>
          <p:cNvSpPr/>
          <p:nvPr/>
        </p:nvSpPr>
        <p:spPr>
          <a:xfrm>
            <a:off x="2501347" y="1299507"/>
            <a:ext cx="6096000" cy="769441"/>
          </a:xfrm>
          <a:prstGeom prst="rect">
            <a:avLst/>
          </a:prstGeom>
        </p:spPr>
        <p:txBody>
          <a:bodyPr>
            <a:spAutoFit/>
          </a:bodyPr>
          <a:lstStyle/>
          <a:p>
            <a:pPr algn="ctr"/>
            <a:r>
              <a:rPr lang="en-US" sz="4400" b="1" u="sng" dirty="0"/>
              <a:t>Recommendations</a:t>
            </a:r>
            <a:r>
              <a:rPr lang="en-US" sz="4400" b="1" dirty="0"/>
              <a:t> </a:t>
            </a:r>
          </a:p>
        </p:txBody>
      </p:sp>
      <p:sp>
        <p:nvSpPr>
          <p:cNvPr id="3" name="Rectangle 2">
            <a:extLst>
              <a:ext uri="{FF2B5EF4-FFF2-40B4-BE49-F238E27FC236}">
                <a16:creationId xmlns:a16="http://schemas.microsoft.com/office/drawing/2014/main" id="{5DD61AB9-5408-443E-8F92-4850B7F4F1FD}"/>
              </a:ext>
            </a:extLst>
          </p:cNvPr>
          <p:cNvSpPr/>
          <p:nvPr/>
        </p:nvSpPr>
        <p:spPr>
          <a:xfrm>
            <a:off x="1726096" y="2483356"/>
            <a:ext cx="8362122" cy="1891287"/>
          </a:xfrm>
          <a:prstGeom prst="rect">
            <a:avLst/>
          </a:prstGeom>
        </p:spPr>
        <p:txBody>
          <a:bodyPr wrap="square">
            <a:spAutoFit/>
          </a:bodyPr>
          <a:lstStyle/>
          <a:p>
            <a:pPr marL="285750" indent="-285750">
              <a:lnSpc>
                <a:spcPct val="150000"/>
              </a:lnSpc>
              <a:buFont typeface="Wingdings" panose="05000000000000000000" pitchFamily="2" charset="2"/>
              <a:buChar char="q"/>
            </a:pPr>
            <a:r>
              <a:rPr lang="en-US" sz="2000" dirty="0"/>
              <a:t>Future projects to consider addressing issues of scalability by utilizing more advanced mechanisms and domain-specific embeddings </a:t>
            </a:r>
          </a:p>
          <a:p>
            <a:pPr marL="285750" indent="-285750">
              <a:lnSpc>
                <a:spcPct val="150000"/>
              </a:lnSpc>
              <a:buFont typeface="Wingdings" panose="05000000000000000000" pitchFamily="2" charset="2"/>
              <a:buChar char="q"/>
            </a:pPr>
            <a:r>
              <a:rPr lang="en-US" sz="2000" dirty="0"/>
              <a:t>Future projects integrate real-time analysis and use pretrained models like GPT</a:t>
            </a:r>
          </a:p>
        </p:txBody>
      </p:sp>
    </p:spTree>
    <p:extLst>
      <p:ext uri="{BB962C8B-B14F-4D97-AF65-F5344CB8AC3E}">
        <p14:creationId xmlns:p14="http://schemas.microsoft.com/office/powerpoint/2010/main" val="18305168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8403D54-E5F0-4C52-A323-ABBCA705276B}"/>
              </a:ext>
            </a:extLst>
          </p:cNvPr>
          <p:cNvSpPr/>
          <p:nvPr/>
        </p:nvSpPr>
        <p:spPr>
          <a:xfrm>
            <a:off x="4257175" y="1529041"/>
            <a:ext cx="2882520" cy="769441"/>
          </a:xfrm>
          <a:prstGeom prst="rect">
            <a:avLst/>
          </a:prstGeom>
        </p:spPr>
        <p:txBody>
          <a:bodyPr wrap="none">
            <a:spAutoFit/>
          </a:bodyPr>
          <a:lstStyle/>
          <a:p>
            <a:r>
              <a:rPr lang="en-US" sz="4400" b="1" u="sng" dirty="0">
                <a:latin typeface="+mj-lt"/>
              </a:rPr>
              <a:t>Conclusions</a:t>
            </a:r>
          </a:p>
        </p:txBody>
      </p:sp>
      <p:sp>
        <p:nvSpPr>
          <p:cNvPr id="3" name="Rectangle 2">
            <a:extLst>
              <a:ext uri="{FF2B5EF4-FFF2-40B4-BE49-F238E27FC236}">
                <a16:creationId xmlns:a16="http://schemas.microsoft.com/office/drawing/2014/main" id="{1E992F5A-6585-4C5E-9CE6-85696A353216}"/>
              </a:ext>
            </a:extLst>
          </p:cNvPr>
          <p:cNvSpPr/>
          <p:nvPr/>
        </p:nvSpPr>
        <p:spPr>
          <a:xfrm>
            <a:off x="1182757" y="2714189"/>
            <a:ext cx="10098156" cy="2352952"/>
          </a:xfrm>
          <a:prstGeom prst="rect">
            <a:avLst/>
          </a:prstGeom>
        </p:spPr>
        <p:txBody>
          <a:bodyPr wrap="square">
            <a:spAutoFit/>
          </a:bodyPr>
          <a:lstStyle/>
          <a:p>
            <a:pPr marL="342900" indent="-342900">
              <a:lnSpc>
                <a:spcPct val="150000"/>
              </a:lnSpc>
              <a:buFont typeface="Wingdings" panose="05000000000000000000" pitchFamily="2" charset="2"/>
              <a:buChar char="§"/>
            </a:pPr>
            <a:r>
              <a:rPr lang="en-US" sz="2000" dirty="0"/>
              <a:t>Customer sentiments and feedback provide valuable insights to improve services, identify challenges, and address customer experience</a:t>
            </a:r>
          </a:p>
          <a:p>
            <a:pPr marL="342900" indent="-342900">
              <a:lnSpc>
                <a:spcPct val="150000"/>
              </a:lnSpc>
              <a:buFont typeface="Wingdings" panose="05000000000000000000" pitchFamily="2" charset="2"/>
              <a:buChar char="§"/>
            </a:pPr>
            <a:r>
              <a:rPr lang="en-US" sz="2000" dirty="0"/>
              <a:t>AI-Driven analysis of pilgrim experiences (using pretrained transformers like BERT or GPT) provide smart data insights that significantly can enhance accurately, effective, and efficient Hajj and Umrah services</a:t>
            </a:r>
          </a:p>
        </p:txBody>
      </p:sp>
    </p:spTree>
    <p:extLst>
      <p:ext uri="{BB962C8B-B14F-4D97-AF65-F5344CB8AC3E}">
        <p14:creationId xmlns:p14="http://schemas.microsoft.com/office/powerpoint/2010/main" val="26087881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B6D8D-E46A-4745-889D-A9A33E30FBBD}"/>
              </a:ext>
            </a:extLst>
          </p:cNvPr>
          <p:cNvSpPr>
            <a:spLocks noGrp="1"/>
          </p:cNvSpPr>
          <p:nvPr>
            <p:ph type="title"/>
          </p:nvPr>
        </p:nvSpPr>
        <p:spPr>
          <a:xfrm>
            <a:off x="838200" y="1567759"/>
            <a:ext cx="10515600" cy="1325563"/>
          </a:xfrm>
        </p:spPr>
        <p:txBody>
          <a:bodyPr/>
          <a:lstStyle/>
          <a:p>
            <a:pPr algn="ctr"/>
            <a:r>
              <a:rPr lang="en-US" b="1" u="sng" dirty="0"/>
              <a:t>References </a:t>
            </a:r>
          </a:p>
        </p:txBody>
      </p:sp>
      <p:sp>
        <p:nvSpPr>
          <p:cNvPr id="3" name="Rectangle 2">
            <a:extLst>
              <a:ext uri="{FF2B5EF4-FFF2-40B4-BE49-F238E27FC236}">
                <a16:creationId xmlns:a16="http://schemas.microsoft.com/office/drawing/2014/main" id="{B88B7514-B0B6-4B36-8F21-B64F4918825F}"/>
              </a:ext>
            </a:extLst>
          </p:cNvPr>
          <p:cNvSpPr/>
          <p:nvPr/>
        </p:nvSpPr>
        <p:spPr>
          <a:xfrm>
            <a:off x="2985708" y="2893322"/>
            <a:ext cx="6760633" cy="1429622"/>
          </a:xfrm>
          <a:prstGeom prst="rect">
            <a:avLst/>
          </a:prstGeom>
        </p:spPr>
        <p:txBody>
          <a:bodyPr wrap="none">
            <a:spAutoFit/>
          </a:bodyPr>
          <a:lstStyle/>
          <a:p>
            <a:pPr marL="285750" indent="-285750">
              <a:lnSpc>
                <a:spcPct val="150000"/>
              </a:lnSpc>
              <a:buFont typeface="Wingdings" panose="05000000000000000000" pitchFamily="2" charset="2"/>
              <a:buChar char="§"/>
            </a:pPr>
            <a:r>
              <a:rPr lang="en-US" sz="2000" dirty="0"/>
              <a:t>Publications on AI, text classification, and sentiment analysis</a:t>
            </a:r>
          </a:p>
          <a:p>
            <a:pPr marL="285750" indent="-285750">
              <a:lnSpc>
                <a:spcPct val="150000"/>
              </a:lnSpc>
              <a:buFont typeface="Wingdings" panose="05000000000000000000" pitchFamily="2" charset="2"/>
              <a:buChar char="§"/>
            </a:pPr>
            <a:r>
              <a:rPr lang="en-US" sz="2000" dirty="0"/>
              <a:t>Previous studies on model accuracy</a:t>
            </a:r>
          </a:p>
          <a:p>
            <a:pPr marL="285750" indent="-285750">
              <a:lnSpc>
                <a:spcPct val="150000"/>
              </a:lnSpc>
              <a:buFont typeface="Wingdings" panose="05000000000000000000" pitchFamily="2" charset="2"/>
              <a:buChar char="§"/>
            </a:pPr>
            <a:r>
              <a:rPr lang="en-US" sz="2000" dirty="0"/>
              <a:t>Resources and dataset utilized in this study  </a:t>
            </a:r>
          </a:p>
        </p:txBody>
      </p:sp>
    </p:spTree>
    <p:extLst>
      <p:ext uri="{BB962C8B-B14F-4D97-AF65-F5344CB8AC3E}">
        <p14:creationId xmlns:p14="http://schemas.microsoft.com/office/powerpoint/2010/main" val="422771008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F6E503ACCA46442BFF61DFBA1C6F8EC" ma:contentTypeVersion="5" ma:contentTypeDescription="Create a new document." ma:contentTypeScope="" ma:versionID="3166e219251c1128606b532e38cb2061">
  <xsd:schema xmlns:xsd="http://www.w3.org/2001/XMLSchema" xmlns:xs="http://www.w3.org/2001/XMLSchema" xmlns:p="http://schemas.microsoft.com/office/2006/metadata/properties" xmlns:ns1="http://schemas.microsoft.com/sharepoint/v3" xmlns:ns2="881cbc62-9c94-4650-91c8-fbcdad032e96" targetNamespace="http://schemas.microsoft.com/office/2006/metadata/properties" ma:root="true" ma:fieldsID="f114224510ac45b4fd4df78dc3c11c2b" ns1:_="" ns2:_="">
    <xsd:import namespace="http://schemas.microsoft.com/sharepoint/v3"/>
    <xsd:import namespace="881cbc62-9c94-4650-91c8-fbcdad032e96"/>
    <xsd:element name="properties">
      <xsd:complexType>
        <xsd:sequence>
          <xsd:element name="documentManagement">
            <xsd:complexType>
              <xsd:all>
                <xsd:element ref="ns1:PublishingStartDate" minOccurs="0"/>
                <xsd:element ref="ns1:PublishingExpirationDate" minOccurs="0"/>
                <xsd:element ref="ns2:_dlc_DocId" minOccurs="0"/>
                <xsd:element ref="ns2:_dlc_DocIdUrl" minOccurs="0"/>
                <xsd:element ref="ns2:_dlc_DocIdPersistId" minOccurs="0"/>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4" nillable="true" ma:displayName="Scheduling Start Date" ma:description="" ma:internalName="PublishingStartDate">
      <xsd:simpleType>
        <xsd:restriction base="dms:Unknown"/>
      </xsd:simpleType>
    </xsd:element>
    <xsd:element name="PublishingExpirationDate" ma:index="5" nillable="true" ma:displayName="Scheduling End Date" ma:description=""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881cbc62-9c94-4650-91c8-fbcdad032e96" elementFormDefault="qualified">
    <xsd:import namespace="http://schemas.microsoft.com/office/2006/documentManagement/types"/>
    <xsd:import namespace="http://schemas.microsoft.com/office/infopath/2007/PartnerControls"/>
    <xsd:element name="_dlc_DocId" ma:index="10" nillable="true" ma:displayName="Document ID Value" ma:description="The value of the document ID assigned to this item." ma:internalName="_dlc_DocId" ma:readOnly="true">
      <xsd:simpleType>
        <xsd:restriction base="dms:Text"/>
      </xsd:simpleType>
    </xsd:element>
    <xsd:element name="_dlc_DocIdUrl" ma:index="11"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2" nillable="true" ma:displayName="Persist ID" ma:description="Keep ID on add." ma:hidden="true" ma:internalName="_dlc_DocIdPersistId" ma:readOnly="true">
      <xsd:simpleType>
        <xsd:restriction base="dms:Boolean"/>
      </xsd:simpleType>
    </xsd:element>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6"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_dlc_DocId xmlns="881cbc62-9c94-4650-91c8-fbcdad032e96">65M42YJNURMD-241562491-15</_dlc_DocId>
    <_dlc_DocIdUrl xmlns="881cbc62-9c94-4650-91c8-fbcdad032e96">
      <Url>https://www.findlay.edu/offices/marketing-communication/_layouts/15/DocIdRedir.aspx?ID=65M42YJNURMD-241562491-15</Url>
      <Description>65M42YJNURMD-241562491-15</Description>
    </_dlc_DocIdUrl>
    <_dlc_DocIdPersistId xmlns="881cbc62-9c94-4650-91c8-fbcdad032e96">false</_dlc_DocIdPersistId>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Props1.xml><?xml version="1.0" encoding="utf-8"?>
<ds:datastoreItem xmlns:ds="http://schemas.openxmlformats.org/officeDocument/2006/customXml" ds:itemID="{B821E71C-6C16-44B9-AA8B-A6381AEACDE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881cbc62-9c94-4650-91c8-fbcdad032e9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0EC0F82-6197-43B4-BA0C-7FB8700BD24D}">
  <ds:schemaRefs>
    <ds:schemaRef ds:uri="http://purl.org/dc/dcmitype/"/>
    <ds:schemaRef ds:uri="http://schemas.microsoft.com/office/2006/documentManagement/types"/>
    <ds:schemaRef ds:uri="http://schemas.microsoft.com/sharepoint/v3"/>
    <ds:schemaRef ds:uri="http://schemas.openxmlformats.org/package/2006/metadata/core-properties"/>
    <ds:schemaRef ds:uri="http://purl.org/dc/elements/1.1/"/>
    <ds:schemaRef ds:uri="http://purl.org/dc/terms/"/>
    <ds:schemaRef ds:uri="881cbc62-9c94-4650-91c8-fbcdad032e96"/>
    <ds:schemaRef ds:uri="http://schemas.microsoft.com/office/infopath/2007/PartnerControls"/>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AFCEF9D8-DB07-4E69-A7C7-35DC9B4CA80B}">
  <ds:schemaRefs>
    <ds:schemaRef ds:uri="http://schemas.microsoft.com/sharepoint/v3/contenttype/forms"/>
  </ds:schemaRefs>
</ds:datastoreItem>
</file>

<file path=customXml/itemProps4.xml><?xml version="1.0" encoding="utf-8"?>
<ds:datastoreItem xmlns:ds="http://schemas.openxmlformats.org/officeDocument/2006/customXml" ds:itemID="{99DD4746-56AF-4145-9A74-25411276E35C}">
  <ds:schemaRefs>
    <ds:schemaRef ds:uri="http://schemas.microsoft.com/sharepoint/events"/>
  </ds:schemaRefs>
</ds:datastoreItem>
</file>

<file path=docProps/app.xml><?xml version="1.0" encoding="utf-8"?>
<Properties xmlns="http://schemas.openxmlformats.org/officeDocument/2006/extended-properties" xmlns:vt="http://schemas.openxmlformats.org/officeDocument/2006/docPropsVTypes">
  <Template>Office Theme</Template>
  <TotalTime>350</TotalTime>
  <Words>1232</Words>
  <Application>Microsoft Office PowerPoint</Application>
  <PresentationFormat>Widescreen</PresentationFormat>
  <Paragraphs>104</Paragraphs>
  <Slides>22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Calibri</vt:lpstr>
      <vt:lpstr>Calibri Light</vt:lpstr>
      <vt:lpstr>Courier New</vt:lpstr>
      <vt:lpstr>Times New Roman</vt:lpstr>
      <vt:lpstr>Wingdings</vt:lpstr>
      <vt:lpstr>Office Theme</vt:lpstr>
      <vt:lpstr>AI-Driven Analysis of Pilgrim Experiences: Enhancing Hajj and Umrah Services Through Smart Data Insights </vt:lpstr>
      <vt:lpstr>Abstract</vt:lpstr>
      <vt:lpstr>Project Description</vt:lpstr>
      <vt:lpstr>Beneficiaries</vt:lpstr>
      <vt:lpstr>Research Questions</vt:lpstr>
      <vt:lpstr>PowerPoint Presentation</vt:lpstr>
      <vt:lpstr>PowerPoint Presentation</vt:lpstr>
      <vt:lpstr>Data Description </vt:lpstr>
      <vt:lpstr>PowerPoint Presentation</vt:lpstr>
      <vt:lpstr>PowerPoint Presentation</vt:lpstr>
      <vt:lpstr>PowerPoint Presentation</vt:lpstr>
      <vt:lpstr> Summary: Main Tools Used in the Project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Kevin Collert</dc:creator>
  <cp:lastModifiedBy>hp</cp:lastModifiedBy>
  <cp:revision>42</cp:revision>
  <dcterms:created xsi:type="dcterms:W3CDTF">2016-02-10T20:28:14Z</dcterms:created>
  <dcterms:modified xsi:type="dcterms:W3CDTF">2025-09-19T11:03:38Z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0x0101008F6E503ACCA46442BFF61DFBA1C6F8EC</vt:lpwstr>
  </property>
  <property fmtid="{D5CDD505-2E9C-101B-9397-08002B2CF9AE}" pid="3" name="_dlc_DocIdItemGuid">
    <vt:lpwstr>bf7524d7-e67d-41d3-b11d-2db1d2cfe6b7</vt:lpwstr>
  </property>
  <property fmtid="{D5CDD505-2E9C-101B-9397-08002B2CF9AE}" pid="4" name="xd_Signature">
    <vt:bool>false</vt:bool>
  </property>
  <property fmtid="{D5CDD505-2E9C-101B-9397-08002B2CF9AE}" pid="5" name="xd_ProgID">
    <vt:lpwstr/>
  </property>
  <property fmtid="{D5CDD505-2E9C-101B-9397-08002B2CF9AE}" pid="6" name="_SourceUrl">
    <vt:lpwstr/>
  </property>
  <property fmtid="{D5CDD505-2E9C-101B-9397-08002B2CF9AE}" pid="7" name="_SharedFileIndex">
    <vt:lpwstr/>
  </property>
  <property fmtid="{D5CDD505-2E9C-101B-9397-08002B2CF9AE}" pid="8" name="TemplateUrl">
    <vt:lpwstr/>
  </property>
  <property fmtid="{D5CDD505-2E9C-101B-9397-08002B2CF9AE}" pid="9" name="MSIP_Label_d63c5794-6d4d-407c-86a4-17c953004b3a_Enabled">
    <vt:lpwstr>true</vt:lpwstr>
  </property>
  <property fmtid="{D5CDD505-2E9C-101B-9397-08002B2CF9AE}" pid="10" name="MSIP_Label_d63c5794-6d4d-407c-86a4-17c953004b3a_SetDate">
    <vt:lpwstr>2025-03-20T00:45:53Z</vt:lpwstr>
  </property>
  <property fmtid="{D5CDD505-2E9C-101B-9397-08002B2CF9AE}" pid="11" name="MSIP_Label_d63c5794-6d4d-407c-86a4-17c953004b3a_Method">
    <vt:lpwstr>Standard</vt:lpwstr>
  </property>
  <property fmtid="{D5CDD505-2E9C-101B-9397-08002B2CF9AE}" pid="12" name="MSIP_Label_d63c5794-6d4d-407c-86a4-17c953004b3a_Name">
    <vt:lpwstr>General</vt:lpwstr>
  </property>
  <property fmtid="{D5CDD505-2E9C-101B-9397-08002B2CF9AE}" pid="13" name="MSIP_Label_d63c5794-6d4d-407c-86a4-17c953004b3a_SiteId">
    <vt:lpwstr>52fc8687-bfac-4666-bc68-89801a5a3e78</vt:lpwstr>
  </property>
  <property fmtid="{D5CDD505-2E9C-101B-9397-08002B2CF9AE}" pid="14" name="MSIP_Label_d63c5794-6d4d-407c-86a4-17c953004b3a_ActionId">
    <vt:lpwstr>da26d456-0b9c-43e5-96e2-c1c638772162</vt:lpwstr>
  </property>
  <property fmtid="{D5CDD505-2E9C-101B-9397-08002B2CF9AE}" pid="15" name="MSIP_Label_d63c5794-6d4d-407c-86a4-17c953004b3a_ContentBits">
    <vt:lpwstr>0</vt:lpwstr>
  </property>
</Properties>
</file>